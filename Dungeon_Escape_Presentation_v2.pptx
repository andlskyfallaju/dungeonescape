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7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3964" autoAdjust="0"/>
  </p:normalViewPr>
  <p:slideViewPr>
    <p:cSldViewPr snapToGrid="0" snapToObjects="1">
      <p:cViewPr varScale="1">
        <p:scale>
          <a:sx n="102" d="100"/>
          <a:sy n="102" d="100"/>
        </p:scale>
        <p:origin x="8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64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6126480"/>
          </a:xfrm>
          <a:prstGeom prst="rect">
            <a:avLst/>
          </a:prstGeom>
          <a:solidFill>
            <a:srgbClr val="1B3A5C">
              <a:alpha val="60000"/>
            </a:srgbClr>
          </a:solidFill>
          <a:ln w="12700">
            <a:solidFill>
              <a:srgbClr val="1B3A5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560320" cy="6126480"/>
          </a:xfrm>
          <a:prstGeom prst="rect">
            <a:avLst/>
          </a:prstGeom>
          <a:solidFill>
            <a:srgbClr val="2563A8">
              <a:alpha val="45000"/>
            </a:srgbClr>
          </a:solidFill>
          <a:ln w="12700">
            <a:solidFill>
              <a:srgbClr val="2563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91440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DUNGEON ESCAPE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2D Game — Technical Write-Up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Java  |  ICT 2132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438912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8680" y="3702354"/>
            <a:ext cx="3931920" cy="77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Andile Nhlanhla Makuyana
</a:t>
            </a:r>
            <a:r>
              <a:rPr lang="en-US" sz="13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25016
</a:t>
            </a:r>
            <a:r>
              <a:rPr lang="en-US" sz="13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Viola Jows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34276" y="10698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1069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62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Dungeon Escape is &amp; key technical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25196" y="2011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1984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276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GameMenu, KeyHandler, Player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9768" y="29077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2898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Algorithms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191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A*, Node, Map generation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29768" y="3840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Mechanics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105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Arrow, ExplosionTracker, Crystal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846320" y="10058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914836" y="10789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96128" y="1069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Persistence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96128" y="1362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ScoreEntry, ScoreManager, Tile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46320" y="19202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919344" y="2011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96128" y="1984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ArcherBoss &amp; GamePanel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2276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AI, attacks, game loop &amp; timers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846320" y="28346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919344" y="29077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96128" y="2898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96128" y="3191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 table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7490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846320" y="3749040"/>
            <a:ext cx="64008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906465" y="3840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7B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596128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Debugging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96128" y="41056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flow &amp; debug key-binds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Escape is a 2D tile-based Java Swing game — featuring enemy AI, boss battles, procedural map generation, a JavaFX menu, and a persistent high-score system. Built entirely from first principles with no game engine.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92024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2103120"/>
            <a:ext cx="192024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96312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496312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2103120"/>
            <a:ext cx="192024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26864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626864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Levels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57416" y="2103120"/>
            <a:ext cx="192024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57416" y="21488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757416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8412480" cy="594360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3611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 Java Swing  •  JavaFX  •  Java 2D / AWT  •  A* Pathfinding  •  File I/O  •  OOP Design Patterns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Java Classes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·  GameMenu  ·  KeyHandler  ·  Player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429768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0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Main.java  &amp;  GameMenu.java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606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33045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</a:t>
            </a: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Bootstrap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Swing window, adds GamePanel, calls pack() and setLocationRelativeTo(null).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Cross-Thread Bridge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quitToMenu() uses Platform.runLater() to hand off from Swing to JavaFX Application Thread.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069080" cy="11430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5488" y="374904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6656" y="374904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77824" y="374904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" y="3913632"/>
            <a:ext cx="38496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mode = (args != null &amp;&amp; args.length &gt;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args[0] : "casual";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window.pack();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window.setLocationRelativeTo(null);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0690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64008" cy="2606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GameMenu.java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85039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13716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Bindings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Bindings.min() derives scale; bound to a Scale transform for automatic 4:3 aspect ratio.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FadeTransition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blink animation with setAutoReverse(true) — decoupled from game loop.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657600"/>
            <a:ext cx="4069080" cy="11430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18888" y="374904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020056" y="374904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221224" y="374904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18888" y="3913632"/>
            <a:ext cx="38496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FadeTransition blink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FadeTransition(Duration.seconds(1), introText);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blink.setCycleCount(FadeTransition.INDEFINITE);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blink.setAutoReverse(true); blink.play();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KeyHandler.java  &amp;  Player.java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5146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KeyHandler.java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75438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Model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flags toggled in keyPressed/Released. Game loop reads every frame for smooth multi-key input.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Keys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W/A/S/D + Arrow  ·  R (restart)  ·  P/G/L/O (debug)  ·  ESC / ENTER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06908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5488" y="36576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6656" y="36576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77824" y="36576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" y="3822192"/>
            <a:ext cx="38496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upPressed, downPressed,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leftPressed, rightPressed;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keyPressed(): if(code==VK_W||VK_UP) upPressed=true;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828032"/>
            <a:ext cx="4069080" cy="22860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Collision: X &amp; Y tested independently → wall-sliding enabled  |  Tile 4=stagger  Tile 5=spikes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0690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64008" cy="2514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Player.java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1371600"/>
            <a:ext cx="850392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37760" y="13716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69164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Axis-Independent Collision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movement tested separately — player slides along walls rather than stopping dead.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Aspect-Ratio Rendering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imgWidth/imgHeight computed per frame; drawImage centered over 30×30 hitbox.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06908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818888" y="36576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020056" y="36576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221224" y="36576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18888" y="3822192"/>
            <a:ext cx="38496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(!checkCollision(newX, y)) x = newX;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(!checkCollision(x, newY)) y = newY;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ratio = img.getWidth() / img.getHeight();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4828032"/>
            <a:ext cx="4069080" cy="22860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00600" y="484632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loaded via getResourceAsStream() — IOException caught, colour-rect fallback applied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Algorithms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 ·  Node  ·  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429768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0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Enemy.java — A* Pathfinding &amp; AI State Machine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423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 Pathfinding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open/closed lists. Lowest fCost selected per frame. Manhattan |dx|+|dy| heuristic for 4-directional grid. constructPath() walks parent chain.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697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64008" cy="24231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10712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State Machine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389888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State { CHASE, WANDER }. CHASE triggers within 10 tiles if among 4 closest. WANDER picks random free tile from Map.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960120"/>
            <a:ext cx="2697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64008" cy="2423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72784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Separation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389888"/>
            <a:ext cx="23774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recalculated every 15 frames. Slow-motion: skip every 3rd frame (gp.slowTimer). Euclidean distance &lt; 15px triggers repulsion.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5029200" cy="1280160"/>
          </a:xfrm>
          <a:prstGeom prst="rect">
            <a:avLst/>
          </a:prstGeom>
          <a:solidFill>
            <a:srgbClr val="1A2E44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679192" y="3840480"/>
            <a:ext cx="402336" cy="402336"/>
          </a:xfrm>
          <a:prstGeom prst="line">
            <a:avLst/>
          </a:prstGeom>
          <a:solidFill>
            <a:srgbClr val="2A4A6B"/>
          </a:solidFill>
          <a:ln w="635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532120" y="3520440"/>
            <a:ext cx="3246120" cy="128016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641848" y="361188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843016" y="361188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044184" y="361188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641848" y="3776472"/>
            <a:ext cx="302666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for(Node n : openList)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if(n.fCost &lt; current.fCost) current =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State { CHASE, WANDER }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3E571C4-A17F-B870-3318-7EB7093AA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870" b="18742"/>
          <a:stretch>
            <a:fillRect/>
          </a:stretch>
        </p:blipFill>
        <p:spPr>
          <a:xfrm>
            <a:off x="1239932" y="3520440"/>
            <a:ext cx="2959299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Node.java  &amp;  Map.java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514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Linked-List Path Chain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field chains nodes from goal backwards. Direct field access — no getters — for inner-loop performance.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 Principle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calculateFCost() = gCost + hCost — single change point if cost formula evolves.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06908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5488" y="36576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6656" y="36576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77824" y="36576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" y="3822192"/>
            <a:ext cx="384962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col, row, gCost, hCost, fCost;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parent;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calculateFCost() { fCost = gCost + hCost;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0690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64008" cy="2514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Map.java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1618488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137160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Scaling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wallChance = 20 + ((level-1)/5)*5, capped at 40%. 3 layouts: normal, arena (4 pillars), chase corridor.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Carver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Drunk-walk carves 2×2 corridor from spawn to exit. map[endY][endX] = 2 stamps the exit.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566160"/>
            <a:ext cx="406908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18888" y="36576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020056" y="36576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221224" y="36576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18888" y="3822192"/>
            <a:ext cx="384962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wallChance = 20 + ((level-1)/5)*5;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(wallChance &gt; 40) wallChance = 40;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map[endY][endX] = 2; // stamp exit tile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794E614A-1CF2-4A61-5053-D1854EA1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355" y="-3557"/>
            <a:ext cx="6590209" cy="514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59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Mechanics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 ·  ExplosionTracker  ·  Crystal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429768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0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Arrow.java  &amp;  ExplosionTracker.java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377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Arrow.java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37160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Constructors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takes target (x,y) and computes angle; one takes pre-computed (dx,dy) for Frenzy spread-shots.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Movement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 → angle; cos/sin × speed = dx/dy. Centre tile lookup deactivates on wall hit.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06908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5488" y="352044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76656" y="352044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77824" y="352044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" y="3685032"/>
            <a:ext cx="384962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angle = Math.atan2(targetY-startY,targetX-startX);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this.dx = Math.cos(angle) * speed;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this.dy = Math.sin(angle) * speed;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069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64008" cy="2377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37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ExplosionTracker.java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371600"/>
            <a:ext cx="152247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37760" y="1371600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MECHANIC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69164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State Machine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0=Tracking (red, lerp 3s)  →  1=Locked (green 1s)  →  2=Exploding  →  3=Done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Blast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+15px per side. Checks player AND crystals via intersects() — uniform collision for all entity types.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3429000"/>
            <a:ext cx="406908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18888" y="352044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020056" y="352044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221224" y="352044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18888" y="3685032"/>
            <a:ext cx="384962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(targetX - x) * 0.05; // lerp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 boomRect = new Rectangle(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(int)x-15,(int)y-15, size+30, size+30);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1EAAA-E762-EEEC-FF97-074F69EF2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1F4CB-FDF7-4A71-1258-9646C2AD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73" y="0"/>
            <a:ext cx="65856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84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Crystal.java — Collectibles &amp; Game Object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Boolean Lifecycle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flag controls draw() and all system checks. Avoids ConcurrentModificationException by not mutating the list during iteration.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64008" cy="2286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10712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 Hit Bounds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38988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18px padding per side on getExpandedBounds() — makes pickup feel responsive without changing the visual footprint.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960120"/>
            <a:ext cx="26974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64008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72784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Scaling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38988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at 2× tile size. Aspect ratio computed from BufferedImage.getWidth/Height(). Fallback: fillPolygon() diamond.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502920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5488" y="34290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76656" y="34290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77824" y="34290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5488" y="3593592"/>
            <a:ext cx="48097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leeway = 18;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Rectangle(x-leeway, y-leeway,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gp.tileSize+leeway*2, gp.tileSize+leeway*2);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3337560"/>
            <a:ext cx="37033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8412480" cy="438912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48640" y="43708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Crystal.java — pure SRP game object holds state, defines bounds and rendering, delegates coordination to GamePanel.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038CD5-DAD4-E5EC-06D4-31A9625728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91" t="66667" r="39309" b="10091"/>
          <a:stretch>
            <a:fillRect/>
          </a:stretch>
        </p:blipFill>
        <p:spPr>
          <a:xfrm>
            <a:off x="6437975" y="3332109"/>
            <a:ext cx="1297249" cy="9198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Persistence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ScoreEntry  ·  ScoreManager  ·  Tile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429768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0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ScoreEntry, ScoreManager  &amp;  Tile.java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ScoreEntry.java — Serializable CSV Encoding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Serializable. toString() encodes as CSV: name,score,level,mode,coins. Used as write format by ScoreManager.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5303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64008" cy="14173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ScoreManager.java — File I/O, Parsing &amp; Sorting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BufferedWriter(FileWriter(path, true))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append mode. Try-with-resources auto-closes.
</a:t>
            </a: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parsing: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parts.length guards old save files missing mode/coins fields.
</a:t>
            </a: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Comparator: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 DESC, level DESC; subList(0,10).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303520" cy="105156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" y="384048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76656" y="384048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77824" y="384048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5488" y="4005072"/>
            <a:ext cx="508406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(BufferedWriter w = new BufferedWriter(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FileWriter(FILE_PATH, true)))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w.write(name+","+score+","+level+","+mode+","+coins);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8346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943600" y="960120"/>
            <a:ext cx="64008" cy="2880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44768" y="10058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Tile.java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44768" y="1371600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144768" y="13716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1719072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Flyweight Pattern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Tile[] of 6 entries shared by a 20×15 int[][] map — 300 cells → 6 objects.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Null-Safe Rendering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!= null ? drawImage : fillRect(color). Every tile has a colour fallback.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749040"/>
            <a:ext cx="2834640" cy="105156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053328" y="384048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254496" y="384048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55664" y="384048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053328" y="4005072"/>
            <a:ext cx="26151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BufferedImage image;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Color color;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collision;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ArcherBoss &amp; GamePanel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AI, Attacks &amp; Game Loop Orchestration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429768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0" y="4297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ArcherBoss.java — Attack Phases &amp; Boss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2331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Shotgun Spread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attack: 3 arrows fired at −15°, 0°, +15° around the player. Speed 8.5. Cooldown 36 frames (lvl 5) or 100 frames (lvl 10).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64008" cy="2331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10712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Frenzy 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1389888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crystal hit. 5s bullet-hell sprinkler: 4 arrows per frame at 90° offsets, rotating 10°/frame. Boss holds still.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96012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64008" cy="23317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72784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Machine-Gun Burst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389888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chance per cooldown cycle. Phase 1: wind-up 2–4s. Phase 2: rapid-fire volleys for 3s. 8s cooldown after. Sprite vibrates during fire.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5029200" cy="141732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5488" y="347472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76656" y="347472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77824" y="347472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75488" y="3639312"/>
            <a:ext cx="480974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4;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angle = frenzyAngle + (i * 90);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rad = Math.toRadians(angle);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gp.arrows.add(new Arrow(gp,spawnX,spawnY,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Math.cos(rad)*8.5, Math.sin(rad)*8.5)); 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3383280"/>
            <a:ext cx="324612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954012" y="3771900"/>
            <a:ext cx="402336" cy="402336"/>
          </a:xfrm>
          <a:prstGeom prst="line">
            <a:avLst/>
          </a:prstGeom>
          <a:solidFill>
            <a:srgbClr val="2A4A6B"/>
          </a:solidFill>
          <a:ln w="635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54012" y="37719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42291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4544568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frenzy state: bullet-hell sprinkler + red trail/particle effect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ArcherBoss.java — Advanced Mechanics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033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A* Movement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uses own A* pathfinding to chase player. Retreats fluently if player closes within 3 tiles. Clamped within screen bounds.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64008" cy="160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92040" y="1033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taunts every 5s displayed in a speech bubble above the boss. Shown for 2s. 5 lines cycle randomly.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64008" cy="1600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10 Twin Bosses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level 10, 2 bosses spawn. applySeparation() triggers every 3s — repels twins apart if within 2 tiles for 2s.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64008" cy="1600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9204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Effects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2918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flash (white overlay 10 frames). Frenzy: alpha-faded trail of 5 ghost images + red particles. Burst: yellow particles swarm.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5488" y="457200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76656" y="457200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77824" y="457200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78992" y="450799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if(frameCount%300==0) currentTaunt=taunts[rand.nextInt(taunts.length)];  tauntTimer=120;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Level 10: applySeparation() repelTimer=120 when twin dist &lt; tileSize*2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GamePanel.java — Game Loop, Timers &amp; State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GamePanel is the central game loop controller. It owns every entity collection, manages game state transitions, drives all timers, and coordinates rendering — making it the spine of the entire architecture.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64008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slowTimer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— counts down frames of slow-motion. Enemy.update() skips every 3rd frame when &gt; 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64008" cy="10972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ghostFreezeTimer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Breathe ability freeze. Enemy.update() returns immediately while &gt; 0.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3182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staggerTimer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Rubble tile effect. Reduces Player moveSpeed to 40% for 2s (120 frames).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64008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29200" y="3182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GameMode enum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5661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CASUAL: enemies chase, exits open.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ESCAPE: boss levels every 5 levels, exit locked until crystals collected.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D1B2A"/>
          </a:solidFill>
          <a:ln w="635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5488" y="4617720"/>
            <a:ext cx="109728" cy="109728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76656" y="4617720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77824" y="4617720"/>
            <a:ext cx="109728" cy="109728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78992" y="4526280"/>
            <a:ext cx="758952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if(slowTimer&gt;0) slowTimer--;  if(ghostFreezeTimer&gt;0) ghostFreezeTimer--;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exitLocked = (currentMode==GameMode.ESCAPE); // locked until all crystals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Component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9875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80744"/>
            <a:ext cx="8412480" cy="461772"/>
          </a:xfrm>
          <a:prstGeom prst="rect">
            <a:avLst/>
          </a:prstGeom>
          <a:solidFill>
            <a:srgbClr val="EBF1FA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GamePanel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26464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&amp; game loop. Bootstraps JFrame, manages update/draw cycle, timers (slow/freeze/stagger), entity collections.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42516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188823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GameMenu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88236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front-end: menus, mode selection, scoreboard, FadeTransition animations.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8412480" cy="461772"/>
          </a:xfrm>
          <a:prstGeom prst="rect">
            <a:avLst/>
          </a:prstGeom>
          <a:solidFill>
            <a:srgbClr val="EBF1FA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235000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/ KeyHandler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350008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polling via KeyListener; axis-independent collision; sprite rendering with fallback.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66060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28117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/ Node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811780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pathfinding with CHASE/WANDER FSM. ESCAPE mode forces WANDER. Node is the POJO data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27832"/>
            <a:ext cx="8412480" cy="461772"/>
          </a:xfrm>
          <a:prstGeom prst="rect">
            <a:avLst/>
          </a:prstGeom>
          <a:solidFill>
            <a:srgbClr val="EBF1FA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32735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ArcherBoss / Arrow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273552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 + Frenzy + Machine-Gun burst attack phases. Arrow: vector movement, wall-tile deactivation.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89604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" y="37353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ExplosionTracker / Crystal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3735324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lerp-to-detonate mechanic. Crystal: boolean lifecycle, 18px expanded AABB bounds.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51376"/>
            <a:ext cx="8412480" cy="461772"/>
          </a:xfrm>
          <a:prstGeom prst="rect">
            <a:avLst/>
          </a:prstGeom>
          <a:solidFill>
            <a:srgbClr val="EBF1FA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57200" y="41970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Tile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197096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int[][] world. 3 layouts: normal/arena/chase. Tile is a 6-entry Flyweight.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3148"/>
            <a:ext cx="8412480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4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7200" y="46588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ScoreEntry / ScoreManager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4658868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serialisation, BufferedWriter append, defensive parsing, lambda Comparator sort.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058322"/>
            <a:ext cx="1536192" cy="16916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10404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8867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7002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GameMenu → Mode Select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01952" y="1771554"/>
            <a:ext cx="164592" cy="91440"/>
          </a:xfrm>
          <a:prstGeom prst="rect">
            <a:avLst/>
          </a:prstGeom>
          <a:solidFill>
            <a:srgbClr val="8C9CB0"/>
          </a:solidFill>
          <a:ln w="12700">
            <a:solidFill>
              <a:srgbClr val="8C9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066544" y="1058322"/>
            <a:ext cx="1536192" cy="16916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066544" y="110404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66544" y="158867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Gen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66544" y="1927002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tiles + path carve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02736" y="1771554"/>
            <a:ext cx="164592" cy="91440"/>
          </a:xfrm>
          <a:prstGeom prst="rect">
            <a:avLst/>
          </a:prstGeom>
          <a:solidFill>
            <a:srgbClr val="8C9CB0"/>
          </a:solidFill>
          <a:ln w="12700">
            <a:solidFill>
              <a:srgbClr val="8C9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767328" y="1058322"/>
            <a:ext cx="1536192" cy="16916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67328" y="110404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67328" y="158867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67328" y="1927002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collect crystals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771554"/>
            <a:ext cx="164592" cy="91440"/>
          </a:xfrm>
          <a:prstGeom prst="rect">
            <a:avLst/>
          </a:prstGeom>
          <a:solidFill>
            <a:srgbClr val="8C9CB0"/>
          </a:solidFill>
          <a:ln w="12700">
            <a:solidFill>
              <a:srgbClr val="8C9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468112" y="1058322"/>
            <a:ext cx="1536192" cy="16916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68112" y="110404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68112" y="158867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Arena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1927002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ArcherBoss + Explosions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04304" y="1771554"/>
            <a:ext cx="164592" cy="91440"/>
          </a:xfrm>
          <a:prstGeom prst="rect">
            <a:avLst/>
          </a:prstGeom>
          <a:solidFill>
            <a:srgbClr val="8C9CB0"/>
          </a:solidFill>
          <a:ln w="12700">
            <a:solidFill>
              <a:srgbClr val="8C9C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168896" y="1058322"/>
            <a:ext cx="1536192" cy="1691640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168896" y="110404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68896" y="158867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68896" y="1927002"/>
            <a:ext cx="1536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saved → Scoreboard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044952"/>
            <a:ext cx="4114800" cy="1024128"/>
          </a:xfrm>
          <a:prstGeom prst="rect">
            <a:avLst/>
          </a:prstGeom>
          <a:solidFill>
            <a:srgbClr val="1A2E44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221992" y="3236976"/>
            <a:ext cx="402336" cy="402336"/>
          </a:xfrm>
          <a:prstGeom prst="line">
            <a:avLst/>
          </a:prstGeom>
          <a:solidFill>
            <a:srgbClr val="2A4A6B"/>
          </a:solidFill>
          <a:ln w="635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221992" y="3236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5760" y="3694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8130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GameMenu title screen — workflow starts here (replace with actual screenshot)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044952"/>
            <a:ext cx="411480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00600" y="30723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Key-Binds (Testing Mode)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3502152"/>
            <a:ext cx="960120" cy="108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663440" y="3502152"/>
            <a:ext cx="64008" cy="10815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956048" y="3593592"/>
            <a:ext cx="438912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956048" y="35935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27448" y="4092133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 Level 9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502152"/>
            <a:ext cx="960120" cy="108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5715000" y="3502152"/>
            <a:ext cx="64008" cy="10815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6007608" y="3599259"/>
            <a:ext cx="438912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007608" y="359925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797296" y="407397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Mode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66560" y="3502152"/>
            <a:ext cx="960120" cy="108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766560" y="3502152"/>
            <a:ext cx="64008" cy="10815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059168" y="3602736"/>
            <a:ext cx="438912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7059168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830568" y="408736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Chase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18120" y="3502152"/>
            <a:ext cx="960120" cy="108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7818120" y="3502152"/>
            <a:ext cx="64008" cy="10815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8110728" y="3605441"/>
            <a:ext cx="438912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8110728" y="360544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882128" y="4087368"/>
            <a:ext cx="906029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to Level 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 &amp;  Possible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64008" cy="3886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SRP architecture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Hand-implemented A* (Enemy &amp; ArcherBoss)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Dual-framework UI (Swing + JavaFX)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distinct attack phases on ArcherBoss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asset failure tolerance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Backward-compatible CSV parsing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level variety (3 map types)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64008" cy="388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8348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Improvements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(SQLite/H2)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Credentials (bcrypt)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AssetManager class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Key Bindings file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REST leaderboard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 suite for core logic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Soundtracks &amp; SFX per enemy/boss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3657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1170432"/>
            <a:ext cx="7955280" cy="987552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1170432"/>
            <a:ext cx="64008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75895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Escape demonstrates that a feature-complete game can be built from first principles in Java — without a game engine — using clean OOP architecture, hand-rolled algorithms, and deliberate design patterns.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313432"/>
            <a:ext cx="7955280" cy="987552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64008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75895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16-class codebase covers A* pathfinding (Enemy &amp; ArcherBoss), procedural generation, vector mathematics, 3 distinct boss attack phases, cross-framework threading, file I/O, and four design patterns (Flyweight, Composite, Strategy, State Machine).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56432"/>
            <a:ext cx="7955280" cy="987552"/>
          </a:xfrm>
          <a:prstGeom prst="rect">
            <a:avLst/>
          </a:prstGeom>
          <a:solidFill>
            <a:srgbClr val="1B3A5C"/>
          </a:solidFill>
          <a:ln w="6350">
            <a:solidFill>
              <a:srgbClr val="D0D8E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2960" y="3456432"/>
            <a:ext cx="64008" cy="9875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5840" y="3493008"/>
            <a:ext cx="75895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improvements — database integration, networked leaderboards, JUnit testing, and a central AssetManager — represent clear next steps toward a commercial-grade release.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Andile Nhlanhla Makuyana  ·  Reg. 25016  ·  ICT 2132 – Programming in Java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2391</Words>
  <Application>Microsoft Office PowerPoint</Application>
  <PresentationFormat>On-screen Show (16:9)</PresentationFormat>
  <Paragraphs>305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Dungeon Escape – Java Game Technical Presentation</dc:title>
  <dc:subject>PptxGenJS Presentation</dc:subject>
  <dc:creator>PptxGenJS</dc:creator>
  <cp:lastModifiedBy>New_ Generation</cp:lastModifiedBy>
  <cp:revision>6</cp:revision>
  <dcterms:created xsi:type="dcterms:W3CDTF">2026-05-05T20:53:57Z</dcterms:created>
  <dcterms:modified xsi:type="dcterms:W3CDTF">2026-05-06T07:33:59Z</dcterms:modified>
</cp:coreProperties>
</file>