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6"/>
  </p:notesMasterIdLst>
  <p:sldIdLst>
    <p:sldId id="256" r:id="rId2"/>
    <p:sldId id="257" r:id="rId3"/>
    <p:sldId id="258" r:id="rId4"/>
    <p:sldId id="259" r:id="rId5"/>
    <p:sldId id="260" r:id="rId6"/>
    <p:sldId id="261" r:id="rId7"/>
    <p:sldId id="262" r:id="rId8"/>
    <p:sldId id="263" r:id="rId9"/>
    <p:sldId id="264" r:id="rId10"/>
    <p:sldId id="278" r:id="rId11"/>
    <p:sldId id="265" r:id="rId12"/>
    <p:sldId id="266" r:id="rId13"/>
    <p:sldId id="279" r:id="rId14"/>
    <p:sldId id="267" r:id="rId15"/>
    <p:sldId id="268" r:id="rId16"/>
    <p:sldId id="269" r:id="rId17"/>
    <p:sldId id="270" r:id="rId18"/>
    <p:sldId id="271" r:id="rId19"/>
    <p:sldId id="272" r:id="rId20"/>
    <p:sldId id="273" r:id="rId21"/>
    <p:sldId id="274" r:id="rId22"/>
    <p:sldId id="275" r:id="rId23"/>
    <p:sldId id="276" r:id="rId24"/>
    <p:sldId id="277" r:id="rId25"/>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D1B2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008" autoAdjust="0"/>
    <p:restoredTop sz="93964" autoAdjust="0"/>
  </p:normalViewPr>
  <p:slideViewPr>
    <p:cSldViewPr snapToGrid="0" snapToObjects="1">
      <p:cViewPr varScale="1">
        <p:scale>
          <a:sx n="102" d="100"/>
          <a:sy n="102" d="100"/>
        </p:scale>
        <p:origin x="86" y="211"/>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686462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Good morning. My name is Andile Nhlanhla Makuyana, registration number 25016. Today, I'll be presenting Dungeon Escape, a 2D Java game developed as a technical demonstration for ICT 2132. This project showcases the integration of core Java principles with game development mechanics.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Our agenda for today covers the entire system lifecycle. We'll start with a project overview, then dive into core classes, AI algorithms, game mechanics, and data persistence. We'll conclude with a look at the ArcherBoss logic and the overall system architecture.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Dungeon Escape is built entirely from first principles with no external game engine. It features a complex 16-class architecture, supporting two distinct game modes: Casual and Escape. We've implemented advanced features like A* pathfinding, procedural map generation, and a hybrid Swing-JavaFX UI system.</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Section 2 focuses on our core Java classes: Main, GameMenu, KeyHandler, and Player. These classes form the backbone of the game's startup, menu interface, and user control systems.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 Main.java, we use a standard JFrame bootstrap to initialize the Swing window. A unique feature here is the 'Cross-Thread Bridge' in quitToMenu(), which uses Platform.runLater to safely transition from the Swing game loop to the JavaFX UI thread. For the Menu, we use JavaFX property bindings to ensure the UI scales correctly while maintaining a 4:3 aspect ratio.</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KeyHandler.java uses a polling model with boolean flags to handle multi-key input smoothly. For the Player, we've implemented axis-independent collision. As you can see in the code snippet, we test X and Y movement separately. This is crucial for 'wall-sliding'—if a player moves diagonally against a wall, they will still slide along it rather than coming to a full stop.</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Section 3 covers our AI and procedural generation logic, focusing on how we manage complexity in the game world and NPC behavior.</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Enemy AI uses a custom A* pathfinding implementation. We select the node with the lowest fCost each frame using a Manhattan distance heuristic. The AI is a finite state machine with two modes: CHASE and WANDER. To optimize performance, we recalculate the path every 15 frames rather than every single frame, and we've implemented a repulsion logic to keep enemies from overlapping.</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Node class is a clean POJO that forms a linked-list path chain. It uses direct field access for performance and adheres to the Open/Closed principle for its cost calculations. For the Map, we use procedural generation where the 'wall chance' scales with the level. We've also implemented a 'Drunk-walk' path carver to ensure there is always a traversable 2x2 corridor from the spawn to the exit.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Section 4 details our game mechanics, specifically our projectile system and interactive collectibles.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Arrow.java uses vector movement derived from Math.atan2. It features dual constructors—one for direct targeting and one for pre-computed spread shots. The ExplosionTracker is a 4-phase state machine that lerps from a red 'tracking' state to a green 'locked' state before detonating, using AABB blast rectangles for uniform collision detection across all entity types.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Crystal class demonstrates the Single Responsibility Principle. It manages its own boolean lifecycle and rendering. To make pickup feel more responsive, we've implemented 'Expanded Hit Bounds' where the collision box is 18 pixels larger than the visual sprite on each side, avoiding frustration for the player.</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Section 5 covers Data and Persistence, specifically how we handle score saving and efficient map rendering.</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ScoreEntry implements Serializable and uses a custom CSV encoding for storage. ScoreManager handles file I/O with defensive parsing to remain backward compatible with older save files. For Tile.java, we use the Flyweight pattern—instead of 300 unique objects for a 20x15 grid, we use just 6 shared tile instances referenced by an integer array, drastically reducing the memory footprint.</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Section 6 brings everything together with the ArcherBoss AI and the central GamePanel orchestrator.</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ArcherBoss has three distinct attack phases: a Shotgun spread, a high-intensity 'Frenzy' sprinkler triggered by crystal hits, and a Machine-Gun burst. You can see the code for the Frenzy phase here, where it spawns arrows at 90-degree offsets while rotating. This creates a challenging 'bullet-hell' experience for the player.</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Advanced boss mechanics include A* movement for retreating, random taunts, and twin-boss separation logic for Level 10. We also use visual effects like white damage flashes and alpha-faded ghost trails to provide immediate feedback to the player during intense combat.</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GamePanel.java is the spine of the architecture. It owns every collection and drives all timers, including the slowTimer for power-ups and the ghostFreezeTimer. It manages the GameMode enum to seamlessly switch between Casual and Escape mode logic.</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table provides a component overview of the system architecture. It highlights how each class has  a specific responsibility, from the JavaFX-based GameMenu to the A* pathfinding in Enemy.java and the CSV serialization in ScoreManager.</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system workflow starts with the JavaFX menu and leads into procedural map generation. Players explore, collect crystals, and battle bosses before saving their score. We've also included several debug key-binds like 'G' for God Mode and 'L' for skipping to the final chase, which were vital for testing.</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Reflecting on the project, our modular SRP architecture and hand-implemented A* are major strengths. For future improvements, we're looking at moving from CSV to SQLite for score persistence and implementing a centralized AssetManager to further optimize how we handle images and resources.</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 conclusion, Dungeon Escape proves that a feature-complete game can be built from scratch in Java using clean OOP architecture and hand-rolled algorithms. The 16-class codebase covers 11 chapters of Java theory and 4 design patterns. Thank you for listening, and I'm happy to take any questions.</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5943600" y="-457200"/>
            <a:ext cx="3657600" cy="6126480"/>
          </a:xfrm>
          <a:prstGeom prst="rect">
            <a:avLst/>
          </a:prstGeom>
          <a:solidFill>
            <a:srgbClr val="1B3A5C">
              <a:alpha val="60000"/>
            </a:srgbClr>
          </a:solidFill>
          <a:ln w="12700">
            <a:solidFill>
              <a:srgbClr val="1B3A5C">
                <a:alpha val="60000"/>
              </a:srgbClr>
            </a:solidFill>
            <a:prstDash val="solid"/>
          </a:ln>
        </p:spPr>
        <p:txBody>
          <a:bodyPr/>
          <a:lstStyle/>
          <a:p>
            <a:endParaRPr lang="en-GB"/>
          </a:p>
        </p:txBody>
      </p:sp>
      <p:sp>
        <p:nvSpPr>
          <p:cNvPr id="3" name="Shape 1"/>
          <p:cNvSpPr/>
          <p:nvPr/>
        </p:nvSpPr>
        <p:spPr>
          <a:xfrm>
            <a:off x="7132320" y="-457200"/>
            <a:ext cx="2560320" cy="6126480"/>
          </a:xfrm>
          <a:prstGeom prst="rect">
            <a:avLst/>
          </a:prstGeom>
          <a:solidFill>
            <a:srgbClr val="2563A8">
              <a:alpha val="45000"/>
            </a:srgbClr>
          </a:solidFill>
          <a:ln w="12700">
            <a:solidFill>
              <a:srgbClr val="2563A8">
                <a:alpha val="45000"/>
              </a:srgbClr>
            </a:solidFill>
            <a:prstDash val="solid"/>
          </a:ln>
        </p:spPr>
        <p:txBody>
          <a:bodyPr/>
          <a:lstStyle/>
          <a:p>
            <a:endParaRPr lang="en-GB"/>
          </a:p>
        </p:txBody>
      </p:sp>
      <p:sp>
        <p:nvSpPr>
          <p:cNvPr id="4" name="Shape 2"/>
          <p:cNvSpPr/>
          <p:nvPr/>
        </p:nvSpPr>
        <p:spPr>
          <a:xfrm>
            <a:off x="640080" y="1325880"/>
            <a:ext cx="91440" cy="2011680"/>
          </a:xfrm>
          <a:prstGeom prst="rect">
            <a:avLst/>
          </a:prstGeom>
          <a:solidFill>
            <a:srgbClr val="C0392B"/>
          </a:solidFill>
          <a:ln w="12700">
            <a:solidFill>
              <a:srgbClr val="C0392B"/>
            </a:solidFill>
            <a:prstDash val="solid"/>
          </a:ln>
        </p:spPr>
        <p:txBody>
          <a:bodyPr/>
          <a:lstStyle/>
          <a:p>
            <a:endParaRPr lang="en-GB"/>
          </a:p>
        </p:txBody>
      </p:sp>
      <p:sp>
        <p:nvSpPr>
          <p:cNvPr id="5" name="Text 3"/>
          <p:cNvSpPr/>
          <p:nvPr/>
        </p:nvSpPr>
        <p:spPr>
          <a:xfrm>
            <a:off x="868680" y="1280160"/>
            <a:ext cx="6858000" cy="1005840"/>
          </a:xfrm>
          <a:prstGeom prst="rect">
            <a:avLst/>
          </a:prstGeom>
          <a:noFill/>
          <a:ln/>
        </p:spPr>
        <p:txBody>
          <a:bodyPr wrap="square" lIns="0" tIns="0" rIns="0" bIns="0" rtlCol="0" anchor="ctr"/>
          <a:lstStyle/>
          <a:p>
            <a:pPr marL="0" indent="0" algn="l">
              <a:buNone/>
            </a:pPr>
            <a:r>
              <a:rPr lang="en-US" sz="4800" b="1" dirty="0">
                <a:solidFill>
                  <a:srgbClr val="FFFFFF"/>
                </a:solidFill>
                <a:latin typeface="Georgia" pitchFamily="34" charset="0"/>
                <a:ea typeface="Georgia" pitchFamily="34" charset="-122"/>
                <a:cs typeface="Georgia" pitchFamily="34" charset="-120"/>
              </a:rPr>
              <a:t>DUNGEON ESCAPE</a:t>
            </a:r>
            <a:endParaRPr lang="en-US" sz="4800" dirty="0"/>
          </a:p>
        </p:txBody>
      </p:sp>
      <p:sp>
        <p:nvSpPr>
          <p:cNvPr id="6" name="Text 4"/>
          <p:cNvSpPr/>
          <p:nvPr/>
        </p:nvSpPr>
        <p:spPr>
          <a:xfrm>
            <a:off x="868680" y="2286000"/>
            <a:ext cx="6400800" cy="457200"/>
          </a:xfrm>
          <a:prstGeom prst="rect">
            <a:avLst/>
          </a:prstGeom>
          <a:noFill/>
          <a:ln/>
        </p:spPr>
        <p:txBody>
          <a:bodyPr wrap="square" lIns="0" tIns="0" rIns="0" bIns="0" rtlCol="0" anchor="ctr"/>
          <a:lstStyle/>
          <a:p>
            <a:pPr marL="0" indent="0" algn="l">
              <a:buNone/>
            </a:pPr>
            <a:r>
              <a:rPr lang="en-US" sz="2000" dirty="0">
                <a:solidFill>
                  <a:srgbClr val="D6E4F7"/>
                </a:solidFill>
                <a:latin typeface="Calibri" pitchFamily="34" charset="0"/>
                <a:ea typeface="Calibri" pitchFamily="34" charset="-122"/>
                <a:cs typeface="Calibri" pitchFamily="34" charset="-120"/>
              </a:rPr>
              <a:t>Java 2D Game — Technical Write-Up</a:t>
            </a:r>
            <a:endParaRPr lang="en-US" sz="2000" dirty="0"/>
          </a:p>
        </p:txBody>
      </p:sp>
      <p:sp>
        <p:nvSpPr>
          <p:cNvPr id="7" name="Text 5"/>
          <p:cNvSpPr/>
          <p:nvPr/>
        </p:nvSpPr>
        <p:spPr>
          <a:xfrm>
            <a:off x="868680" y="2834640"/>
            <a:ext cx="5486400" cy="347472"/>
          </a:xfrm>
          <a:prstGeom prst="rect">
            <a:avLst/>
          </a:prstGeom>
          <a:noFill/>
          <a:ln/>
        </p:spPr>
        <p:txBody>
          <a:bodyPr wrap="square" lIns="0" tIns="0" rIns="0" bIns="0" rtlCol="0" anchor="ctr"/>
          <a:lstStyle/>
          <a:p>
            <a:pPr marL="0" indent="0" algn="l">
              <a:buNone/>
            </a:pPr>
            <a:r>
              <a:rPr lang="en-US" sz="1400" dirty="0">
                <a:solidFill>
                  <a:srgbClr val="8C9CB0"/>
                </a:solidFill>
                <a:latin typeface="Calibri" pitchFamily="34" charset="0"/>
                <a:ea typeface="Calibri" pitchFamily="34" charset="-122"/>
                <a:cs typeface="Calibri" pitchFamily="34" charset="-120"/>
              </a:rPr>
              <a:t>Programming in Java  |  ICT 2132</a:t>
            </a:r>
            <a:endParaRPr lang="en-US" sz="1400" dirty="0"/>
          </a:p>
        </p:txBody>
      </p:sp>
      <p:sp>
        <p:nvSpPr>
          <p:cNvPr id="8" name="Shape 6"/>
          <p:cNvSpPr/>
          <p:nvPr/>
        </p:nvSpPr>
        <p:spPr>
          <a:xfrm>
            <a:off x="640080" y="3429000"/>
            <a:ext cx="4389120" cy="1325880"/>
          </a:xfrm>
          <a:prstGeom prst="rect">
            <a:avLst/>
          </a:prstGeom>
          <a:solidFill>
            <a:srgbClr val="1B3A5C"/>
          </a:solidFill>
          <a:ln w="6350">
            <a:solidFill>
              <a:srgbClr val="D0D8E4"/>
            </a:solidFill>
            <a:prstDash val="solid"/>
          </a:ln>
          <a:effectLst>
            <a:outerShdw blurRad="50800" dist="12700" dir="8100000" algn="bl" rotWithShape="0">
              <a:srgbClr val="000000">
                <a:alpha val="8000"/>
              </a:srgbClr>
            </a:outerShdw>
          </a:effectLst>
        </p:spPr>
        <p:txBody>
          <a:bodyPr/>
          <a:lstStyle/>
          <a:p>
            <a:endParaRPr lang="en-GB"/>
          </a:p>
        </p:txBody>
      </p:sp>
      <p:sp>
        <p:nvSpPr>
          <p:cNvPr id="9" name="Text 7"/>
          <p:cNvSpPr/>
          <p:nvPr/>
        </p:nvSpPr>
        <p:spPr>
          <a:xfrm>
            <a:off x="868680" y="3702354"/>
            <a:ext cx="3931920" cy="779172"/>
          </a:xfrm>
          <a:prstGeom prst="rect">
            <a:avLst/>
          </a:prstGeom>
          <a:noFill/>
          <a:ln/>
        </p:spPr>
        <p:txBody>
          <a:bodyPr wrap="square" rtlCol="0" anchor="t"/>
          <a:lstStyle/>
          <a:p>
            <a:pPr marL="0" indent="0">
              <a:buNone/>
            </a:pPr>
            <a:r>
              <a:rPr lang="en-US" sz="1300" b="1" dirty="0">
                <a:solidFill>
                  <a:srgbClr val="D6E4F7"/>
                </a:solidFill>
                <a:latin typeface="Calibri" pitchFamily="34" charset="0"/>
                <a:ea typeface="Calibri" pitchFamily="34" charset="-122"/>
                <a:cs typeface="Calibri" pitchFamily="34" charset="-120"/>
              </a:rPr>
              <a:t>Student: </a:t>
            </a:r>
            <a:r>
              <a:rPr lang="en-US" sz="1300" dirty="0">
                <a:solidFill>
                  <a:srgbClr val="FFFFFF"/>
                </a:solidFill>
                <a:latin typeface="Calibri" pitchFamily="34" charset="0"/>
                <a:ea typeface="Calibri" pitchFamily="34" charset="-122"/>
                <a:cs typeface="Calibri" pitchFamily="34" charset="-120"/>
              </a:rPr>
              <a:t>Andile Nhlanhla Makuyana
</a:t>
            </a:r>
            <a:r>
              <a:rPr lang="en-US" sz="1300" b="1" dirty="0">
                <a:solidFill>
                  <a:srgbClr val="D6E4F7"/>
                </a:solidFill>
                <a:latin typeface="Calibri" pitchFamily="34" charset="0"/>
                <a:ea typeface="Calibri" pitchFamily="34" charset="-122"/>
                <a:cs typeface="Calibri" pitchFamily="34" charset="-120"/>
              </a:rPr>
              <a:t>Reg No: </a:t>
            </a:r>
            <a:r>
              <a:rPr lang="en-US" sz="1300" dirty="0">
                <a:solidFill>
                  <a:srgbClr val="FFFFFF"/>
                </a:solidFill>
                <a:latin typeface="Calibri" pitchFamily="34" charset="0"/>
                <a:ea typeface="Calibri" pitchFamily="34" charset="-122"/>
                <a:cs typeface="Calibri" pitchFamily="34" charset="-120"/>
              </a:rPr>
              <a:t>25016
</a:t>
            </a:r>
            <a:r>
              <a:rPr lang="en-US" sz="1300" b="1" dirty="0">
                <a:solidFill>
                  <a:srgbClr val="D6E4F7"/>
                </a:solidFill>
                <a:latin typeface="Calibri" pitchFamily="34" charset="0"/>
                <a:ea typeface="Calibri" pitchFamily="34" charset="-122"/>
                <a:cs typeface="Calibri" pitchFamily="34" charset="-120"/>
              </a:rPr>
              <a:t>Facilitator: </a:t>
            </a:r>
            <a:r>
              <a:rPr lang="en-US" sz="1300" dirty="0">
                <a:solidFill>
                  <a:srgbClr val="FFFFFF"/>
                </a:solidFill>
                <a:latin typeface="Calibri" pitchFamily="34" charset="0"/>
                <a:ea typeface="Calibri" pitchFamily="34" charset="-122"/>
                <a:cs typeface="Calibri" pitchFamily="34" charset="-120"/>
              </a:rPr>
              <a:t>Ms. Viola Jows</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8EDF2"/>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1B3A5C"/>
          </a:solidFill>
          <a:ln w="12700">
            <a:solidFill>
              <a:srgbClr val="1B3A5C"/>
            </a:solidFill>
            <a:prstDash val="solid"/>
          </a:ln>
        </p:spPr>
        <p:txBody>
          <a:bodyPr/>
          <a:lstStyle/>
          <a:p>
            <a:endParaRPr lang="en-GB"/>
          </a:p>
        </p:txBody>
      </p:sp>
      <p:sp>
        <p:nvSpPr>
          <p:cNvPr id="3" name="Text 1"/>
          <p:cNvSpPr/>
          <p:nvPr/>
        </p:nvSpPr>
        <p:spPr>
          <a:xfrm>
            <a:off x="365760" y="182880"/>
            <a:ext cx="8503920" cy="594360"/>
          </a:xfrm>
          <a:prstGeom prst="rect">
            <a:avLst/>
          </a:prstGeom>
          <a:noFill/>
          <a:ln/>
        </p:spPr>
        <p:txBody>
          <a:bodyPr wrap="square" lIns="0" tIns="0" rIns="0" bIns="0" rtlCol="0" anchor="ctr"/>
          <a:lstStyle/>
          <a:p>
            <a:pPr marL="0" indent="0" algn="l">
              <a:buNone/>
            </a:pPr>
            <a:r>
              <a:rPr lang="en-US" sz="2400" b="1" dirty="0">
                <a:solidFill>
                  <a:srgbClr val="1B3A5C"/>
                </a:solidFill>
                <a:latin typeface="Georgia" pitchFamily="34" charset="0"/>
                <a:ea typeface="Georgia" pitchFamily="34" charset="-122"/>
                <a:cs typeface="Georgia" pitchFamily="34" charset="-120"/>
              </a:rPr>
              <a:t>Presentation Agenda</a:t>
            </a:r>
            <a:endParaRPr lang="en-US" sz="2400" dirty="0"/>
          </a:p>
        </p:txBody>
      </p:sp>
      <p:sp>
        <p:nvSpPr>
          <p:cNvPr id="4" name="Shape 2"/>
          <p:cNvSpPr/>
          <p:nvPr/>
        </p:nvSpPr>
        <p:spPr>
          <a:xfrm>
            <a:off x="365760" y="804672"/>
            <a:ext cx="8412480" cy="36576"/>
          </a:xfrm>
          <a:prstGeom prst="rect">
            <a:avLst/>
          </a:prstGeom>
          <a:solidFill>
            <a:srgbClr val="C0392B"/>
          </a:solidFill>
          <a:ln w="12700">
            <a:solidFill>
              <a:srgbClr val="C0392B"/>
            </a:solidFill>
            <a:prstDash val="solid"/>
          </a:ln>
        </p:spPr>
        <p:txBody>
          <a:bodyPr/>
          <a:lstStyle/>
          <a:p>
            <a:endParaRPr lang="en-GB"/>
          </a:p>
        </p:txBody>
      </p:sp>
      <p:sp>
        <p:nvSpPr>
          <p:cNvPr id="5" name="Shape 3"/>
          <p:cNvSpPr/>
          <p:nvPr/>
        </p:nvSpPr>
        <p:spPr>
          <a:xfrm>
            <a:off x="365760" y="1005840"/>
            <a:ext cx="4114800" cy="777240"/>
          </a:xfrm>
          <a:prstGeom prst="rect">
            <a:avLst/>
          </a:prstGeom>
          <a:solidFill>
            <a:srgbClr val="FFFFFF"/>
          </a:solidFill>
          <a:ln w="6350">
            <a:solidFill>
              <a:srgbClr val="D0D8E4"/>
            </a:solidFill>
            <a:prstDash val="solid"/>
          </a:ln>
          <a:effectLst>
            <a:outerShdw blurRad="50800" dist="12700" dir="8100000" algn="bl" rotWithShape="0">
              <a:srgbClr val="000000">
                <a:alpha val="8000"/>
              </a:srgbClr>
            </a:outerShdw>
          </a:effectLst>
        </p:spPr>
        <p:txBody>
          <a:bodyPr/>
          <a:lstStyle/>
          <a:p>
            <a:endParaRPr lang="en-GB"/>
          </a:p>
        </p:txBody>
      </p:sp>
      <p:sp>
        <p:nvSpPr>
          <p:cNvPr id="6" name="Shape 4"/>
          <p:cNvSpPr/>
          <p:nvPr/>
        </p:nvSpPr>
        <p:spPr>
          <a:xfrm>
            <a:off x="365760" y="1005840"/>
            <a:ext cx="64008" cy="777240"/>
          </a:xfrm>
          <a:prstGeom prst="rect">
            <a:avLst/>
          </a:prstGeom>
          <a:solidFill>
            <a:srgbClr val="2563A8"/>
          </a:solidFill>
          <a:ln w="12700">
            <a:solidFill>
              <a:srgbClr val="2563A8"/>
            </a:solidFill>
            <a:prstDash val="solid"/>
          </a:ln>
        </p:spPr>
        <p:txBody>
          <a:bodyPr/>
          <a:lstStyle/>
          <a:p>
            <a:endParaRPr lang="en-GB"/>
          </a:p>
        </p:txBody>
      </p:sp>
      <p:sp>
        <p:nvSpPr>
          <p:cNvPr id="7" name="Text 5"/>
          <p:cNvSpPr/>
          <p:nvPr/>
        </p:nvSpPr>
        <p:spPr>
          <a:xfrm>
            <a:off x="434276" y="1069848"/>
            <a:ext cx="502920" cy="594360"/>
          </a:xfrm>
          <a:prstGeom prst="rect">
            <a:avLst/>
          </a:prstGeom>
          <a:noFill/>
          <a:ln/>
        </p:spPr>
        <p:txBody>
          <a:bodyPr wrap="square" lIns="0" tIns="0" rIns="0" bIns="0" rtlCol="0" anchor="ctr"/>
          <a:lstStyle/>
          <a:p>
            <a:pPr marL="0" indent="0" algn="ctr">
              <a:buNone/>
            </a:pPr>
            <a:r>
              <a:rPr lang="en-US" sz="2000" b="1" dirty="0">
                <a:solidFill>
                  <a:srgbClr val="3A7BD5"/>
                </a:solidFill>
                <a:latin typeface="Georgia" pitchFamily="34" charset="0"/>
                <a:ea typeface="Georgia" pitchFamily="34" charset="-122"/>
                <a:cs typeface="Georgia" pitchFamily="34" charset="-120"/>
              </a:rPr>
              <a:t>01</a:t>
            </a:r>
            <a:endParaRPr lang="en-US" sz="2000" dirty="0"/>
          </a:p>
        </p:txBody>
      </p:sp>
      <p:sp>
        <p:nvSpPr>
          <p:cNvPr id="8" name="Text 6"/>
          <p:cNvSpPr/>
          <p:nvPr/>
        </p:nvSpPr>
        <p:spPr>
          <a:xfrm>
            <a:off x="1115568" y="1069848"/>
            <a:ext cx="3200400" cy="292608"/>
          </a:xfrm>
          <a:prstGeom prst="rect">
            <a:avLst/>
          </a:prstGeom>
          <a:noFill/>
          <a:ln/>
        </p:spPr>
        <p:txBody>
          <a:bodyPr wrap="square" lIns="0" tIns="0" rIns="0" bIns="0" rtlCol="0" anchor="ctr"/>
          <a:lstStyle/>
          <a:p>
            <a:pPr marL="0" indent="0" algn="l">
              <a:buNone/>
            </a:pPr>
            <a:r>
              <a:rPr lang="en-US" sz="1300" b="1" dirty="0">
                <a:solidFill>
                  <a:srgbClr val="1B3A5C"/>
                </a:solidFill>
                <a:latin typeface="Calibri" pitchFamily="34" charset="0"/>
                <a:ea typeface="Calibri" pitchFamily="34" charset="-122"/>
                <a:cs typeface="Calibri" pitchFamily="34" charset="-120"/>
              </a:rPr>
              <a:t>Project Overview</a:t>
            </a:r>
            <a:endParaRPr lang="en-US" sz="1300" dirty="0"/>
          </a:p>
        </p:txBody>
      </p:sp>
      <p:sp>
        <p:nvSpPr>
          <p:cNvPr id="9" name="Text 7"/>
          <p:cNvSpPr/>
          <p:nvPr/>
        </p:nvSpPr>
        <p:spPr>
          <a:xfrm>
            <a:off x="1115568" y="1362456"/>
            <a:ext cx="3200400" cy="292608"/>
          </a:xfrm>
          <a:prstGeom prst="rect">
            <a:avLst/>
          </a:prstGeom>
          <a:noFill/>
          <a:ln/>
        </p:spPr>
        <p:txBody>
          <a:bodyPr wrap="square" lIns="0" tIns="0" rIns="0" bIns="0" rtlCol="0" anchor="ctr"/>
          <a:lstStyle/>
          <a:p>
            <a:pPr marL="0" indent="0" algn="l">
              <a:buNone/>
            </a:pPr>
            <a:r>
              <a:rPr lang="en-US" sz="1000" dirty="0">
                <a:solidFill>
                  <a:srgbClr val="4A5568"/>
                </a:solidFill>
                <a:latin typeface="Calibri" pitchFamily="34" charset="0"/>
                <a:ea typeface="Calibri" pitchFamily="34" charset="-122"/>
                <a:cs typeface="Calibri" pitchFamily="34" charset="-120"/>
              </a:rPr>
              <a:t>What Dungeon Escape is &amp; key technical goals</a:t>
            </a:r>
            <a:endParaRPr lang="en-US" sz="1000" dirty="0"/>
          </a:p>
        </p:txBody>
      </p:sp>
      <p:sp>
        <p:nvSpPr>
          <p:cNvPr id="10" name="Shape 8"/>
          <p:cNvSpPr/>
          <p:nvPr/>
        </p:nvSpPr>
        <p:spPr>
          <a:xfrm>
            <a:off x="365760" y="1920240"/>
            <a:ext cx="4114800" cy="777240"/>
          </a:xfrm>
          <a:prstGeom prst="rect">
            <a:avLst/>
          </a:prstGeom>
          <a:solidFill>
            <a:srgbClr val="FFFFFF"/>
          </a:solidFill>
          <a:ln w="6350">
            <a:solidFill>
              <a:srgbClr val="D0D8E4"/>
            </a:solidFill>
            <a:prstDash val="solid"/>
          </a:ln>
          <a:effectLst>
            <a:outerShdw blurRad="50800" dist="12700" dir="8100000" algn="bl" rotWithShape="0">
              <a:srgbClr val="000000">
                <a:alpha val="8000"/>
              </a:srgbClr>
            </a:outerShdw>
          </a:effectLst>
        </p:spPr>
        <p:txBody>
          <a:bodyPr/>
          <a:lstStyle/>
          <a:p>
            <a:endParaRPr lang="en-GB"/>
          </a:p>
        </p:txBody>
      </p:sp>
      <p:sp>
        <p:nvSpPr>
          <p:cNvPr id="11" name="Shape 9"/>
          <p:cNvSpPr/>
          <p:nvPr/>
        </p:nvSpPr>
        <p:spPr>
          <a:xfrm>
            <a:off x="365760" y="1920240"/>
            <a:ext cx="64008" cy="777240"/>
          </a:xfrm>
          <a:prstGeom prst="rect">
            <a:avLst/>
          </a:prstGeom>
          <a:solidFill>
            <a:srgbClr val="2563A8"/>
          </a:solidFill>
          <a:ln w="12700">
            <a:solidFill>
              <a:srgbClr val="2563A8"/>
            </a:solidFill>
            <a:prstDash val="solid"/>
          </a:ln>
        </p:spPr>
        <p:txBody>
          <a:bodyPr/>
          <a:lstStyle/>
          <a:p>
            <a:endParaRPr lang="en-GB"/>
          </a:p>
        </p:txBody>
      </p:sp>
      <p:sp>
        <p:nvSpPr>
          <p:cNvPr id="12" name="Text 10"/>
          <p:cNvSpPr/>
          <p:nvPr/>
        </p:nvSpPr>
        <p:spPr>
          <a:xfrm>
            <a:off x="425196" y="2011680"/>
            <a:ext cx="502920" cy="594360"/>
          </a:xfrm>
          <a:prstGeom prst="rect">
            <a:avLst/>
          </a:prstGeom>
          <a:noFill/>
          <a:ln/>
        </p:spPr>
        <p:txBody>
          <a:bodyPr wrap="square" lIns="0" tIns="0" rIns="0" bIns="0" rtlCol="0" anchor="ctr"/>
          <a:lstStyle/>
          <a:p>
            <a:pPr marL="0" indent="0" algn="ctr">
              <a:buNone/>
            </a:pPr>
            <a:r>
              <a:rPr lang="en-US" sz="2000" b="1" dirty="0">
                <a:solidFill>
                  <a:srgbClr val="3A7BD5"/>
                </a:solidFill>
                <a:latin typeface="Georgia" pitchFamily="34" charset="0"/>
                <a:ea typeface="Georgia" pitchFamily="34" charset="-122"/>
                <a:cs typeface="Georgia" pitchFamily="34" charset="-120"/>
              </a:rPr>
              <a:t>02</a:t>
            </a:r>
            <a:endParaRPr lang="en-US" sz="2000" dirty="0"/>
          </a:p>
        </p:txBody>
      </p:sp>
      <p:sp>
        <p:nvSpPr>
          <p:cNvPr id="13" name="Text 11"/>
          <p:cNvSpPr/>
          <p:nvPr/>
        </p:nvSpPr>
        <p:spPr>
          <a:xfrm>
            <a:off x="1115568" y="1984248"/>
            <a:ext cx="3200400" cy="292608"/>
          </a:xfrm>
          <a:prstGeom prst="rect">
            <a:avLst/>
          </a:prstGeom>
          <a:noFill/>
          <a:ln/>
        </p:spPr>
        <p:txBody>
          <a:bodyPr wrap="square" lIns="0" tIns="0" rIns="0" bIns="0" rtlCol="0" anchor="ctr"/>
          <a:lstStyle/>
          <a:p>
            <a:pPr marL="0" indent="0" algn="l">
              <a:buNone/>
            </a:pPr>
            <a:r>
              <a:rPr lang="en-US" sz="1300" b="1" dirty="0">
                <a:solidFill>
                  <a:srgbClr val="1B3A5C"/>
                </a:solidFill>
                <a:latin typeface="Calibri" pitchFamily="34" charset="0"/>
                <a:ea typeface="Calibri" pitchFamily="34" charset="-122"/>
                <a:cs typeface="Calibri" pitchFamily="34" charset="-120"/>
              </a:rPr>
              <a:t>Core Java Classes</a:t>
            </a:r>
            <a:endParaRPr lang="en-US" sz="1300" dirty="0"/>
          </a:p>
        </p:txBody>
      </p:sp>
      <p:sp>
        <p:nvSpPr>
          <p:cNvPr id="14" name="Text 12"/>
          <p:cNvSpPr/>
          <p:nvPr/>
        </p:nvSpPr>
        <p:spPr>
          <a:xfrm>
            <a:off x="1115568" y="2276856"/>
            <a:ext cx="3200400" cy="292608"/>
          </a:xfrm>
          <a:prstGeom prst="rect">
            <a:avLst/>
          </a:prstGeom>
          <a:noFill/>
          <a:ln/>
        </p:spPr>
        <p:txBody>
          <a:bodyPr wrap="square" lIns="0" tIns="0" rIns="0" bIns="0" rtlCol="0" anchor="ctr"/>
          <a:lstStyle/>
          <a:p>
            <a:pPr marL="0" indent="0" algn="l">
              <a:buNone/>
            </a:pPr>
            <a:r>
              <a:rPr lang="en-US" sz="1000" dirty="0">
                <a:solidFill>
                  <a:srgbClr val="4A5568"/>
                </a:solidFill>
                <a:latin typeface="Calibri" pitchFamily="34" charset="0"/>
                <a:ea typeface="Calibri" pitchFamily="34" charset="-122"/>
                <a:cs typeface="Calibri" pitchFamily="34" charset="-120"/>
              </a:rPr>
              <a:t>Main, GameMenu, KeyHandler, Player</a:t>
            </a:r>
            <a:endParaRPr lang="en-US" sz="1000" dirty="0"/>
          </a:p>
        </p:txBody>
      </p:sp>
      <p:sp>
        <p:nvSpPr>
          <p:cNvPr id="15" name="Shape 13"/>
          <p:cNvSpPr/>
          <p:nvPr/>
        </p:nvSpPr>
        <p:spPr>
          <a:xfrm>
            <a:off x="365760" y="2834640"/>
            <a:ext cx="4114800" cy="777240"/>
          </a:xfrm>
          <a:prstGeom prst="rect">
            <a:avLst/>
          </a:prstGeom>
          <a:solidFill>
            <a:srgbClr val="FFFFFF"/>
          </a:solidFill>
          <a:ln w="6350">
            <a:solidFill>
              <a:srgbClr val="D0D8E4"/>
            </a:solidFill>
            <a:prstDash val="solid"/>
          </a:ln>
          <a:effectLst>
            <a:outerShdw blurRad="50800" dist="12700" dir="8100000" algn="bl" rotWithShape="0">
              <a:srgbClr val="000000">
                <a:alpha val="8000"/>
              </a:srgbClr>
            </a:outerShdw>
          </a:effectLst>
        </p:spPr>
        <p:txBody>
          <a:bodyPr/>
          <a:lstStyle/>
          <a:p>
            <a:endParaRPr lang="en-GB"/>
          </a:p>
        </p:txBody>
      </p:sp>
      <p:sp>
        <p:nvSpPr>
          <p:cNvPr id="16" name="Shape 14"/>
          <p:cNvSpPr/>
          <p:nvPr/>
        </p:nvSpPr>
        <p:spPr>
          <a:xfrm>
            <a:off x="365760" y="2834640"/>
            <a:ext cx="64008" cy="777240"/>
          </a:xfrm>
          <a:prstGeom prst="rect">
            <a:avLst/>
          </a:prstGeom>
          <a:solidFill>
            <a:srgbClr val="2563A8"/>
          </a:solidFill>
          <a:ln w="12700">
            <a:solidFill>
              <a:srgbClr val="2563A8"/>
            </a:solidFill>
            <a:prstDash val="solid"/>
          </a:ln>
        </p:spPr>
        <p:txBody>
          <a:bodyPr/>
          <a:lstStyle/>
          <a:p>
            <a:endParaRPr lang="en-GB"/>
          </a:p>
        </p:txBody>
      </p:sp>
      <p:sp>
        <p:nvSpPr>
          <p:cNvPr id="17" name="Text 15"/>
          <p:cNvSpPr/>
          <p:nvPr/>
        </p:nvSpPr>
        <p:spPr>
          <a:xfrm>
            <a:off x="429768" y="2907792"/>
            <a:ext cx="502920" cy="594360"/>
          </a:xfrm>
          <a:prstGeom prst="rect">
            <a:avLst/>
          </a:prstGeom>
          <a:noFill/>
          <a:ln/>
        </p:spPr>
        <p:txBody>
          <a:bodyPr wrap="square" lIns="0" tIns="0" rIns="0" bIns="0" rtlCol="0" anchor="ctr"/>
          <a:lstStyle/>
          <a:p>
            <a:pPr marL="0" indent="0" algn="ctr">
              <a:buNone/>
            </a:pPr>
            <a:r>
              <a:rPr lang="en-US" sz="2000" b="1" dirty="0">
                <a:solidFill>
                  <a:srgbClr val="3A7BD5"/>
                </a:solidFill>
                <a:latin typeface="Georgia" pitchFamily="34" charset="0"/>
                <a:ea typeface="Georgia" pitchFamily="34" charset="-122"/>
                <a:cs typeface="Georgia" pitchFamily="34" charset="-120"/>
              </a:rPr>
              <a:t>03</a:t>
            </a:r>
            <a:endParaRPr lang="en-US" sz="2000" dirty="0"/>
          </a:p>
        </p:txBody>
      </p:sp>
      <p:sp>
        <p:nvSpPr>
          <p:cNvPr id="18" name="Text 16"/>
          <p:cNvSpPr/>
          <p:nvPr/>
        </p:nvSpPr>
        <p:spPr>
          <a:xfrm>
            <a:off x="1115568" y="2898648"/>
            <a:ext cx="3200400" cy="292608"/>
          </a:xfrm>
          <a:prstGeom prst="rect">
            <a:avLst/>
          </a:prstGeom>
          <a:noFill/>
          <a:ln/>
        </p:spPr>
        <p:txBody>
          <a:bodyPr wrap="square" lIns="0" tIns="0" rIns="0" bIns="0" rtlCol="0" anchor="ctr"/>
          <a:lstStyle/>
          <a:p>
            <a:pPr marL="0" indent="0" algn="l">
              <a:buNone/>
            </a:pPr>
            <a:r>
              <a:rPr lang="en-US" sz="1300" b="1" dirty="0">
                <a:solidFill>
                  <a:srgbClr val="1B3A5C"/>
                </a:solidFill>
                <a:latin typeface="Calibri" pitchFamily="34" charset="0"/>
                <a:ea typeface="Calibri" pitchFamily="34" charset="-122"/>
                <a:cs typeface="Calibri" pitchFamily="34" charset="-120"/>
              </a:rPr>
              <a:t>AI &amp; Algorithms</a:t>
            </a:r>
            <a:endParaRPr lang="en-US" sz="1300" dirty="0"/>
          </a:p>
        </p:txBody>
      </p:sp>
      <p:sp>
        <p:nvSpPr>
          <p:cNvPr id="19" name="Text 17"/>
          <p:cNvSpPr/>
          <p:nvPr/>
        </p:nvSpPr>
        <p:spPr>
          <a:xfrm>
            <a:off x="1115568" y="3191256"/>
            <a:ext cx="3200400" cy="292608"/>
          </a:xfrm>
          <a:prstGeom prst="rect">
            <a:avLst/>
          </a:prstGeom>
          <a:noFill/>
          <a:ln/>
        </p:spPr>
        <p:txBody>
          <a:bodyPr wrap="square" lIns="0" tIns="0" rIns="0" bIns="0" rtlCol="0" anchor="ctr"/>
          <a:lstStyle/>
          <a:p>
            <a:pPr marL="0" indent="0" algn="l">
              <a:buNone/>
            </a:pPr>
            <a:r>
              <a:rPr lang="en-US" sz="1000" dirty="0">
                <a:solidFill>
                  <a:srgbClr val="4A5568"/>
                </a:solidFill>
                <a:latin typeface="Calibri" pitchFamily="34" charset="0"/>
                <a:ea typeface="Calibri" pitchFamily="34" charset="-122"/>
                <a:cs typeface="Calibri" pitchFamily="34" charset="-120"/>
              </a:rPr>
              <a:t>Enemy A*, Node, Map generation</a:t>
            </a:r>
            <a:endParaRPr lang="en-US" sz="1000" dirty="0"/>
          </a:p>
        </p:txBody>
      </p:sp>
      <p:sp>
        <p:nvSpPr>
          <p:cNvPr id="20" name="Shape 18"/>
          <p:cNvSpPr/>
          <p:nvPr/>
        </p:nvSpPr>
        <p:spPr>
          <a:xfrm>
            <a:off x="365760" y="3749040"/>
            <a:ext cx="4114800" cy="777240"/>
          </a:xfrm>
          <a:prstGeom prst="rect">
            <a:avLst/>
          </a:prstGeom>
          <a:solidFill>
            <a:srgbClr val="FFFFFF"/>
          </a:solidFill>
          <a:ln w="6350">
            <a:solidFill>
              <a:srgbClr val="D0D8E4"/>
            </a:solidFill>
            <a:prstDash val="solid"/>
          </a:ln>
          <a:effectLst>
            <a:outerShdw blurRad="50800" dist="12700" dir="8100000" algn="bl" rotWithShape="0">
              <a:srgbClr val="000000">
                <a:alpha val="8000"/>
              </a:srgbClr>
            </a:outerShdw>
          </a:effectLst>
        </p:spPr>
        <p:txBody>
          <a:bodyPr/>
          <a:lstStyle/>
          <a:p>
            <a:endParaRPr lang="en-GB"/>
          </a:p>
        </p:txBody>
      </p:sp>
      <p:sp>
        <p:nvSpPr>
          <p:cNvPr id="21" name="Shape 19"/>
          <p:cNvSpPr/>
          <p:nvPr/>
        </p:nvSpPr>
        <p:spPr>
          <a:xfrm>
            <a:off x="365760" y="3749040"/>
            <a:ext cx="64008" cy="777240"/>
          </a:xfrm>
          <a:prstGeom prst="rect">
            <a:avLst/>
          </a:prstGeom>
          <a:solidFill>
            <a:srgbClr val="2563A8"/>
          </a:solidFill>
          <a:ln w="12700">
            <a:solidFill>
              <a:srgbClr val="2563A8"/>
            </a:solidFill>
            <a:prstDash val="solid"/>
          </a:ln>
        </p:spPr>
        <p:txBody>
          <a:bodyPr/>
          <a:lstStyle/>
          <a:p>
            <a:endParaRPr lang="en-GB"/>
          </a:p>
        </p:txBody>
      </p:sp>
      <p:sp>
        <p:nvSpPr>
          <p:cNvPr id="22" name="Text 20"/>
          <p:cNvSpPr/>
          <p:nvPr/>
        </p:nvSpPr>
        <p:spPr>
          <a:xfrm>
            <a:off x="429768" y="3840480"/>
            <a:ext cx="502920" cy="594360"/>
          </a:xfrm>
          <a:prstGeom prst="rect">
            <a:avLst/>
          </a:prstGeom>
          <a:noFill/>
          <a:ln/>
        </p:spPr>
        <p:txBody>
          <a:bodyPr wrap="square" lIns="0" tIns="0" rIns="0" bIns="0" rtlCol="0" anchor="ctr"/>
          <a:lstStyle/>
          <a:p>
            <a:pPr marL="0" indent="0" algn="ctr">
              <a:buNone/>
            </a:pPr>
            <a:r>
              <a:rPr lang="en-US" sz="2000" b="1" dirty="0">
                <a:solidFill>
                  <a:srgbClr val="3A7BD5"/>
                </a:solidFill>
                <a:latin typeface="Georgia" pitchFamily="34" charset="0"/>
                <a:ea typeface="Georgia" pitchFamily="34" charset="-122"/>
                <a:cs typeface="Georgia" pitchFamily="34" charset="-120"/>
              </a:rPr>
              <a:t>04</a:t>
            </a:r>
            <a:endParaRPr lang="en-US" sz="2000" dirty="0"/>
          </a:p>
        </p:txBody>
      </p:sp>
      <p:sp>
        <p:nvSpPr>
          <p:cNvPr id="23" name="Text 21"/>
          <p:cNvSpPr/>
          <p:nvPr/>
        </p:nvSpPr>
        <p:spPr>
          <a:xfrm>
            <a:off x="1115568" y="3813048"/>
            <a:ext cx="3200400" cy="292608"/>
          </a:xfrm>
          <a:prstGeom prst="rect">
            <a:avLst/>
          </a:prstGeom>
          <a:noFill/>
          <a:ln/>
        </p:spPr>
        <p:txBody>
          <a:bodyPr wrap="square" lIns="0" tIns="0" rIns="0" bIns="0" rtlCol="0" anchor="ctr"/>
          <a:lstStyle/>
          <a:p>
            <a:pPr marL="0" indent="0" algn="l">
              <a:buNone/>
            </a:pPr>
            <a:r>
              <a:rPr lang="en-US" sz="1300" b="1" dirty="0">
                <a:solidFill>
                  <a:srgbClr val="1B3A5C"/>
                </a:solidFill>
                <a:latin typeface="Calibri" pitchFamily="34" charset="0"/>
                <a:ea typeface="Calibri" pitchFamily="34" charset="-122"/>
                <a:cs typeface="Calibri" pitchFamily="34" charset="-120"/>
              </a:rPr>
              <a:t>Game Mechanics</a:t>
            </a:r>
            <a:endParaRPr lang="en-US" sz="1300" dirty="0"/>
          </a:p>
        </p:txBody>
      </p:sp>
      <p:sp>
        <p:nvSpPr>
          <p:cNvPr id="24" name="Text 22"/>
          <p:cNvSpPr/>
          <p:nvPr/>
        </p:nvSpPr>
        <p:spPr>
          <a:xfrm>
            <a:off x="1115568" y="4105656"/>
            <a:ext cx="3200400" cy="292608"/>
          </a:xfrm>
          <a:prstGeom prst="rect">
            <a:avLst/>
          </a:prstGeom>
          <a:noFill/>
          <a:ln/>
        </p:spPr>
        <p:txBody>
          <a:bodyPr wrap="square" lIns="0" tIns="0" rIns="0" bIns="0" rtlCol="0" anchor="ctr"/>
          <a:lstStyle/>
          <a:p>
            <a:pPr marL="0" indent="0" algn="l">
              <a:buNone/>
            </a:pPr>
            <a:r>
              <a:rPr lang="en-US" sz="1000" dirty="0">
                <a:solidFill>
                  <a:srgbClr val="4A5568"/>
                </a:solidFill>
                <a:latin typeface="Calibri" pitchFamily="34" charset="0"/>
                <a:ea typeface="Calibri" pitchFamily="34" charset="-122"/>
                <a:cs typeface="Calibri" pitchFamily="34" charset="-120"/>
              </a:rPr>
              <a:t>Arrow, ExplosionTracker, Crystal</a:t>
            </a:r>
            <a:endParaRPr lang="en-US" sz="1000" dirty="0"/>
          </a:p>
        </p:txBody>
      </p:sp>
      <p:sp>
        <p:nvSpPr>
          <p:cNvPr id="25" name="Shape 23"/>
          <p:cNvSpPr/>
          <p:nvPr/>
        </p:nvSpPr>
        <p:spPr>
          <a:xfrm>
            <a:off x="4846320" y="1005840"/>
            <a:ext cx="4114800" cy="777240"/>
          </a:xfrm>
          <a:prstGeom prst="rect">
            <a:avLst/>
          </a:prstGeom>
          <a:solidFill>
            <a:srgbClr val="FFFFFF"/>
          </a:solidFill>
          <a:ln w="6350">
            <a:solidFill>
              <a:srgbClr val="D0D8E4"/>
            </a:solidFill>
            <a:prstDash val="solid"/>
          </a:ln>
          <a:effectLst>
            <a:outerShdw blurRad="50800" dist="12700" dir="8100000" algn="bl" rotWithShape="0">
              <a:srgbClr val="000000">
                <a:alpha val="8000"/>
              </a:srgbClr>
            </a:outerShdw>
          </a:effectLst>
        </p:spPr>
        <p:txBody>
          <a:bodyPr/>
          <a:lstStyle/>
          <a:p>
            <a:endParaRPr lang="en-GB"/>
          </a:p>
        </p:txBody>
      </p:sp>
      <p:sp>
        <p:nvSpPr>
          <p:cNvPr id="26" name="Shape 24"/>
          <p:cNvSpPr/>
          <p:nvPr/>
        </p:nvSpPr>
        <p:spPr>
          <a:xfrm>
            <a:off x="4846320" y="1005840"/>
            <a:ext cx="64008" cy="777240"/>
          </a:xfrm>
          <a:prstGeom prst="rect">
            <a:avLst/>
          </a:prstGeom>
          <a:solidFill>
            <a:srgbClr val="2563A8"/>
          </a:solidFill>
          <a:ln w="12700">
            <a:solidFill>
              <a:srgbClr val="2563A8"/>
            </a:solidFill>
            <a:prstDash val="solid"/>
          </a:ln>
        </p:spPr>
        <p:txBody>
          <a:bodyPr/>
          <a:lstStyle/>
          <a:p>
            <a:endParaRPr lang="en-GB"/>
          </a:p>
        </p:txBody>
      </p:sp>
      <p:sp>
        <p:nvSpPr>
          <p:cNvPr id="27" name="Text 25"/>
          <p:cNvSpPr/>
          <p:nvPr/>
        </p:nvSpPr>
        <p:spPr>
          <a:xfrm>
            <a:off x="4914836" y="1078992"/>
            <a:ext cx="502920" cy="594360"/>
          </a:xfrm>
          <a:prstGeom prst="rect">
            <a:avLst/>
          </a:prstGeom>
          <a:noFill/>
          <a:ln/>
        </p:spPr>
        <p:txBody>
          <a:bodyPr wrap="square" lIns="0" tIns="0" rIns="0" bIns="0" rtlCol="0" anchor="ctr"/>
          <a:lstStyle/>
          <a:p>
            <a:pPr marL="0" indent="0" algn="ctr">
              <a:buNone/>
            </a:pPr>
            <a:r>
              <a:rPr lang="en-US" sz="2000" b="1" dirty="0">
                <a:solidFill>
                  <a:srgbClr val="3A7BD5"/>
                </a:solidFill>
                <a:latin typeface="Georgia" pitchFamily="34" charset="0"/>
                <a:ea typeface="Georgia" pitchFamily="34" charset="-122"/>
                <a:cs typeface="Georgia" pitchFamily="34" charset="-120"/>
              </a:rPr>
              <a:t>05</a:t>
            </a:r>
            <a:endParaRPr lang="en-US" sz="2000" dirty="0"/>
          </a:p>
        </p:txBody>
      </p:sp>
      <p:sp>
        <p:nvSpPr>
          <p:cNvPr id="28" name="Text 26"/>
          <p:cNvSpPr/>
          <p:nvPr/>
        </p:nvSpPr>
        <p:spPr>
          <a:xfrm>
            <a:off x="5596128" y="1069848"/>
            <a:ext cx="3200400" cy="292608"/>
          </a:xfrm>
          <a:prstGeom prst="rect">
            <a:avLst/>
          </a:prstGeom>
          <a:noFill/>
          <a:ln/>
        </p:spPr>
        <p:txBody>
          <a:bodyPr wrap="square" lIns="0" tIns="0" rIns="0" bIns="0" rtlCol="0" anchor="ctr"/>
          <a:lstStyle/>
          <a:p>
            <a:pPr marL="0" indent="0" algn="l">
              <a:buNone/>
            </a:pPr>
            <a:r>
              <a:rPr lang="en-US" sz="1300" b="1" dirty="0">
                <a:solidFill>
                  <a:srgbClr val="1B3A5C"/>
                </a:solidFill>
                <a:latin typeface="Calibri" pitchFamily="34" charset="0"/>
                <a:ea typeface="Calibri" pitchFamily="34" charset="-122"/>
                <a:cs typeface="Calibri" pitchFamily="34" charset="-120"/>
              </a:rPr>
              <a:t>Data &amp; Persistence</a:t>
            </a:r>
            <a:endParaRPr lang="en-US" sz="1300" dirty="0"/>
          </a:p>
        </p:txBody>
      </p:sp>
      <p:sp>
        <p:nvSpPr>
          <p:cNvPr id="29" name="Text 27"/>
          <p:cNvSpPr/>
          <p:nvPr/>
        </p:nvSpPr>
        <p:spPr>
          <a:xfrm>
            <a:off x="5596128" y="1362456"/>
            <a:ext cx="3200400" cy="292608"/>
          </a:xfrm>
          <a:prstGeom prst="rect">
            <a:avLst/>
          </a:prstGeom>
          <a:noFill/>
          <a:ln/>
        </p:spPr>
        <p:txBody>
          <a:bodyPr wrap="square" lIns="0" tIns="0" rIns="0" bIns="0" rtlCol="0" anchor="ctr"/>
          <a:lstStyle/>
          <a:p>
            <a:pPr marL="0" indent="0" algn="l">
              <a:buNone/>
            </a:pPr>
            <a:r>
              <a:rPr lang="en-US" sz="1000" dirty="0">
                <a:solidFill>
                  <a:srgbClr val="4A5568"/>
                </a:solidFill>
                <a:latin typeface="Calibri" pitchFamily="34" charset="0"/>
                <a:ea typeface="Calibri" pitchFamily="34" charset="-122"/>
                <a:cs typeface="Calibri" pitchFamily="34" charset="-120"/>
              </a:rPr>
              <a:t>ScoreEntry, ScoreManager, Tile</a:t>
            </a:r>
            <a:endParaRPr lang="en-US" sz="1000" dirty="0"/>
          </a:p>
        </p:txBody>
      </p:sp>
      <p:sp>
        <p:nvSpPr>
          <p:cNvPr id="30" name="Shape 28"/>
          <p:cNvSpPr/>
          <p:nvPr/>
        </p:nvSpPr>
        <p:spPr>
          <a:xfrm>
            <a:off x="4846320" y="1920240"/>
            <a:ext cx="4114800" cy="777240"/>
          </a:xfrm>
          <a:prstGeom prst="rect">
            <a:avLst/>
          </a:prstGeom>
          <a:solidFill>
            <a:srgbClr val="FFFFFF"/>
          </a:solidFill>
          <a:ln w="6350">
            <a:solidFill>
              <a:srgbClr val="D0D8E4"/>
            </a:solidFill>
            <a:prstDash val="solid"/>
          </a:ln>
          <a:effectLst>
            <a:outerShdw blurRad="50800" dist="12700" dir="8100000" algn="bl" rotWithShape="0">
              <a:srgbClr val="000000">
                <a:alpha val="8000"/>
              </a:srgbClr>
            </a:outerShdw>
          </a:effectLst>
        </p:spPr>
        <p:txBody>
          <a:bodyPr/>
          <a:lstStyle/>
          <a:p>
            <a:endParaRPr lang="en-GB"/>
          </a:p>
        </p:txBody>
      </p:sp>
      <p:sp>
        <p:nvSpPr>
          <p:cNvPr id="31" name="Shape 29"/>
          <p:cNvSpPr/>
          <p:nvPr/>
        </p:nvSpPr>
        <p:spPr>
          <a:xfrm>
            <a:off x="4846320" y="1920240"/>
            <a:ext cx="64008" cy="777240"/>
          </a:xfrm>
          <a:prstGeom prst="rect">
            <a:avLst/>
          </a:prstGeom>
          <a:solidFill>
            <a:srgbClr val="2563A8"/>
          </a:solidFill>
          <a:ln w="12700">
            <a:solidFill>
              <a:srgbClr val="2563A8"/>
            </a:solidFill>
            <a:prstDash val="solid"/>
          </a:ln>
        </p:spPr>
        <p:txBody>
          <a:bodyPr/>
          <a:lstStyle/>
          <a:p>
            <a:endParaRPr lang="en-GB"/>
          </a:p>
        </p:txBody>
      </p:sp>
      <p:sp>
        <p:nvSpPr>
          <p:cNvPr id="32" name="Text 30"/>
          <p:cNvSpPr/>
          <p:nvPr/>
        </p:nvSpPr>
        <p:spPr>
          <a:xfrm>
            <a:off x="4919344" y="2011680"/>
            <a:ext cx="502920" cy="594360"/>
          </a:xfrm>
          <a:prstGeom prst="rect">
            <a:avLst/>
          </a:prstGeom>
          <a:noFill/>
          <a:ln/>
        </p:spPr>
        <p:txBody>
          <a:bodyPr wrap="square" lIns="0" tIns="0" rIns="0" bIns="0" rtlCol="0" anchor="ctr"/>
          <a:lstStyle/>
          <a:p>
            <a:pPr marL="0" indent="0" algn="ctr">
              <a:buNone/>
            </a:pPr>
            <a:r>
              <a:rPr lang="en-US" sz="2000" b="1" dirty="0">
                <a:solidFill>
                  <a:srgbClr val="3A7BD5"/>
                </a:solidFill>
                <a:latin typeface="Georgia" pitchFamily="34" charset="0"/>
                <a:ea typeface="Georgia" pitchFamily="34" charset="-122"/>
                <a:cs typeface="Georgia" pitchFamily="34" charset="-120"/>
              </a:rPr>
              <a:t>06</a:t>
            </a:r>
            <a:endParaRPr lang="en-US" sz="2000" dirty="0"/>
          </a:p>
        </p:txBody>
      </p:sp>
      <p:sp>
        <p:nvSpPr>
          <p:cNvPr id="33" name="Text 31"/>
          <p:cNvSpPr/>
          <p:nvPr/>
        </p:nvSpPr>
        <p:spPr>
          <a:xfrm>
            <a:off x="5596128" y="1984248"/>
            <a:ext cx="3200400" cy="292608"/>
          </a:xfrm>
          <a:prstGeom prst="rect">
            <a:avLst/>
          </a:prstGeom>
          <a:noFill/>
          <a:ln/>
        </p:spPr>
        <p:txBody>
          <a:bodyPr wrap="square" lIns="0" tIns="0" rIns="0" bIns="0" rtlCol="0" anchor="ctr"/>
          <a:lstStyle/>
          <a:p>
            <a:pPr marL="0" indent="0" algn="l">
              <a:buNone/>
            </a:pPr>
            <a:r>
              <a:rPr lang="en-US" sz="1300" b="1" dirty="0">
                <a:solidFill>
                  <a:srgbClr val="1B3A5C"/>
                </a:solidFill>
                <a:latin typeface="Calibri" pitchFamily="34" charset="0"/>
                <a:ea typeface="Calibri" pitchFamily="34" charset="-122"/>
                <a:cs typeface="Calibri" pitchFamily="34" charset="-120"/>
              </a:rPr>
              <a:t>ArcherBoss &amp; GamePanel</a:t>
            </a:r>
            <a:endParaRPr lang="en-US" sz="1300" dirty="0"/>
          </a:p>
        </p:txBody>
      </p:sp>
      <p:sp>
        <p:nvSpPr>
          <p:cNvPr id="34" name="Text 32"/>
          <p:cNvSpPr/>
          <p:nvPr/>
        </p:nvSpPr>
        <p:spPr>
          <a:xfrm>
            <a:off x="5596128" y="2276856"/>
            <a:ext cx="3200400" cy="292608"/>
          </a:xfrm>
          <a:prstGeom prst="rect">
            <a:avLst/>
          </a:prstGeom>
          <a:noFill/>
          <a:ln/>
        </p:spPr>
        <p:txBody>
          <a:bodyPr wrap="square" lIns="0" tIns="0" rIns="0" bIns="0" rtlCol="0" anchor="ctr"/>
          <a:lstStyle/>
          <a:p>
            <a:pPr marL="0" indent="0" algn="l">
              <a:buNone/>
            </a:pPr>
            <a:r>
              <a:rPr lang="en-US" sz="1000" dirty="0">
                <a:solidFill>
                  <a:srgbClr val="4A5568"/>
                </a:solidFill>
                <a:latin typeface="Calibri" pitchFamily="34" charset="0"/>
                <a:ea typeface="Calibri" pitchFamily="34" charset="-122"/>
                <a:cs typeface="Calibri" pitchFamily="34" charset="-120"/>
              </a:rPr>
              <a:t>Boss AI, attacks, game loop &amp; timers</a:t>
            </a:r>
            <a:endParaRPr lang="en-US" sz="1000" dirty="0"/>
          </a:p>
        </p:txBody>
      </p:sp>
      <p:sp>
        <p:nvSpPr>
          <p:cNvPr id="35" name="Shape 33"/>
          <p:cNvSpPr/>
          <p:nvPr/>
        </p:nvSpPr>
        <p:spPr>
          <a:xfrm>
            <a:off x="4846320" y="2834640"/>
            <a:ext cx="4114800" cy="777240"/>
          </a:xfrm>
          <a:prstGeom prst="rect">
            <a:avLst/>
          </a:prstGeom>
          <a:solidFill>
            <a:srgbClr val="FFFFFF"/>
          </a:solidFill>
          <a:ln w="6350">
            <a:solidFill>
              <a:srgbClr val="D0D8E4"/>
            </a:solidFill>
            <a:prstDash val="solid"/>
          </a:ln>
          <a:effectLst>
            <a:outerShdw blurRad="50800" dist="12700" dir="8100000" algn="bl" rotWithShape="0">
              <a:srgbClr val="000000">
                <a:alpha val="8000"/>
              </a:srgbClr>
            </a:outerShdw>
          </a:effectLst>
        </p:spPr>
        <p:txBody>
          <a:bodyPr/>
          <a:lstStyle/>
          <a:p>
            <a:endParaRPr lang="en-GB"/>
          </a:p>
        </p:txBody>
      </p:sp>
      <p:sp>
        <p:nvSpPr>
          <p:cNvPr id="36" name="Shape 34"/>
          <p:cNvSpPr/>
          <p:nvPr/>
        </p:nvSpPr>
        <p:spPr>
          <a:xfrm>
            <a:off x="4846320" y="2834640"/>
            <a:ext cx="64008" cy="777240"/>
          </a:xfrm>
          <a:prstGeom prst="rect">
            <a:avLst/>
          </a:prstGeom>
          <a:solidFill>
            <a:srgbClr val="2563A8"/>
          </a:solidFill>
          <a:ln w="12700">
            <a:solidFill>
              <a:srgbClr val="2563A8"/>
            </a:solidFill>
            <a:prstDash val="solid"/>
          </a:ln>
        </p:spPr>
        <p:txBody>
          <a:bodyPr/>
          <a:lstStyle/>
          <a:p>
            <a:endParaRPr lang="en-GB"/>
          </a:p>
        </p:txBody>
      </p:sp>
      <p:sp>
        <p:nvSpPr>
          <p:cNvPr id="37" name="Text 35"/>
          <p:cNvSpPr/>
          <p:nvPr/>
        </p:nvSpPr>
        <p:spPr>
          <a:xfrm>
            <a:off x="4919344" y="2907792"/>
            <a:ext cx="502920" cy="594360"/>
          </a:xfrm>
          <a:prstGeom prst="rect">
            <a:avLst/>
          </a:prstGeom>
          <a:noFill/>
          <a:ln/>
        </p:spPr>
        <p:txBody>
          <a:bodyPr wrap="square" lIns="0" tIns="0" rIns="0" bIns="0" rtlCol="0" anchor="ctr"/>
          <a:lstStyle/>
          <a:p>
            <a:pPr marL="0" indent="0" algn="ctr">
              <a:buNone/>
            </a:pPr>
            <a:r>
              <a:rPr lang="en-US" sz="2000" b="1" dirty="0">
                <a:solidFill>
                  <a:srgbClr val="3A7BD5"/>
                </a:solidFill>
                <a:latin typeface="Georgia" pitchFamily="34" charset="0"/>
                <a:ea typeface="Georgia" pitchFamily="34" charset="-122"/>
                <a:cs typeface="Georgia" pitchFamily="34" charset="-120"/>
              </a:rPr>
              <a:t>07</a:t>
            </a:r>
            <a:endParaRPr lang="en-US" sz="2000" dirty="0"/>
          </a:p>
        </p:txBody>
      </p:sp>
      <p:sp>
        <p:nvSpPr>
          <p:cNvPr id="38" name="Text 36"/>
          <p:cNvSpPr/>
          <p:nvPr/>
        </p:nvSpPr>
        <p:spPr>
          <a:xfrm>
            <a:off x="5596128" y="2898648"/>
            <a:ext cx="3200400" cy="292608"/>
          </a:xfrm>
          <a:prstGeom prst="rect">
            <a:avLst/>
          </a:prstGeom>
          <a:noFill/>
          <a:ln/>
        </p:spPr>
        <p:txBody>
          <a:bodyPr wrap="square" lIns="0" tIns="0" rIns="0" bIns="0" rtlCol="0" anchor="ctr"/>
          <a:lstStyle/>
          <a:p>
            <a:pPr marL="0" indent="0" algn="l">
              <a:buNone/>
            </a:pPr>
            <a:r>
              <a:rPr lang="en-US" sz="1300" b="1" dirty="0">
                <a:solidFill>
                  <a:srgbClr val="1B3A5C"/>
                </a:solidFill>
                <a:latin typeface="Calibri" pitchFamily="34" charset="0"/>
                <a:ea typeface="Calibri" pitchFamily="34" charset="-122"/>
                <a:cs typeface="Calibri" pitchFamily="34" charset="-120"/>
              </a:rPr>
              <a:t>System Architecture</a:t>
            </a:r>
            <a:endParaRPr lang="en-US" sz="1300" dirty="0"/>
          </a:p>
        </p:txBody>
      </p:sp>
      <p:sp>
        <p:nvSpPr>
          <p:cNvPr id="39" name="Text 37"/>
          <p:cNvSpPr/>
          <p:nvPr/>
        </p:nvSpPr>
        <p:spPr>
          <a:xfrm>
            <a:off x="5596128" y="3191256"/>
            <a:ext cx="3200400" cy="292608"/>
          </a:xfrm>
          <a:prstGeom prst="rect">
            <a:avLst/>
          </a:prstGeom>
          <a:noFill/>
          <a:ln/>
        </p:spPr>
        <p:txBody>
          <a:bodyPr wrap="square" lIns="0" tIns="0" rIns="0" bIns="0" rtlCol="0" anchor="ctr"/>
          <a:lstStyle/>
          <a:p>
            <a:pPr marL="0" indent="0" algn="l">
              <a:buNone/>
            </a:pPr>
            <a:r>
              <a:rPr lang="en-US" sz="1000" dirty="0">
                <a:solidFill>
                  <a:srgbClr val="4A5568"/>
                </a:solidFill>
                <a:latin typeface="Calibri" pitchFamily="34" charset="0"/>
                <a:ea typeface="Calibri" pitchFamily="34" charset="-122"/>
                <a:cs typeface="Calibri" pitchFamily="34" charset="-120"/>
              </a:rPr>
              <a:t>Component overview table</a:t>
            </a:r>
            <a:endParaRPr lang="en-US" sz="1000" dirty="0"/>
          </a:p>
        </p:txBody>
      </p:sp>
      <p:sp>
        <p:nvSpPr>
          <p:cNvPr id="40" name="Shape 38"/>
          <p:cNvSpPr/>
          <p:nvPr/>
        </p:nvSpPr>
        <p:spPr>
          <a:xfrm>
            <a:off x="4846320" y="3749040"/>
            <a:ext cx="4114800" cy="777240"/>
          </a:xfrm>
          <a:prstGeom prst="rect">
            <a:avLst/>
          </a:prstGeom>
          <a:solidFill>
            <a:srgbClr val="FFFFFF"/>
          </a:solidFill>
          <a:ln w="6350">
            <a:solidFill>
              <a:srgbClr val="D0D8E4"/>
            </a:solidFill>
            <a:prstDash val="solid"/>
          </a:ln>
          <a:effectLst>
            <a:outerShdw blurRad="50800" dist="12700" dir="8100000" algn="bl" rotWithShape="0">
              <a:srgbClr val="000000">
                <a:alpha val="8000"/>
              </a:srgbClr>
            </a:outerShdw>
          </a:effectLst>
        </p:spPr>
        <p:txBody>
          <a:bodyPr/>
          <a:lstStyle/>
          <a:p>
            <a:endParaRPr lang="en-GB"/>
          </a:p>
        </p:txBody>
      </p:sp>
      <p:sp>
        <p:nvSpPr>
          <p:cNvPr id="41" name="Shape 39"/>
          <p:cNvSpPr/>
          <p:nvPr/>
        </p:nvSpPr>
        <p:spPr>
          <a:xfrm>
            <a:off x="4846320" y="3749040"/>
            <a:ext cx="64008" cy="777240"/>
          </a:xfrm>
          <a:prstGeom prst="rect">
            <a:avLst/>
          </a:prstGeom>
          <a:solidFill>
            <a:srgbClr val="2563A8"/>
          </a:solidFill>
          <a:ln w="12700">
            <a:solidFill>
              <a:srgbClr val="2563A8"/>
            </a:solidFill>
            <a:prstDash val="solid"/>
          </a:ln>
        </p:spPr>
        <p:txBody>
          <a:bodyPr/>
          <a:lstStyle/>
          <a:p>
            <a:endParaRPr lang="en-GB"/>
          </a:p>
        </p:txBody>
      </p:sp>
      <p:sp>
        <p:nvSpPr>
          <p:cNvPr id="42" name="Text 40"/>
          <p:cNvSpPr/>
          <p:nvPr/>
        </p:nvSpPr>
        <p:spPr>
          <a:xfrm>
            <a:off x="4906465" y="3840480"/>
            <a:ext cx="502920" cy="594360"/>
          </a:xfrm>
          <a:prstGeom prst="rect">
            <a:avLst/>
          </a:prstGeom>
          <a:noFill/>
          <a:ln/>
        </p:spPr>
        <p:txBody>
          <a:bodyPr wrap="square" lIns="0" tIns="0" rIns="0" bIns="0" rtlCol="0" anchor="ctr"/>
          <a:lstStyle/>
          <a:p>
            <a:pPr marL="0" indent="0" algn="ctr">
              <a:buNone/>
            </a:pPr>
            <a:r>
              <a:rPr lang="en-US" sz="2000" b="1" dirty="0">
                <a:solidFill>
                  <a:srgbClr val="3A7BD5"/>
                </a:solidFill>
                <a:latin typeface="Georgia" pitchFamily="34" charset="0"/>
                <a:ea typeface="Georgia" pitchFamily="34" charset="-122"/>
                <a:cs typeface="Georgia" pitchFamily="34" charset="-120"/>
              </a:rPr>
              <a:t>08</a:t>
            </a:r>
            <a:endParaRPr lang="en-US" sz="2000" dirty="0"/>
          </a:p>
        </p:txBody>
      </p:sp>
      <p:sp>
        <p:nvSpPr>
          <p:cNvPr id="43" name="Text 41"/>
          <p:cNvSpPr/>
          <p:nvPr/>
        </p:nvSpPr>
        <p:spPr>
          <a:xfrm>
            <a:off x="5596128" y="3813048"/>
            <a:ext cx="3200400" cy="292608"/>
          </a:xfrm>
          <a:prstGeom prst="rect">
            <a:avLst/>
          </a:prstGeom>
          <a:noFill/>
          <a:ln/>
        </p:spPr>
        <p:txBody>
          <a:bodyPr wrap="square" lIns="0" tIns="0" rIns="0" bIns="0" rtlCol="0" anchor="ctr"/>
          <a:lstStyle/>
          <a:p>
            <a:pPr marL="0" indent="0" algn="l">
              <a:buNone/>
            </a:pPr>
            <a:r>
              <a:rPr lang="en-US" sz="1300" b="1" dirty="0">
                <a:solidFill>
                  <a:srgbClr val="1B3A5C"/>
                </a:solidFill>
                <a:latin typeface="Calibri" pitchFamily="34" charset="0"/>
                <a:ea typeface="Calibri" pitchFamily="34" charset="-122"/>
                <a:cs typeface="Calibri" pitchFamily="34" charset="-120"/>
              </a:rPr>
              <a:t>Workflow &amp; Debugging</a:t>
            </a:r>
            <a:endParaRPr lang="en-US" sz="1300" dirty="0"/>
          </a:p>
        </p:txBody>
      </p:sp>
      <p:sp>
        <p:nvSpPr>
          <p:cNvPr id="44" name="Text 42"/>
          <p:cNvSpPr/>
          <p:nvPr/>
        </p:nvSpPr>
        <p:spPr>
          <a:xfrm>
            <a:off x="5596128" y="4105656"/>
            <a:ext cx="3200400" cy="292608"/>
          </a:xfrm>
          <a:prstGeom prst="rect">
            <a:avLst/>
          </a:prstGeom>
          <a:noFill/>
          <a:ln/>
        </p:spPr>
        <p:txBody>
          <a:bodyPr wrap="square" lIns="0" tIns="0" rIns="0" bIns="0" rtlCol="0" anchor="ctr"/>
          <a:lstStyle/>
          <a:p>
            <a:pPr marL="0" indent="0" algn="l">
              <a:buNone/>
            </a:pPr>
            <a:r>
              <a:rPr lang="en-US" sz="1000" dirty="0">
                <a:solidFill>
                  <a:srgbClr val="4A5568"/>
                </a:solidFill>
                <a:latin typeface="Calibri" pitchFamily="34" charset="0"/>
                <a:ea typeface="Calibri" pitchFamily="34" charset="-122"/>
                <a:cs typeface="Calibri" pitchFamily="34" charset="-120"/>
              </a:rPr>
              <a:t>Game flow &amp; debug key-binds</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8EDF2"/>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1B3A5C"/>
          </a:solidFill>
          <a:ln w="12700">
            <a:solidFill>
              <a:srgbClr val="1B3A5C"/>
            </a:solidFill>
            <a:prstDash val="solid"/>
          </a:ln>
        </p:spPr>
        <p:txBody>
          <a:bodyPr/>
          <a:lstStyle/>
          <a:p>
            <a:endParaRPr lang="en-GB"/>
          </a:p>
        </p:txBody>
      </p:sp>
      <p:sp>
        <p:nvSpPr>
          <p:cNvPr id="3" name="Text 1"/>
          <p:cNvSpPr/>
          <p:nvPr/>
        </p:nvSpPr>
        <p:spPr>
          <a:xfrm>
            <a:off x="365760" y="182880"/>
            <a:ext cx="8503920" cy="594360"/>
          </a:xfrm>
          <a:prstGeom prst="rect">
            <a:avLst/>
          </a:prstGeom>
          <a:noFill/>
          <a:ln/>
        </p:spPr>
        <p:txBody>
          <a:bodyPr wrap="square" lIns="0" tIns="0" rIns="0" bIns="0" rtlCol="0" anchor="ctr"/>
          <a:lstStyle/>
          <a:p>
            <a:pPr marL="0" indent="0" algn="l">
              <a:buNone/>
            </a:pPr>
            <a:r>
              <a:rPr lang="en-US" sz="2400" b="1" dirty="0">
                <a:solidFill>
                  <a:srgbClr val="1B3A5C"/>
                </a:solidFill>
                <a:latin typeface="Georgia" pitchFamily="34" charset="0"/>
                <a:ea typeface="Georgia" pitchFamily="34" charset="-122"/>
                <a:cs typeface="Georgia" pitchFamily="34" charset="-120"/>
              </a:rPr>
              <a:t>Project Overview</a:t>
            </a:r>
            <a:endParaRPr lang="en-US" sz="2400" dirty="0"/>
          </a:p>
        </p:txBody>
      </p:sp>
      <p:sp>
        <p:nvSpPr>
          <p:cNvPr id="4" name="Shape 2"/>
          <p:cNvSpPr/>
          <p:nvPr/>
        </p:nvSpPr>
        <p:spPr>
          <a:xfrm>
            <a:off x="365760" y="804672"/>
            <a:ext cx="8412480" cy="36576"/>
          </a:xfrm>
          <a:prstGeom prst="rect">
            <a:avLst/>
          </a:prstGeom>
          <a:solidFill>
            <a:srgbClr val="C0392B"/>
          </a:solidFill>
          <a:ln w="12700">
            <a:solidFill>
              <a:srgbClr val="C0392B"/>
            </a:solidFill>
            <a:prstDash val="solid"/>
          </a:ln>
        </p:spPr>
        <p:txBody>
          <a:bodyPr/>
          <a:lstStyle/>
          <a:p>
            <a:endParaRPr lang="en-GB"/>
          </a:p>
        </p:txBody>
      </p:sp>
      <p:sp>
        <p:nvSpPr>
          <p:cNvPr id="5" name="Shape 3"/>
          <p:cNvSpPr/>
          <p:nvPr/>
        </p:nvSpPr>
        <p:spPr>
          <a:xfrm>
            <a:off x="365760" y="960120"/>
            <a:ext cx="8412480" cy="960120"/>
          </a:xfrm>
          <a:prstGeom prst="rect">
            <a:avLst/>
          </a:prstGeom>
          <a:solidFill>
            <a:srgbClr val="FFFFFF"/>
          </a:solidFill>
          <a:ln w="6350">
            <a:solidFill>
              <a:srgbClr val="D0D8E4"/>
            </a:solidFill>
            <a:prstDash val="solid"/>
          </a:ln>
          <a:effectLst>
            <a:outerShdw blurRad="50800" dist="12700" dir="8100000" algn="bl" rotWithShape="0">
              <a:srgbClr val="000000">
                <a:alpha val="8000"/>
              </a:srgbClr>
            </a:outerShdw>
          </a:effectLst>
        </p:spPr>
        <p:txBody>
          <a:bodyPr/>
          <a:lstStyle/>
          <a:p>
            <a:endParaRPr lang="en-GB"/>
          </a:p>
        </p:txBody>
      </p:sp>
      <p:sp>
        <p:nvSpPr>
          <p:cNvPr id="6" name="Shape 4"/>
          <p:cNvSpPr/>
          <p:nvPr/>
        </p:nvSpPr>
        <p:spPr>
          <a:xfrm>
            <a:off x="365760" y="960120"/>
            <a:ext cx="64008" cy="960120"/>
          </a:xfrm>
          <a:prstGeom prst="rect">
            <a:avLst/>
          </a:prstGeom>
          <a:solidFill>
            <a:srgbClr val="1B3A5C"/>
          </a:solidFill>
          <a:ln w="12700">
            <a:solidFill>
              <a:srgbClr val="1B3A5C"/>
            </a:solidFill>
            <a:prstDash val="solid"/>
          </a:ln>
        </p:spPr>
        <p:txBody>
          <a:bodyPr/>
          <a:lstStyle/>
          <a:p>
            <a:endParaRPr lang="en-GB"/>
          </a:p>
        </p:txBody>
      </p:sp>
      <p:sp>
        <p:nvSpPr>
          <p:cNvPr id="7" name="Text 5"/>
          <p:cNvSpPr/>
          <p:nvPr/>
        </p:nvSpPr>
        <p:spPr>
          <a:xfrm>
            <a:off x="594360" y="1005840"/>
            <a:ext cx="8046720" cy="841248"/>
          </a:xfrm>
          <a:prstGeom prst="rect">
            <a:avLst/>
          </a:prstGeom>
          <a:noFill/>
          <a:ln/>
        </p:spPr>
        <p:txBody>
          <a:bodyPr wrap="square" rtlCol="0" anchor="ctr"/>
          <a:lstStyle/>
          <a:p>
            <a:pPr marL="0" indent="0">
              <a:buNone/>
            </a:pPr>
            <a:r>
              <a:rPr lang="en-US" sz="1300" dirty="0">
                <a:solidFill>
                  <a:srgbClr val="4A5568"/>
                </a:solidFill>
                <a:latin typeface="Calibri" pitchFamily="34" charset="0"/>
                <a:ea typeface="Calibri" pitchFamily="34" charset="-122"/>
                <a:cs typeface="Calibri" pitchFamily="34" charset="-120"/>
              </a:rPr>
              <a:t>Dungeon Escape is a 2D tile-based Java Swing game — featuring enemy AI, boss battles, procedural map generation, a JavaFX menu, and a persistent high-score system. Built entirely from first principles with no game engine.</a:t>
            </a:r>
            <a:endParaRPr lang="en-US" sz="1300" dirty="0"/>
          </a:p>
        </p:txBody>
      </p:sp>
      <p:sp>
        <p:nvSpPr>
          <p:cNvPr id="8" name="Shape 6"/>
          <p:cNvSpPr/>
          <p:nvPr/>
        </p:nvSpPr>
        <p:spPr>
          <a:xfrm>
            <a:off x="365760" y="2103120"/>
            <a:ext cx="1920240" cy="1325880"/>
          </a:xfrm>
          <a:prstGeom prst="rect">
            <a:avLst/>
          </a:prstGeom>
          <a:solidFill>
            <a:srgbClr val="1B3A5C"/>
          </a:solidFill>
          <a:ln w="6350">
            <a:solidFill>
              <a:srgbClr val="D0D8E4"/>
            </a:solidFill>
            <a:prstDash val="solid"/>
          </a:ln>
          <a:effectLst>
            <a:outerShdw blurRad="50800" dist="12700" dir="8100000" algn="bl" rotWithShape="0">
              <a:srgbClr val="000000">
                <a:alpha val="8000"/>
              </a:srgbClr>
            </a:outerShdw>
          </a:effectLst>
        </p:spPr>
        <p:txBody>
          <a:bodyPr/>
          <a:lstStyle/>
          <a:p>
            <a:endParaRPr lang="en-GB"/>
          </a:p>
        </p:txBody>
      </p:sp>
      <p:sp>
        <p:nvSpPr>
          <p:cNvPr id="9" name="Text 7"/>
          <p:cNvSpPr/>
          <p:nvPr/>
        </p:nvSpPr>
        <p:spPr>
          <a:xfrm>
            <a:off x="365760" y="2148840"/>
            <a:ext cx="1920240" cy="777240"/>
          </a:xfrm>
          <a:prstGeom prst="rect">
            <a:avLst/>
          </a:prstGeom>
          <a:noFill/>
          <a:ln/>
        </p:spPr>
        <p:txBody>
          <a:bodyPr wrap="square" lIns="0" tIns="0" rIns="0" bIns="0" rtlCol="0" anchor="ctr"/>
          <a:lstStyle/>
          <a:p>
            <a:pPr marL="0" indent="0" algn="ctr">
              <a:buNone/>
            </a:pPr>
            <a:r>
              <a:rPr lang="en-US" sz="4800" b="1" dirty="0">
                <a:solidFill>
                  <a:srgbClr val="FFFFFF"/>
                </a:solidFill>
                <a:latin typeface="Georgia" pitchFamily="34" charset="0"/>
                <a:ea typeface="Georgia" pitchFamily="34" charset="-122"/>
                <a:cs typeface="Georgia" pitchFamily="34" charset="-120"/>
              </a:rPr>
              <a:t>15</a:t>
            </a:r>
            <a:endParaRPr lang="en-US" sz="4800" dirty="0"/>
          </a:p>
        </p:txBody>
      </p:sp>
      <p:sp>
        <p:nvSpPr>
          <p:cNvPr id="10" name="Text 8"/>
          <p:cNvSpPr/>
          <p:nvPr/>
        </p:nvSpPr>
        <p:spPr>
          <a:xfrm>
            <a:off x="365760" y="2880360"/>
            <a:ext cx="1920240" cy="457200"/>
          </a:xfrm>
          <a:prstGeom prst="rect">
            <a:avLst/>
          </a:prstGeom>
          <a:noFill/>
          <a:ln/>
        </p:spPr>
        <p:txBody>
          <a:bodyPr wrap="square" lIns="0" tIns="0" rIns="0" bIns="0" rtlCol="0" anchor="ctr"/>
          <a:lstStyle/>
          <a:p>
            <a:pPr marL="0" indent="0" algn="ctr">
              <a:buNone/>
            </a:pPr>
            <a:r>
              <a:rPr lang="en-US" sz="1100" dirty="0">
                <a:solidFill>
                  <a:srgbClr val="D6E4F7"/>
                </a:solidFill>
                <a:latin typeface="Calibri" pitchFamily="34" charset="0"/>
                <a:ea typeface="Calibri" pitchFamily="34" charset="-122"/>
                <a:cs typeface="Calibri" pitchFamily="34" charset="-120"/>
              </a:rPr>
              <a:t>Java Source Files</a:t>
            </a:r>
            <a:endParaRPr lang="en-US" sz="1100" dirty="0"/>
          </a:p>
        </p:txBody>
      </p:sp>
      <p:sp>
        <p:nvSpPr>
          <p:cNvPr id="11" name="Shape 9"/>
          <p:cNvSpPr/>
          <p:nvPr/>
        </p:nvSpPr>
        <p:spPr>
          <a:xfrm>
            <a:off x="2496312" y="2103120"/>
            <a:ext cx="1920240" cy="1325880"/>
          </a:xfrm>
          <a:prstGeom prst="rect">
            <a:avLst/>
          </a:prstGeom>
          <a:solidFill>
            <a:srgbClr val="1B3A5C"/>
          </a:solidFill>
          <a:ln w="6350">
            <a:solidFill>
              <a:srgbClr val="D0D8E4"/>
            </a:solidFill>
            <a:prstDash val="solid"/>
          </a:ln>
          <a:effectLst>
            <a:outerShdw blurRad="50800" dist="12700" dir="8100000" algn="bl" rotWithShape="0">
              <a:srgbClr val="000000">
                <a:alpha val="8000"/>
              </a:srgbClr>
            </a:outerShdw>
          </a:effectLst>
        </p:spPr>
        <p:txBody>
          <a:bodyPr/>
          <a:lstStyle/>
          <a:p>
            <a:endParaRPr lang="en-GB"/>
          </a:p>
        </p:txBody>
      </p:sp>
      <p:sp>
        <p:nvSpPr>
          <p:cNvPr id="12" name="Text 10"/>
          <p:cNvSpPr/>
          <p:nvPr/>
        </p:nvSpPr>
        <p:spPr>
          <a:xfrm>
            <a:off x="2496312" y="2148840"/>
            <a:ext cx="1920240" cy="777240"/>
          </a:xfrm>
          <a:prstGeom prst="rect">
            <a:avLst/>
          </a:prstGeom>
          <a:noFill/>
          <a:ln/>
        </p:spPr>
        <p:txBody>
          <a:bodyPr wrap="square" lIns="0" tIns="0" rIns="0" bIns="0" rtlCol="0" anchor="ctr"/>
          <a:lstStyle/>
          <a:p>
            <a:pPr marL="0" indent="0" algn="ctr">
              <a:buNone/>
            </a:pPr>
            <a:r>
              <a:rPr lang="en-US" sz="4800" b="1" dirty="0">
                <a:solidFill>
                  <a:srgbClr val="FFFFFF"/>
                </a:solidFill>
                <a:latin typeface="Georgia" pitchFamily="34" charset="0"/>
                <a:ea typeface="Georgia" pitchFamily="34" charset="-122"/>
                <a:cs typeface="Georgia" pitchFamily="34" charset="-120"/>
              </a:rPr>
              <a:t>2</a:t>
            </a:r>
            <a:endParaRPr lang="en-US" sz="4800" dirty="0"/>
          </a:p>
        </p:txBody>
      </p:sp>
      <p:sp>
        <p:nvSpPr>
          <p:cNvPr id="13" name="Text 11"/>
          <p:cNvSpPr/>
          <p:nvPr/>
        </p:nvSpPr>
        <p:spPr>
          <a:xfrm>
            <a:off x="2496312" y="2880360"/>
            <a:ext cx="1920240" cy="457200"/>
          </a:xfrm>
          <a:prstGeom prst="rect">
            <a:avLst/>
          </a:prstGeom>
          <a:noFill/>
          <a:ln/>
        </p:spPr>
        <p:txBody>
          <a:bodyPr wrap="square" lIns="0" tIns="0" rIns="0" bIns="0" rtlCol="0" anchor="ctr"/>
          <a:lstStyle/>
          <a:p>
            <a:pPr marL="0" indent="0" algn="ctr">
              <a:buNone/>
            </a:pPr>
            <a:r>
              <a:rPr lang="en-US" sz="1100" dirty="0">
                <a:solidFill>
                  <a:srgbClr val="D6E4F7"/>
                </a:solidFill>
                <a:latin typeface="Calibri" pitchFamily="34" charset="0"/>
                <a:ea typeface="Calibri" pitchFamily="34" charset="-122"/>
                <a:cs typeface="Calibri" pitchFamily="34" charset="-120"/>
              </a:rPr>
              <a:t>Game Modes</a:t>
            </a:r>
            <a:endParaRPr lang="en-US" sz="1100" dirty="0"/>
          </a:p>
        </p:txBody>
      </p:sp>
      <p:sp>
        <p:nvSpPr>
          <p:cNvPr id="14" name="Shape 12"/>
          <p:cNvSpPr/>
          <p:nvPr/>
        </p:nvSpPr>
        <p:spPr>
          <a:xfrm>
            <a:off x="4626864" y="2103120"/>
            <a:ext cx="1920240" cy="1325880"/>
          </a:xfrm>
          <a:prstGeom prst="rect">
            <a:avLst/>
          </a:prstGeom>
          <a:solidFill>
            <a:srgbClr val="1B3A5C"/>
          </a:solidFill>
          <a:ln w="6350">
            <a:solidFill>
              <a:srgbClr val="D0D8E4"/>
            </a:solidFill>
            <a:prstDash val="solid"/>
          </a:ln>
          <a:effectLst>
            <a:outerShdw blurRad="50800" dist="12700" dir="8100000" algn="bl" rotWithShape="0">
              <a:srgbClr val="000000">
                <a:alpha val="8000"/>
              </a:srgbClr>
            </a:outerShdw>
          </a:effectLst>
        </p:spPr>
        <p:txBody>
          <a:bodyPr/>
          <a:lstStyle/>
          <a:p>
            <a:endParaRPr lang="en-GB"/>
          </a:p>
        </p:txBody>
      </p:sp>
      <p:sp>
        <p:nvSpPr>
          <p:cNvPr id="15" name="Text 13"/>
          <p:cNvSpPr/>
          <p:nvPr/>
        </p:nvSpPr>
        <p:spPr>
          <a:xfrm>
            <a:off x="4626864" y="2148840"/>
            <a:ext cx="1920240" cy="777240"/>
          </a:xfrm>
          <a:prstGeom prst="rect">
            <a:avLst/>
          </a:prstGeom>
          <a:noFill/>
          <a:ln/>
        </p:spPr>
        <p:txBody>
          <a:bodyPr wrap="square" lIns="0" tIns="0" rIns="0" bIns="0" rtlCol="0" anchor="ctr"/>
          <a:lstStyle/>
          <a:p>
            <a:pPr marL="0" indent="0" algn="ctr">
              <a:buNone/>
            </a:pPr>
            <a:r>
              <a:rPr lang="en-US" sz="4800" b="1" dirty="0">
                <a:solidFill>
                  <a:srgbClr val="FFFFFF"/>
                </a:solidFill>
                <a:latin typeface="Georgia" pitchFamily="34" charset="0"/>
                <a:ea typeface="Georgia" pitchFamily="34" charset="-122"/>
                <a:cs typeface="Georgia" pitchFamily="34" charset="-120"/>
              </a:rPr>
              <a:t>10</a:t>
            </a:r>
            <a:endParaRPr lang="en-US" sz="4800" dirty="0"/>
          </a:p>
        </p:txBody>
      </p:sp>
      <p:sp>
        <p:nvSpPr>
          <p:cNvPr id="16" name="Text 14"/>
          <p:cNvSpPr/>
          <p:nvPr/>
        </p:nvSpPr>
        <p:spPr>
          <a:xfrm>
            <a:off x="4626864" y="2880360"/>
            <a:ext cx="1920240" cy="457200"/>
          </a:xfrm>
          <a:prstGeom prst="rect">
            <a:avLst/>
          </a:prstGeom>
          <a:noFill/>
          <a:ln/>
        </p:spPr>
        <p:txBody>
          <a:bodyPr wrap="square" lIns="0" tIns="0" rIns="0" bIns="0" rtlCol="0" anchor="ctr"/>
          <a:lstStyle/>
          <a:p>
            <a:pPr marL="0" indent="0" algn="ctr">
              <a:buNone/>
            </a:pPr>
            <a:r>
              <a:rPr lang="en-US" sz="1100" dirty="0">
                <a:solidFill>
                  <a:srgbClr val="D6E4F7"/>
                </a:solidFill>
                <a:latin typeface="Calibri" pitchFamily="34" charset="0"/>
                <a:ea typeface="Calibri" pitchFamily="34" charset="-122"/>
                <a:cs typeface="Calibri" pitchFamily="34" charset="-120"/>
              </a:rPr>
              <a:t>Boss Levels</a:t>
            </a:r>
            <a:endParaRPr lang="en-US" sz="1100" dirty="0"/>
          </a:p>
        </p:txBody>
      </p:sp>
      <p:sp>
        <p:nvSpPr>
          <p:cNvPr id="17" name="Shape 15"/>
          <p:cNvSpPr/>
          <p:nvPr/>
        </p:nvSpPr>
        <p:spPr>
          <a:xfrm>
            <a:off x="6757416" y="2103120"/>
            <a:ext cx="1920240" cy="1325880"/>
          </a:xfrm>
          <a:prstGeom prst="rect">
            <a:avLst/>
          </a:prstGeom>
          <a:solidFill>
            <a:srgbClr val="1B3A5C"/>
          </a:solidFill>
          <a:ln w="6350">
            <a:solidFill>
              <a:srgbClr val="D0D8E4"/>
            </a:solidFill>
            <a:prstDash val="solid"/>
          </a:ln>
          <a:effectLst>
            <a:outerShdw blurRad="50800" dist="12700" dir="8100000" algn="bl" rotWithShape="0">
              <a:srgbClr val="000000">
                <a:alpha val="8000"/>
              </a:srgbClr>
            </a:outerShdw>
          </a:effectLst>
        </p:spPr>
        <p:txBody>
          <a:bodyPr/>
          <a:lstStyle/>
          <a:p>
            <a:endParaRPr lang="en-GB"/>
          </a:p>
        </p:txBody>
      </p:sp>
      <p:sp>
        <p:nvSpPr>
          <p:cNvPr id="18" name="Text 16"/>
          <p:cNvSpPr/>
          <p:nvPr/>
        </p:nvSpPr>
        <p:spPr>
          <a:xfrm>
            <a:off x="6757416" y="2148840"/>
            <a:ext cx="1920240" cy="777240"/>
          </a:xfrm>
          <a:prstGeom prst="rect">
            <a:avLst/>
          </a:prstGeom>
          <a:noFill/>
          <a:ln/>
        </p:spPr>
        <p:txBody>
          <a:bodyPr wrap="square" lIns="0" tIns="0" rIns="0" bIns="0" rtlCol="0" anchor="ctr"/>
          <a:lstStyle/>
          <a:p>
            <a:pPr marL="0" indent="0" algn="ctr">
              <a:buNone/>
            </a:pPr>
            <a:r>
              <a:rPr lang="en-US" sz="4800" b="1" dirty="0">
                <a:solidFill>
                  <a:srgbClr val="FFFFFF"/>
                </a:solidFill>
                <a:latin typeface="Georgia" pitchFamily="34" charset="0"/>
                <a:ea typeface="Georgia" pitchFamily="34" charset="-122"/>
                <a:cs typeface="Georgia" pitchFamily="34" charset="-120"/>
              </a:rPr>
              <a:t>4</a:t>
            </a:r>
            <a:endParaRPr lang="en-US" sz="4800" dirty="0"/>
          </a:p>
        </p:txBody>
      </p:sp>
      <p:sp>
        <p:nvSpPr>
          <p:cNvPr id="19" name="Text 17"/>
          <p:cNvSpPr/>
          <p:nvPr/>
        </p:nvSpPr>
        <p:spPr>
          <a:xfrm>
            <a:off x="6757416" y="2880360"/>
            <a:ext cx="1920240" cy="457200"/>
          </a:xfrm>
          <a:prstGeom prst="rect">
            <a:avLst/>
          </a:prstGeom>
          <a:noFill/>
          <a:ln/>
        </p:spPr>
        <p:txBody>
          <a:bodyPr wrap="square" lIns="0" tIns="0" rIns="0" bIns="0" rtlCol="0" anchor="ctr"/>
          <a:lstStyle/>
          <a:p>
            <a:pPr marL="0" indent="0" algn="ctr">
              <a:buNone/>
            </a:pPr>
            <a:r>
              <a:rPr lang="en-US" sz="1100" dirty="0">
                <a:solidFill>
                  <a:srgbClr val="D6E4F7"/>
                </a:solidFill>
                <a:latin typeface="Calibri" pitchFamily="34" charset="0"/>
                <a:ea typeface="Calibri" pitchFamily="34" charset="-122"/>
                <a:cs typeface="Calibri" pitchFamily="34" charset="-120"/>
              </a:rPr>
              <a:t>Design Patterns</a:t>
            </a:r>
            <a:endParaRPr lang="en-US" sz="1100" dirty="0"/>
          </a:p>
        </p:txBody>
      </p:sp>
      <p:sp>
        <p:nvSpPr>
          <p:cNvPr id="20" name="Shape 18"/>
          <p:cNvSpPr/>
          <p:nvPr/>
        </p:nvSpPr>
        <p:spPr>
          <a:xfrm>
            <a:off x="365760" y="3584448"/>
            <a:ext cx="8412480" cy="594360"/>
          </a:xfrm>
          <a:prstGeom prst="rect">
            <a:avLst/>
          </a:prstGeom>
          <a:solidFill>
            <a:srgbClr val="0D1B2A"/>
          </a:solidFill>
          <a:ln w="6350">
            <a:solidFill>
              <a:srgbClr val="D0D8E4"/>
            </a:solidFill>
            <a:prstDash val="solid"/>
          </a:ln>
          <a:effectLst>
            <a:outerShdw blurRad="50800" dist="12700" dir="8100000" algn="bl" rotWithShape="0">
              <a:srgbClr val="000000">
                <a:alpha val="8000"/>
              </a:srgbClr>
            </a:outerShdw>
          </a:effectLst>
        </p:spPr>
        <p:txBody>
          <a:bodyPr/>
          <a:lstStyle/>
          <a:p>
            <a:endParaRPr lang="en-GB"/>
          </a:p>
        </p:txBody>
      </p:sp>
      <p:sp>
        <p:nvSpPr>
          <p:cNvPr id="21" name="Text 19"/>
          <p:cNvSpPr/>
          <p:nvPr/>
        </p:nvSpPr>
        <p:spPr>
          <a:xfrm>
            <a:off x="502920" y="3611880"/>
            <a:ext cx="8138160" cy="502920"/>
          </a:xfrm>
          <a:prstGeom prst="rect">
            <a:avLst/>
          </a:prstGeom>
          <a:noFill/>
          <a:ln/>
        </p:spPr>
        <p:txBody>
          <a:bodyPr wrap="square" lIns="0" tIns="0" rIns="0" bIns="0" rtlCol="0" anchor="ctr"/>
          <a:lstStyle/>
          <a:p>
            <a:pPr marL="0" indent="0" algn="ctr">
              <a:buNone/>
            </a:pPr>
            <a:r>
              <a:rPr lang="en-US" sz="1200" dirty="0">
                <a:solidFill>
                  <a:srgbClr val="D6E4F7"/>
                </a:solidFill>
                <a:latin typeface="Calibri" pitchFamily="34" charset="0"/>
                <a:ea typeface="Calibri" pitchFamily="34" charset="-122"/>
                <a:cs typeface="Calibri" pitchFamily="34" charset="-120"/>
              </a:rPr>
              <a:t>Technologies: Java Swing  •  JavaFX  •  Java 2D / AWT  •  A* Pathfinding  •  File I/O  •  OOP Design Patterns</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1B2A"/>
        </a:solidFill>
        <a:effectLst/>
      </p:bgPr>
    </p:bg>
    <p:spTree>
      <p:nvGrpSpPr>
        <p:cNvPr id="1" name=""/>
        <p:cNvGrpSpPr/>
        <p:nvPr/>
      </p:nvGrpSpPr>
      <p:grpSpPr>
        <a:xfrm>
          <a:off x="0" y="0"/>
          <a:ext cx="0" cy="0"/>
          <a:chOff x="0" y="0"/>
          <a:chExt cx="0" cy="0"/>
        </a:xfrm>
      </p:grpSpPr>
      <p:sp>
        <p:nvSpPr>
          <p:cNvPr id="2" name="Text 0"/>
          <p:cNvSpPr/>
          <p:nvPr/>
        </p:nvSpPr>
        <p:spPr>
          <a:xfrm>
            <a:off x="640080" y="1645920"/>
            <a:ext cx="7863840" cy="1280160"/>
          </a:xfrm>
          <a:prstGeom prst="rect">
            <a:avLst/>
          </a:prstGeom>
          <a:noFill/>
          <a:ln/>
        </p:spPr>
        <p:txBody>
          <a:bodyPr wrap="square" rtlCol="0" anchor="ctr"/>
          <a:lstStyle/>
          <a:p>
            <a:pPr marL="0" indent="0" algn="ctr">
              <a:buNone/>
            </a:pPr>
            <a:r>
              <a:rPr lang="en-US" sz="4600" b="1" dirty="0">
                <a:solidFill>
                  <a:srgbClr val="FFFFFF"/>
                </a:solidFill>
                <a:latin typeface="Georgia" pitchFamily="34" charset="0"/>
                <a:ea typeface="Georgia" pitchFamily="34" charset="-122"/>
                <a:cs typeface="Georgia" pitchFamily="34" charset="-120"/>
              </a:rPr>
              <a:t>Core Java Classes</a:t>
            </a:r>
            <a:endParaRPr lang="en-US" sz="4600" dirty="0"/>
          </a:p>
        </p:txBody>
      </p:sp>
      <p:sp>
        <p:nvSpPr>
          <p:cNvPr id="3" name="Text 1"/>
          <p:cNvSpPr/>
          <p:nvPr/>
        </p:nvSpPr>
        <p:spPr>
          <a:xfrm>
            <a:off x="640080" y="3017520"/>
            <a:ext cx="7863840" cy="640080"/>
          </a:xfrm>
          <a:prstGeom prst="rect">
            <a:avLst/>
          </a:prstGeom>
          <a:noFill/>
          <a:ln/>
        </p:spPr>
        <p:txBody>
          <a:bodyPr wrap="square" rtlCol="0" anchor="ctr"/>
          <a:lstStyle/>
          <a:p>
            <a:pPr marL="0" indent="0" algn="ctr">
              <a:buNone/>
            </a:pPr>
            <a:r>
              <a:rPr lang="en-US" sz="1800" dirty="0">
                <a:solidFill>
                  <a:srgbClr val="D6E4F7"/>
                </a:solidFill>
                <a:latin typeface="Calibri" pitchFamily="34" charset="0"/>
                <a:ea typeface="Calibri" pitchFamily="34" charset="-122"/>
                <a:cs typeface="Calibri" pitchFamily="34" charset="-120"/>
              </a:rPr>
              <a:t>Main  ·  GameMenu  ·  KeyHandler  ·  Player</a:t>
            </a:r>
            <a:endParaRPr lang="en-US" sz="1800" dirty="0"/>
          </a:p>
        </p:txBody>
      </p:sp>
      <p:sp>
        <p:nvSpPr>
          <p:cNvPr id="4" name="Shape 2"/>
          <p:cNvSpPr/>
          <p:nvPr/>
        </p:nvSpPr>
        <p:spPr>
          <a:xfrm>
            <a:off x="3840480" y="4297680"/>
            <a:ext cx="1234440" cy="256032"/>
          </a:xfrm>
          <a:prstGeom prst="roundRect">
            <a:avLst>
              <a:gd name="adj" fmla="val 17857"/>
            </a:avLst>
          </a:prstGeom>
          <a:solidFill>
            <a:srgbClr val="C0392B"/>
          </a:solidFill>
          <a:ln w="12700">
            <a:solidFill>
              <a:srgbClr val="C0392B"/>
            </a:solidFill>
            <a:prstDash val="solid"/>
          </a:ln>
        </p:spPr>
        <p:txBody>
          <a:bodyPr/>
          <a:lstStyle/>
          <a:p>
            <a:endParaRPr lang="en-GB"/>
          </a:p>
        </p:txBody>
      </p:sp>
      <p:sp>
        <p:nvSpPr>
          <p:cNvPr id="5" name="Text 3"/>
          <p:cNvSpPr/>
          <p:nvPr/>
        </p:nvSpPr>
        <p:spPr>
          <a:xfrm>
            <a:off x="3840480" y="4297680"/>
            <a:ext cx="1234440"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SECTION 02</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8EDF2"/>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1B3A5C"/>
          </a:solidFill>
          <a:ln w="12700">
            <a:solidFill>
              <a:srgbClr val="1B3A5C"/>
            </a:solidFill>
            <a:prstDash val="solid"/>
          </a:ln>
        </p:spPr>
        <p:txBody>
          <a:bodyPr/>
          <a:lstStyle/>
          <a:p>
            <a:endParaRPr lang="en-GB"/>
          </a:p>
        </p:txBody>
      </p:sp>
      <p:sp>
        <p:nvSpPr>
          <p:cNvPr id="3" name="Text 1"/>
          <p:cNvSpPr/>
          <p:nvPr/>
        </p:nvSpPr>
        <p:spPr>
          <a:xfrm>
            <a:off x="365760" y="182880"/>
            <a:ext cx="8503920" cy="594360"/>
          </a:xfrm>
          <a:prstGeom prst="rect">
            <a:avLst/>
          </a:prstGeom>
          <a:noFill/>
          <a:ln/>
        </p:spPr>
        <p:txBody>
          <a:bodyPr wrap="square" lIns="0" tIns="0" rIns="0" bIns="0" rtlCol="0" anchor="ctr"/>
          <a:lstStyle/>
          <a:p>
            <a:pPr marL="0" indent="0" algn="l">
              <a:buNone/>
            </a:pPr>
            <a:r>
              <a:rPr lang="en-US" sz="2400" b="1" dirty="0">
                <a:solidFill>
                  <a:srgbClr val="1B3A5C"/>
                </a:solidFill>
                <a:latin typeface="Georgia" pitchFamily="34" charset="0"/>
                <a:ea typeface="Georgia" pitchFamily="34" charset="-122"/>
                <a:cs typeface="Georgia" pitchFamily="34" charset="-120"/>
              </a:rPr>
              <a:t>Main.java  &amp;  GameMenu.java</a:t>
            </a:r>
            <a:endParaRPr lang="en-US" sz="2400" dirty="0"/>
          </a:p>
        </p:txBody>
      </p:sp>
      <p:sp>
        <p:nvSpPr>
          <p:cNvPr id="4" name="Shape 2"/>
          <p:cNvSpPr/>
          <p:nvPr/>
        </p:nvSpPr>
        <p:spPr>
          <a:xfrm>
            <a:off x="365760" y="804672"/>
            <a:ext cx="8412480" cy="36576"/>
          </a:xfrm>
          <a:prstGeom prst="rect">
            <a:avLst/>
          </a:prstGeom>
          <a:solidFill>
            <a:srgbClr val="C0392B"/>
          </a:solidFill>
          <a:ln w="12700">
            <a:solidFill>
              <a:srgbClr val="C0392B"/>
            </a:solidFill>
            <a:prstDash val="solid"/>
          </a:ln>
        </p:spPr>
        <p:txBody>
          <a:bodyPr/>
          <a:lstStyle/>
          <a:p>
            <a:endParaRPr lang="en-GB"/>
          </a:p>
        </p:txBody>
      </p:sp>
      <p:sp>
        <p:nvSpPr>
          <p:cNvPr id="5" name="Shape 3"/>
          <p:cNvSpPr/>
          <p:nvPr/>
        </p:nvSpPr>
        <p:spPr>
          <a:xfrm>
            <a:off x="365760" y="960120"/>
            <a:ext cx="4069080" cy="2606040"/>
          </a:xfrm>
          <a:prstGeom prst="rect">
            <a:avLst/>
          </a:prstGeom>
          <a:solidFill>
            <a:srgbClr val="FFFFFF"/>
          </a:solidFill>
          <a:ln w="6350">
            <a:solidFill>
              <a:srgbClr val="D0D8E4"/>
            </a:solidFill>
            <a:prstDash val="solid"/>
          </a:ln>
          <a:effectLst>
            <a:outerShdw blurRad="50800" dist="12700" dir="8100000" algn="bl" rotWithShape="0">
              <a:srgbClr val="000000">
                <a:alpha val="8000"/>
              </a:srgbClr>
            </a:outerShdw>
          </a:effectLst>
        </p:spPr>
        <p:txBody>
          <a:bodyPr/>
          <a:lstStyle/>
          <a:p>
            <a:endParaRPr lang="en-GB"/>
          </a:p>
        </p:txBody>
      </p:sp>
      <p:sp>
        <p:nvSpPr>
          <p:cNvPr id="6" name="Shape 4"/>
          <p:cNvSpPr/>
          <p:nvPr/>
        </p:nvSpPr>
        <p:spPr>
          <a:xfrm>
            <a:off x="365760" y="960120"/>
            <a:ext cx="64008" cy="2606040"/>
          </a:xfrm>
          <a:prstGeom prst="rect">
            <a:avLst/>
          </a:prstGeom>
          <a:solidFill>
            <a:srgbClr val="1B3A5C"/>
          </a:solidFill>
          <a:ln w="12700">
            <a:solidFill>
              <a:srgbClr val="1B3A5C"/>
            </a:solidFill>
            <a:prstDash val="solid"/>
          </a:ln>
        </p:spPr>
        <p:txBody>
          <a:bodyPr/>
          <a:lstStyle/>
          <a:p>
            <a:endParaRPr lang="en-GB"/>
          </a:p>
        </p:txBody>
      </p:sp>
      <p:sp>
        <p:nvSpPr>
          <p:cNvPr id="7" name="Text 5"/>
          <p:cNvSpPr/>
          <p:nvPr/>
        </p:nvSpPr>
        <p:spPr>
          <a:xfrm>
            <a:off x="594360" y="1005840"/>
            <a:ext cx="3657600" cy="347472"/>
          </a:xfrm>
          <a:prstGeom prst="rect">
            <a:avLst/>
          </a:prstGeom>
          <a:noFill/>
          <a:ln/>
        </p:spPr>
        <p:txBody>
          <a:bodyPr wrap="square" lIns="0" tIns="0" rIns="0" bIns="0" rtlCol="0" anchor="ctr"/>
          <a:lstStyle/>
          <a:p>
            <a:pPr marL="0" indent="0">
              <a:buNone/>
            </a:pPr>
            <a:r>
              <a:rPr lang="en-US" sz="1500" b="1" dirty="0">
                <a:solidFill>
                  <a:srgbClr val="1B3A5C"/>
                </a:solidFill>
                <a:latin typeface="Georgia" pitchFamily="34" charset="0"/>
                <a:ea typeface="Georgia" pitchFamily="34" charset="-122"/>
                <a:cs typeface="Georgia" pitchFamily="34" charset="-120"/>
              </a:rPr>
              <a:t>Main.java</a:t>
            </a:r>
            <a:endParaRPr lang="en-US" sz="1500" dirty="0"/>
          </a:p>
        </p:txBody>
      </p:sp>
      <p:sp>
        <p:nvSpPr>
          <p:cNvPr id="8" name="Shape 6"/>
          <p:cNvSpPr/>
          <p:nvPr/>
        </p:nvSpPr>
        <p:spPr>
          <a:xfrm>
            <a:off x="594360" y="1371600"/>
            <a:ext cx="1330452" cy="256032"/>
          </a:xfrm>
          <a:prstGeom prst="roundRect">
            <a:avLst>
              <a:gd name="adj" fmla="val 17857"/>
            </a:avLst>
          </a:prstGeom>
          <a:solidFill>
            <a:srgbClr val="C0392B"/>
          </a:solidFill>
          <a:ln w="12700">
            <a:solidFill>
              <a:srgbClr val="C0392B"/>
            </a:solidFill>
            <a:prstDash val="solid"/>
          </a:ln>
        </p:spPr>
        <p:txBody>
          <a:bodyPr/>
          <a:lstStyle/>
          <a:p>
            <a:endParaRPr lang="en-GB"/>
          </a:p>
        </p:txBody>
      </p:sp>
      <p:sp>
        <p:nvSpPr>
          <p:cNvPr id="9" name="Text 7"/>
          <p:cNvSpPr/>
          <p:nvPr/>
        </p:nvSpPr>
        <p:spPr>
          <a:xfrm>
            <a:off x="594360" y="1371600"/>
            <a:ext cx="1330452"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ENTRY POINT</a:t>
            </a:r>
            <a:endParaRPr lang="en-US" sz="900" dirty="0"/>
          </a:p>
        </p:txBody>
      </p:sp>
      <p:sp>
        <p:nvSpPr>
          <p:cNvPr id="10" name="Text 8"/>
          <p:cNvSpPr/>
          <p:nvPr/>
        </p:nvSpPr>
        <p:spPr>
          <a:xfrm>
            <a:off x="594360" y="1691640"/>
            <a:ext cx="3657600" cy="1737360"/>
          </a:xfrm>
          <a:prstGeom prst="rect">
            <a:avLst/>
          </a:prstGeom>
          <a:noFill/>
          <a:ln/>
        </p:spPr>
        <p:txBody>
          <a:bodyPr wrap="square" rtlCol="0" anchor="t"/>
          <a:lstStyle/>
          <a:p>
            <a:pPr marL="0" indent="0">
              <a:buNone/>
            </a:pPr>
            <a:r>
              <a:rPr lang="en-US" sz="1150" b="1" dirty="0" err="1">
                <a:solidFill>
                  <a:srgbClr val="4A5568"/>
                </a:solidFill>
                <a:latin typeface="Calibri" pitchFamily="34" charset="0"/>
                <a:ea typeface="Calibri" pitchFamily="34" charset="-122"/>
                <a:cs typeface="Calibri" pitchFamily="34" charset="-120"/>
              </a:rPr>
              <a:t>JFrame</a:t>
            </a:r>
            <a:r>
              <a:rPr lang="en-US" sz="1150" b="1" dirty="0">
                <a:solidFill>
                  <a:srgbClr val="4A5568"/>
                </a:solidFill>
                <a:latin typeface="Calibri" pitchFamily="34" charset="0"/>
                <a:ea typeface="Calibri" pitchFamily="34" charset="-122"/>
                <a:cs typeface="Calibri" pitchFamily="34" charset="-120"/>
              </a:rPr>
              <a:t> Bootstrap</a:t>
            </a:r>
            <a:endParaRPr lang="en-US" sz="1150" dirty="0"/>
          </a:p>
          <a:p>
            <a:pPr marL="0" indent="0">
              <a:buNone/>
            </a:pPr>
            <a:r>
              <a:rPr lang="en-US" sz="1150" dirty="0">
                <a:solidFill>
                  <a:srgbClr val="4A5568"/>
                </a:solidFill>
                <a:latin typeface="Calibri" pitchFamily="34" charset="0"/>
                <a:ea typeface="Calibri" pitchFamily="34" charset="-122"/>
                <a:cs typeface="Calibri" pitchFamily="34" charset="-120"/>
              </a:rPr>
              <a:t>Creates Swing window, adds GamePanel, calls pack() and setLocationRelativeTo(null).
</a:t>
            </a:r>
            <a:endParaRPr lang="en-US" sz="1150" dirty="0"/>
          </a:p>
          <a:p>
            <a:pPr marL="0" indent="0">
              <a:buNone/>
            </a:pPr>
            <a:r>
              <a:rPr lang="en-US" sz="1150" b="1" dirty="0">
                <a:solidFill>
                  <a:srgbClr val="4A5568"/>
                </a:solidFill>
                <a:latin typeface="Calibri" pitchFamily="34" charset="0"/>
                <a:ea typeface="Calibri" pitchFamily="34" charset="-122"/>
                <a:cs typeface="Calibri" pitchFamily="34" charset="-120"/>
              </a:rPr>
              <a:t>Cross-Thread Bridge</a:t>
            </a:r>
            <a:endParaRPr lang="en-US" sz="1150" dirty="0"/>
          </a:p>
          <a:p>
            <a:pPr marL="0" indent="0">
              <a:buNone/>
            </a:pPr>
            <a:r>
              <a:rPr lang="en-US" sz="1150" dirty="0">
                <a:solidFill>
                  <a:srgbClr val="4A5568"/>
                </a:solidFill>
                <a:latin typeface="Calibri" pitchFamily="34" charset="0"/>
                <a:ea typeface="Calibri" pitchFamily="34" charset="-122"/>
                <a:cs typeface="Calibri" pitchFamily="34" charset="-120"/>
              </a:rPr>
              <a:t>quitToMenu() uses Platform.runLater() to hand off from Swing to JavaFX Application Thread.</a:t>
            </a:r>
            <a:endParaRPr lang="en-US" sz="1150" dirty="0"/>
          </a:p>
        </p:txBody>
      </p:sp>
      <p:sp>
        <p:nvSpPr>
          <p:cNvPr id="11" name="Shape 9"/>
          <p:cNvSpPr/>
          <p:nvPr/>
        </p:nvSpPr>
        <p:spPr>
          <a:xfrm>
            <a:off x="365760" y="3657600"/>
            <a:ext cx="4069080" cy="1143000"/>
          </a:xfrm>
          <a:prstGeom prst="rect">
            <a:avLst/>
          </a:prstGeom>
          <a:solidFill>
            <a:srgbClr val="0D1B2A"/>
          </a:solidFill>
          <a:ln w="6350">
            <a:solidFill>
              <a:srgbClr val="2A4A6B"/>
            </a:solidFill>
            <a:prstDash val="solid"/>
          </a:ln>
        </p:spPr>
        <p:txBody>
          <a:bodyPr/>
          <a:lstStyle/>
          <a:p>
            <a:endParaRPr lang="en-GB"/>
          </a:p>
        </p:txBody>
      </p:sp>
      <p:sp>
        <p:nvSpPr>
          <p:cNvPr id="12" name="Shape 10"/>
          <p:cNvSpPr/>
          <p:nvPr/>
        </p:nvSpPr>
        <p:spPr>
          <a:xfrm>
            <a:off x="475488" y="3749040"/>
            <a:ext cx="109728" cy="109728"/>
          </a:xfrm>
          <a:prstGeom prst="line">
            <a:avLst/>
          </a:prstGeom>
          <a:solidFill>
            <a:srgbClr val="FF5F57"/>
          </a:solidFill>
          <a:ln w="12700">
            <a:solidFill>
              <a:srgbClr val="FF5F57"/>
            </a:solidFill>
            <a:prstDash val="solid"/>
          </a:ln>
        </p:spPr>
        <p:txBody>
          <a:bodyPr/>
          <a:lstStyle/>
          <a:p>
            <a:endParaRPr lang="en-GB"/>
          </a:p>
        </p:txBody>
      </p:sp>
      <p:sp>
        <p:nvSpPr>
          <p:cNvPr id="13" name="Shape 11"/>
          <p:cNvSpPr/>
          <p:nvPr/>
        </p:nvSpPr>
        <p:spPr>
          <a:xfrm>
            <a:off x="676656" y="3749040"/>
            <a:ext cx="109728" cy="109728"/>
          </a:xfrm>
          <a:prstGeom prst="line">
            <a:avLst/>
          </a:prstGeom>
          <a:solidFill>
            <a:srgbClr val="FFBD2E"/>
          </a:solidFill>
          <a:ln w="12700">
            <a:solidFill>
              <a:srgbClr val="FFBD2E"/>
            </a:solidFill>
            <a:prstDash val="solid"/>
          </a:ln>
        </p:spPr>
        <p:txBody>
          <a:bodyPr/>
          <a:lstStyle/>
          <a:p>
            <a:endParaRPr lang="en-GB"/>
          </a:p>
        </p:txBody>
      </p:sp>
      <p:sp>
        <p:nvSpPr>
          <p:cNvPr id="14" name="Shape 12"/>
          <p:cNvSpPr/>
          <p:nvPr/>
        </p:nvSpPr>
        <p:spPr>
          <a:xfrm>
            <a:off x="877824" y="3749040"/>
            <a:ext cx="109728" cy="109728"/>
          </a:xfrm>
          <a:prstGeom prst="line">
            <a:avLst/>
          </a:prstGeom>
          <a:solidFill>
            <a:srgbClr val="28C840"/>
          </a:solidFill>
          <a:ln w="12700">
            <a:solidFill>
              <a:srgbClr val="28C840"/>
            </a:solidFill>
            <a:prstDash val="solid"/>
          </a:ln>
        </p:spPr>
        <p:txBody>
          <a:bodyPr/>
          <a:lstStyle/>
          <a:p>
            <a:endParaRPr lang="en-GB"/>
          </a:p>
        </p:txBody>
      </p:sp>
      <p:sp>
        <p:nvSpPr>
          <p:cNvPr id="15" name="Text 13"/>
          <p:cNvSpPr/>
          <p:nvPr/>
        </p:nvSpPr>
        <p:spPr>
          <a:xfrm>
            <a:off x="475488" y="3913632"/>
            <a:ext cx="3849624" cy="850392"/>
          </a:xfrm>
          <a:prstGeom prst="rect">
            <a:avLst/>
          </a:prstGeom>
          <a:noFill/>
          <a:ln/>
        </p:spPr>
        <p:txBody>
          <a:bodyPr wrap="square" rtlCol="0" anchor="t"/>
          <a:lstStyle/>
          <a:p>
            <a:pPr marL="0" indent="0">
              <a:buNone/>
            </a:pPr>
            <a:r>
              <a:rPr lang="en-US" sz="950" dirty="0">
                <a:solidFill>
                  <a:srgbClr val="A8D8FF"/>
                </a:solidFill>
                <a:latin typeface="Consolas" pitchFamily="34" charset="0"/>
                <a:ea typeface="Consolas" pitchFamily="34" charset="-122"/>
                <a:cs typeface="Consolas" pitchFamily="34" charset="-120"/>
              </a:rPr>
              <a:t>String mode = (args != null &amp;&amp; args.length &gt; 0)</a:t>
            </a:r>
            <a:endParaRPr lang="en-US" sz="950" dirty="0"/>
          </a:p>
          <a:p>
            <a:pPr marL="0" indent="0">
              <a:buNone/>
            </a:pPr>
            <a:r>
              <a:rPr lang="en-US" sz="950" dirty="0">
                <a:solidFill>
                  <a:srgbClr val="A8D8FF"/>
                </a:solidFill>
                <a:latin typeface="Consolas" pitchFamily="34" charset="0"/>
                <a:ea typeface="Consolas" pitchFamily="34" charset="-122"/>
                <a:cs typeface="Consolas" pitchFamily="34" charset="-120"/>
              </a:rPr>
              <a:t>    ? args[0] : "casual";</a:t>
            </a:r>
            <a:endParaRPr lang="en-US" sz="950" dirty="0"/>
          </a:p>
          <a:p>
            <a:pPr marL="0" indent="0">
              <a:buNone/>
            </a:pPr>
            <a:r>
              <a:rPr lang="en-US" sz="950" dirty="0">
                <a:solidFill>
                  <a:srgbClr val="A8D8FF"/>
                </a:solidFill>
                <a:latin typeface="Consolas" pitchFamily="34" charset="0"/>
                <a:ea typeface="Consolas" pitchFamily="34" charset="-122"/>
                <a:cs typeface="Consolas" pitchFamily="34" charset="-120"/>
              </a:rPr>
              <a:t>window.pack();</a:t>
            </a:r>
            <a:endParaRPr lang="en-US" sz="950" dirty="0"/>
          </a:p>
          <a:p>
            <a:pPr marL="0" indent="0">
              <a:buNone/>
            </a:pPr>
            <a:r>
              <a:rPr lang="en-US" sz="950" dirty="0">
                <a:solidFill>
                  <a:srgbClr val="A8D8FF"/>
                </a:solidFill>
                <a:latin typeface="Consolas" pitchFamily="34" charset="0"/>
                <a:ea typeface="Consolas" pitchFamily="34" charset="-122"/>
                <a:cs typeface="Consolas" pitchFamily="34" charset="-120"/>
              </a:rPr>
              <a:t>window.setLocationRelativeTo(null);</a:t>
            </a:r>
            <a:endParaRPr lang="en-US" sz="950" dirty="0"/>
          </a:p>
        </p:txBody>
      </p:sp>
      <p:sp>
        <p:nvSpPr>
          <p:cNvPr id="16" name="Shape 14"/>
          <p:cNvSpPr/>
          <p:nvPr/>
        </p:nvSpPr>
        <p:spPr>
          <a:xfrm>
            <a:off x="4709160" y="960120"/>
            <a:ext cx="4069080" cy="2606040"/>
          </a:xfrm>
          <a:prstGeom prst="rect">
            <a:avLst/>
          </a:prstGeom>
          <a:solidFill>
            <a:srgbClr val="FFFFFF"/>
          </a:solidFill>
          <a:ln w="6350">
            <a:solidFill>
              <a:srgbClr val="D0D8E4"/>
            </a:solidFill>
            <a:prstDash val="solid"/>
          </a:ln>
          <a:effectLst>
            <a:outerShdw blurRad="50800" dist="12700" dir="8100000" algn="bl" rotWithShape="0">
              <a:srgbClr val="000000">
                <a:alpha val="8000"/>
              </a:srgbClr>
            </a:outerShdw>
          </a:effectLst>
        </p:spPr>
        <p:txBody>
          <a:bodyPr/>
          <a:lstStyle/>
          <a:p>
            <a:endParaRPr lang="en-GB"/>
          </a:p>
        </p:txBody>
      </p:sp>
      <p:sp>
        <p:nvSpPr>
          <p:cNvPr id="17" name="Shape 15"/>
          <p:cNvSpPr/>
          <p:nvPr/>
        </p:nvSpPr>
        <p:spPr>
          <a:xfrm>
            <a:off x="4709160" y="960120"/>
            <a:ext cx="64008" cy="2606040"/>
          </a:xfrm>
          <a:prstGeom prst="rect">
            <a:avLst/>
          </a:prstGeom>
          <a:solidFill>
            <a:srgbClr val="C0392B"/>
          </a:solidFill>
          <a:ln w="12700">
            <a:solidFill>
              <a:srgbClr val="C0392B"/>
            </a:solidFill>
            <a:prstDash val="solid"/>
          </a:ln>
        </p:spPr>
        <p:txBody>
          <a:bodyPr/>
          <a:lstStyle/>
          <a:p>
            <a:endParaRPr lang="en-GB"/>
          </a:p>
        </p:txBody>
      </p:sp>
      <p:sp>
        <p:nvSpPr>
          <p:cNvPr id="18" name="Text 16"/>
          <p:cNvSpPr/>
          <p:nvPr/>
        </p:nvSpPr>
        <p:spPr>
          <a:xfrm>
            <a:off x="4937760" y="1005840"/>
            <a:ext cx="3657600" cy="347472"/>
          </a:xfrm>
          <a:prstGeom prst="rect">
            <a:avLst/>
          </a:prstGeom>
          <a:noFill/>
          <a:ln/>
        </p:spPr>
        <p:txBody>
          <a:bodyPr wrap="square" lIns="0" tIns="0" rIns="0" bIns="0" rtlCol="0" anchor="ctr"/>
          <a:lstStyle/>
          <a:p>
            <a:pPr marL="0" indent="0">
              <a:buNone/>
            </a:pPr>
            <a:r>
              <a:rPr lang="en-US" sz="1500" b="1" dirty="0">
                <a:solidFill>
                  <a:srgbClr val="1B3A5C"/>
                </a:solidFill>
                <a:latin typeface="Georgia" pitchFamily="34" charset="0"/>
                <a:ea typeface="Georgia" pitchFamily="34" charset="-122"/>
                <a:cs typeface="Georgia" pitchFamily="34" charset="-120"/>
              </a:rPr>
              <a:t>GameMenu.java</a:t>
            </a:r>
            <a:endParaRPr lang="en-US" sz="1500" dirty="0"/>
          </a:p>
        </p:txBody>
      </p:sp>
      <p:sp>
        <p:nvSpPr>
          <p:cNvPr id="19" name="Shape 17"/>
          <p:cNvSpPr/>
          <p:nvPr/>
        </p:nvSpPr>
        <p:spPr>
          <a:xfrm>
            <a:off x="4937760" y="1371600"/>
            <a:ext cx="850392" cy="256032"/>
          </a:xfrm>
          <a:prstGeom prst="roundRect">
            <a:avLst>
              <a:gd name="adj" fmla="val 17857"/>
            </a:avLst>
          </a:prstGeom>
          <a:solidFill>
            <a:srgbClr val="C0392B"/>
          </a:solidFill>
          <a:ln w="12700">
            <a:solidFill>
              <a:srgbClr val="C0392B"/>
            </a:solidFill>
            <a:prstDash val="solid"/>
          </a:ln>
        </p:spPr>
        <p:txBody>
          <a:bodyPr/>
          <a:lstStyle/>
          <a:p>
            <a:endParaRPr lang="en-GB"/>
          </a:p>
        </p:txBody>
      </p:sp>
      <p:sp>
        <p:nvSpPr>
          <p:cNvPr id="20" name="Text 18"/>
          <p:cNvSpPr/>
          <p:nvPr/>
        </p:nvSpPr>
        <p:spPr>
          <a:xfrm>
            <a:off x="4937760" y="1371600"/>
            <a:ext cx="850392"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JAVAFX</a:t>
            </a:r>
            <a:endParaRPr lang="en-US" sz="900" dirty="0"/>
          </a:p>
        </p:txBody>
      </p:sp>
      <p:sp>
        <p:nvSpPr>
          <p:cNvPr id="21" name="Text 19"/>
          <p:cNvSpPr/>
          <p:nvPr/>
        </p:nvSpPr>
        <p:spPr>
          <a:xfrm>
            <a:off x="4937760" y="1691640"/>
            <a:ext cx="3657600" cy="1737360"/>
          </a:xfrm>
          <a:prstGeom prst="rect">
            <a:avLst/>
          </a:prstGeom>
          <a:noFill/>
          <a:ln/>
        </p:spPr>
        <p:txBody>
          <a:bodyPr wrap="square" rtlCol="0" anchor="t"/>
          <a:lstStyle/>
          <a:p>
            <a:pPr marL="0" indent="0">
              <a:buNone/>
            </a:pPr>
            <a:r>
              <a:rPr lang="en-US" sz="1150" b="1" dirty="0">
                <a:solidFill>
                  <a:srgbClr val="4A5568"/>
                </a:solidFill>
                <a:latin typeface="Calibri" pitchFamily="34" charset="0"/>
                <a:ea typeface="Calibri" pitchFamily="34" charset="-122"/>
                <a:cs typeface="Calibri" pitchFamily="34" charset="-120"/>
              </a:rPr>
              <a:t>Property Bindings</a:t>
            </a:r>
            <a:endParaRPr lang="en-US" sz="1150" dirty="0"/>
          </a:p>
          <a:p>
            <a:pPr marL="0" indent="0">
              <a:buNone/>
            </a:pPr>
            <a:r>
              <a:rPr lang="en-US" sz="1150" dirty="0">
                <a:solidFill>
                  <a:srgbClr val="4A5568"/>
                </a:solidFill>
                <a:latin typeface="Calibri" pitchFamily="34" charset="0"/>
                <a:ea typeface="Calibri" pitchFamily="34" charset="-122"/>
                <a:cs typeface="Calibri" pitchFamily="34" charset="-120"/>
              </a:rPr>
              <a:t>Bindings.min() derives scale; bound to a Scale transform for automatic 4:3 aspect ratio.
</a:t>
            </a:r>
            <a:endParaRPr lang="en-US" sz="1150" dirty="0"/>
          </a:p>
          <a:p>
            <a:pPr marL="0" indent="0">
              <a:buNone/>
            </a:pPr>
            <a:r>
              <a:rPr lang="en-US" sz="1150" b="1" dirty="0" err="1">
                <a:solidFill>
                  <a:srgbClr val="4A5568"/>
                </a:solidFill>
                <a:latin typeface="Calibri" pitchFamily="34" charset="0"/>
                <a:ea typeface="Calibri" pitchFamily="34" charset="-122"/>
                <a:cs typeface="Calibri" pitchFamily="34" charset="-120"/>
              </a:rPr>
              <a:t>FadeTransition</a:t>
            </a:r>
            <a:endParaRPr lang="en-US" sz="1150" dirty="0"/>
          </a:p>
          <a:p>
            <a:pPr marL="0" indent="0">
              <a:buNone/>
            </a:pPr>
            <a:r>
              <a:rPr lang="en-US" sz="1150" dirty="0">
                <a:solidFill>
                  <a:srgbClr val="4A5568"/>
                </a:solidFill>
                <a:latin typeface="Calibri" pitchFamily="34" charset="0"/>
                <a:ea typeface="Calibri" pitchFamily="34" charset="-122"/>
                <a:cs typeface="Calibri" pitchFamily="34" charset="-120"/>
              </a:rPr>
              <a:t>INDEFINITE blink animation with setAutoReverse(true) — decoupled from game loop.</a:t>
            </a:r>
            <a:endParaRPr lang="en-US" sz="1150" dirty="0"/>
          </a:p>
        </p:txBody>
      </p:sp>
      <p:sp>
        <p:nvSpPr>
          <p:cNvPr id="22" name="Shape 20"/>
          <p:cNvSpPr/>
          <p:nvPr/>
        </p:nvSpPr>
        <p:spPr>
          <a:xfrm>
            <a:off x="4709160" y="3657600"/>
            <a:ext cx="4069080" cy="1143000"/>
          </a:xfrm>
          <a:prstGeom prst="rect">
            <a:avLst/>
          </a:prstGeom>
          <a:solidFill>
            <a:srgbClr val="0D1B2A"/>
          </a:solidFill>
          <a:ln w="6350">
            <a:solidFill>
              <a:srgbClr val="2A4A6B"/>
            </a:solidFill>
            <a:prstDash val="solid"/>
          </a:ln>
        </p:spPr>
        <p:txBody>
          <a:bodyPr/>
          <a:lstStyle/>
          <a:p>
            <a:endParaRPr lang="en-GB"/>
          </a:p>
        </p:txBody>
      </p:sp>
      <p:sp>
        <p:nvSpPr>
          <p:cNvPr id="23" name="Shape 21"/>
          <p:cNvSpPr/>
          <p:nvPr/>
        </p:nvSpPr>
        <p:spPr>
          <a:xfrm>
            <a:off x="4818888" y="3749040"/>
            <a:ext cx="109728" cy="109728"/>
          </a:xfrm>
          <a:prstGeom prst="line">
            <a:avLst/>
          </a:prstGeom>
          <a:solidFill>
            <a:srgbClr val="FF5F57"/>
          </a:solidFill>
          <a:ln w="12700">
            <a:solidFill>
              <a:srgbClr val="FF5F57"/>
            </a:solidFill>
            <a:prstDash val="solid"/>
          </a:ln>
        </p:spPr>
        <p:txBody>
          <a:bodyPr/>
          <a:lstStyle/>
          <a:p>
            <a:endParaRPr lang="en-GB"/>
          </a:p>
        </p:txBody>
      </p:sp>
      <p:sp>
        <p:nvSpPr>
          <p:cNvPr id="24" name="Shape 22"/>
          <p:cNvSpPr/>
          <p:nvPr/>
        </p:nvSpPr>
        <p:spPr>
          <a:xfrm>
            <a:off x="5020056" y="3749040"/>
            <a:ext cx="109728" cy="109728"/>
          </a:xfrm>
          <a:prstGeom prst="line">
            <a:avLst/>
          </a:prstGeom>
          <a:solidFill>
            <a:srgbClr val="FFBD2E"/>
          </a:solidFill>
          <a:ln w="12700">
            <a:solidFill>
              <a:srgbClr val="FFBD2E"/>
            </a:solidFill>
            <a:prstDash val="solid"/>
          </a:ln>
        </p:spPr>
        <p:txBody>
          <a:bodyPr/>
          <a:lstStyle/>
          <a:p>
            <a:endParaRPr lang="en-GB"/>
          </a:p>
        </p:txBody>
      </p:sp>
      <p:sp>
        <p:nvSpPr>
          <p:cNvPr id="25" name="Shape 23"/>
          <p:cNvSpPr/>
          <p:nvPr/>
        </p:nvSpPr>
        <p:spPr>
          <a:xfrm>
            <a:off x="5221224" y="3749040"/>
            <a:ext cx="109728" cy="109728"/>
          </a:xfrm>
          <a:prstGeom prst="line">
            <a:avLst/>
          </a:prstGeom>
          <a:solidFill>
            <a:srgbClr val="28C840"/>
          </a:solidFill>
          <a:ln w="12700">
            <a:solidFill>
              <a:srgbClr val="28C840"/>
            </a:solidFill>
            <a:prstDash val="solid"/>
          </a:ln>
        </p:spPr>
        <p:txBody>
          <a:bodyPr/>
          <a:lstStyle/>
          <a:p>
            <a:endParaRPr lang="en-GB"/>
          </a:p>
        </p:txBody>
      </p:sp>
      <p:sp>
        <p:nvSpPr>
          <p:cNvPr id="26" name="Text 24"/>
          <p:cNvSpPr/>
          <p:nvPr/>
        </p:nvSpPr>
        <p:spPr>
          <a:xfrm>
            <a:off x="4818888" y="3913632"/>
            <a:ext cx="3849624" cy="850392"/>
          </a:xfrm>
          <a:prstGeom prst="rect">
            <a:avLst/>
          </a:prstGeom>
          <a:noFill/>
          <a:ln/>
        </p:spPr>
        <p:txBody>
          <a:bodyPr wrap="square" rtlCol="0" anchor="t"/>
          <a:lstStyle/>
          <a:p>
            <a:pPr marL="0" indent="0">
              <a:buNone/>
            </a:pPr>
            <a:r>
              <a:rPr lang="en-US" sz="950" dirty="0">
                <a:solidFill>
                  <a:srgbClr val="A8D8FF"/>
                </a:solidFill>
                <a:latin typeface="Consolas" pitchFamily="34" charset="0"/>
                <a:ea typeface="Consolas" pitchFamily="34" charset="-122"/>
                <a:cs typeface="Consolas" pitchFamily="34" charset="-120"/>
              </a:rPr>
              <a:t>FadeTransition blink =</a:t>
            </a:r>
            <a:endParaRPr lang="en-US" sz="950" dirty="0"/>
          </a:p>
          <a:p>
            <a:pPr marL="0" indent="0">
              <a:buNone/>
            </a:pPr>
            <a:r>
              <a:rPr lang="en-US" sz="950" dirty="0">
                <a:solidFill>
                  <a:srgbClr val="A8D8FF"/>
                </a:solidFill>
                <a:latin typeface="Consolas" pitchFamily="34" charset="0"/>
                <a:ea typeface="Consolas" pitchFamily="34" charset="-122"/>
                <a:cs typeface="Consolas" pitchFamily="34" charset="-120"/>
              </a:rPr>
              <a:t>  new FadeTransition(Duration.seconds(1), introText);</a:t>
            </a:r>
            <a:endParaRPr lang="en-US" sz="950" dirty="0"/>
          </a:p>
          <a:p>
            <a:pPr marL="0" indent="0">
              <a:buNone/>
            </a:pPr>
            <a:r>
              <a:rPr lang="en-US" sz="950" dirty="0">
                <a:solidFill>
                  <a:srgbClr val="A8D8FF"/>
                </a:solidFill>
                <a:latin typeface="Consolas" pitchFamily="34" charset="0"/>
                <a:ea typeface="Consolas" pitchFamily="34" charset="-122"/>
                <a:cs typeface="Consolas" pitchFamily="34" charset="-120"/>
              </a:rPr>
              <a:t>blink.setCycleCount(FadeTransition.INDEFINITE);</a:t>
            </a:r>
            <a:endParaRPr lang="en-US" sz="950" dirty="0"/>
          </a:p>
          <a:p>
            <a:pPr marL="0" indent="0">
              <a:buNone/>
            </a:pPr>
            <a:r>
              <a:rPr lang="en-US" sz="950" dirty="0">
                <a:solidFill>
                  <a:srgbClr val="A8D8FF"/>
                </a:solidFill>
                <a:latin typeface="Consolas" pitchFamily="34" charset="0"/>
                <a:ea typeface="Consolas" pitchFamily="34" charset="-122"/>
                <a:cs typeface="Consolas" pitchFamily="34" charset="-120"/>
              </a:rPr>
              <a:t>blink.setAutoReverse(true); blink.play();</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8EDF2"/>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1B3A5C"/>
          </a:solidFill>
          <a:ln w="12700">
            <a:solidFill>
              <a:srgbClr val="1B3A5C"/>
            </a:solidFill>
            <a:prstDash val="solid"/>
          </a:ln>
        </p:spPr>
        <p:txBody>
          <a:bodyPr/>
          <a:lstStyle/>
          <a:p>
            <a:endParaRPr lang="en-GB"/>
          </a:p>
        </p:txBody>
      </p:sp>
      <p:sp>
        <p:nvSpPr>
          <p:cNvPr id="3" name="Text 1"/>
          <p:cNvSpPr/>
          <p:nvPr/>
        </p:nvSpPr>
        <p:spPr>
          <a:xfrm>
            <a:off x="365760" y="182880"/>
            <a:ext cx="8503920" cy="594360"/>
          </a:xfrm>
          <a:prstGeom prst="rect">
            <a:avLst/>
          </a:prstGeom>
          <a:noFill/>
          <a:ln/>
        </p:spPr>
        <p:txBody>
          <a:bodyPr wrap="square" lIns="0" tIns="0" rIns="0" bIns="0" rtlCol="0" anchor="ctr"/>
          <a:lstStyle/>
          <a:p>
            <a:pPr marL="0" indent="0" algn="l">
              <a:buNone/>
            </a:pPr>
            <a:r>
              <a:rPr lang="en-US" sz="2400" b="1" dirty="0">
                <a:solidFill>
                  <a:srgbClr val="1B3A5C"/>
                </a:solidFill>
                <a:latin typeface="Georgia" pitchFamily="34" charset="0"/>
                <a:ea typeface="Georgia" pitchFamily="34" charset="-122"/>
                <a:cs typeface="Georgia" pitchFamily="34" charset="-120"/>
              </a:rPr>
              <a:t>KeyHandler.java  &amp;  Player.java</a:t>
            </a:r>
            <a:endParaRPr lang="en-US" sz="2400" dirty="0"/>
          </a:p>
        </p:txBody>
      </p:sp>
      <p:sp>
        <p:nvSpPr>
          <p:cNvPr id="4" name="Shape 2"/>
          <p:cNvSpPr/>
          <p:nvPr/>
        </p:nvSpPr>
        <p:spPr>
          <a:xfrm>
            <a:off x="365760" y="804672"/>
            <a:ext cx="8412480" cy="36576"/>
          </a:xfrm>
          <a:prstGeom prst="rect">
            <a:avLst/>
          </a:prstGeom>
          <a:solidFill>
            <a:srgbClr val="C0392B"/>
          </a:solidFill>
          <a:ln w="12700">
            <a:solidFill>
              <a:srgbClr val="C0392B"/>
            </a:solidFill>
            <a:prstDash val="solid"/>
          </a:ln>
        </p:spPr>
        <p:txBody>
          <a:bodyPr/>
          <a:lstStyle/>
          <a:p>
            <a:endParaRPr lang="en-GB"/>
          </a:p>
        </p:txBody>
      </p:sp>
      <p:sp>
        <p:nvSpPr>
          <p:cNvPr id="5" name="Shape 3"/>
          <p:cNvSpPr/>
          <p:nvPr/>
        </p:nvSpPr>
        <p:spPr>
          <a:xfrm>
            <a:off x="365760" y="960120"/>
            <a:ext cx="4069080" cy="2514600"/>
          </a:xfrm>
          <a:prstGeom prst="rect">
            <a:avLst/>
          </a:prstGeom>
          <a:solidFill>
            <a:srgbClr val="FFFFFF"/>
          </a:solidFill>
          <a:ln w="6350">
            <a:solidFill>
              <a:srgbClr val="D0D8E4"/>
            </a:solidFill>
            <a:prstDash val="solid"/>
          </a:ln>
          <a:effectLst>
            <a:outerShdw blurRad="50800" dist="12700" dir="8100000" algn="bl" rotWithShape="0">
              <a:srgbClr val="000000">
                <a:alpha val="8000"/>
              </a:srgbClr>
            </a:outerShdw>
          </a:effectLst>
        </p:spPr>
        <p:txBody>
          <a:bodyPr/>
          <a:lstStyle/>
          <a:p>
            <a:endParaRPr lang="en-GB"/>
          </a:p>
        </p:txBody>
      </p:sp>
      <p:sp>
        <p:nvSpPr>
          <p:cNvPr id="6" name="Shape 4"/>
          <p:cNvSpPr/>
          <p:nvPr/>
        </p:nvSpPr>
        <p:spPr>
          <a:xfrm>
            <a:off x="365760" y="960120"/>
            <a:ext cx="64008" cy="2514600"/>
          </a:xfrm>
          <a:prstGeom prst="rect">
            <a:avLst/>
          </a:prstGeom>
          <a:solidFill>
            <a:srgbClr val="2563A8"/>
          </a:solidFill>
          <a:ln w="12700">
            <a:solidFill>
              <a:srgbClr val="2563A8"/>
            </a:solidFill>
            <a:prstDash val="solid"/>
          </a:ln>
        </p:spPr>
        <p:txBody>
          <a:bodyPr/>
          <a:lstStyle/>
          <a:p>
            <a:endParaRPr lang="en-GB"/>
          </a:p>
        </p:txBody>
      </p:sp>
      <p:sp>
        <p:nvSpPr>
          <p:cNvPr id="7" name="Text 5"/>
          <p:cNvSpPr/>
          <p:nvPr/>
        </p:nvSpPr>
        <p:spPr>
          <a:xfrm>
            <a:off x="594360" y="1005840"/>
            <a:ext cx="3657600" cy="347472"/>
          </a:xfrm>
          <a:prstGeom prst="rect">
            <a:avLst/>
          </a:prstGeom>
          <a:noFill/>
          <a:ln/>
        </p:spPr>
        <p:txBody>
          <a:bodyPr wrap="square" lIns="0" tIns="0" rIns="0" bIns="0" rtlCol="0" anchor="ctr"/>
          <a:lstStyle/>
          <a:p>
            <a:pPr marL="0" indent="0">
              <a:buNone/>
            </a:pPr>
            <a:r>
              <a:rPr lang="en-US" sz="1500" b="1" dirty="0">
                <a:solidFill>
                  <a:srgbClr val="1B3A5C"/>
                </a:solidFill>
                <a:latin typeface="Georgia" pitchFamily="34" charset="0"/>
                <a:ea typeface="Georgia" pitchFamily="34" charset="-122"/>
                <a:cs typeface="Georgia" pitchFamily="34" charset="-120"/>
              </a:rPr>
              <a:t>KeyHandler.java</a:t>
            </a:r>
            <a:endParaRPr lang="en-US" sz="1500" dirty="0"/>
          </a:p>
        </p:txBody>
      </p:sp>
      <p:sp>
        <p:nvSpPr>
          <p:cNvPr id="8" name="Shape 6"/>
          <p:cNvSpPr/>
          <p:nvPr/>
        </p:nvSpPr>
        <p:spPr>
          <a:xfrm>
            <a:off x="594360" y="1371600"/>
            <a:ext cx="754380" cy="256032"/>
          </a:xfrm>
          <a:prstGeom prst="roundRect">
            <a:avLst>
              <a:gd name="adj" fmla="val 17857"/>
            </a:avLst>
          </a:prstGeom>
          <a:solidFill>
            <a:srgbClr val="C0392B"/>
          </a:solidFill>
          <a:ln w="12700">
            <a:solidFill>
              <a:srgbClr val="C0392B"/>
            </a:solidFill>
            <a:prstDash val="solid"/>
          </a:ln>
        </p:spPr>
        <p:txBody>
          <a:bodyPr/>
          <a:lstStyle/>
          <a:p>
            <a:endParaRPr lang="en-GB"/>
          </a:p>
        </p:txBody>
      </p:sp>
      <p:sp>
        <p:nvSpPr>
          <p:cNvPr id="9" name="Text 7"/>
          <p:cNvSpPr/>
          <p:nvPr/>
        </p:nvSpPr>
        <p:spPr>
          <a:xfrm>
            <a:off x="594360" y="1371600"/>
            <a:ext cx="754380"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INPUT</a:t>
            </a:r>
            <a:endParaRPr lang="en-US" sz="900" dirty="0"/>
          </a:p>
        </p:txBody>
      </p:sp>
      <p:sp>
        <p:nvSpPr>
          <p:cNvPr id="10" name="Text 8"/>
          <p:cNvSpPr/>
          <p:nvPr/>
        </p:nvSpPr>
        <p:spPr>
          <a:xfrm>
            <a:off x="594360" y="1691640"/>
            <a:ext cx="3657600" cy="1600200"/>
          </a:xfrm>
          <a:prstGeom prst="rect">
            <a:avLst/>
          </a:prstGeom>
          <a:noFill/>
          <a:ln/>
        </p:spPr>
        <p:txBody>
          <a:bodyPr wrap="square" rtlCol="0" anchor="t"/>
          <a:lstStyle/>
          <a:p>
            <a:pPr marL="0" indent="0">
              <a:buNone/>
            </a:pPr>
            <a:r>
              <a:rPr lang="en-US" sz="1150" b="1" dirty="0">
                <a:solidFill>
                  <a:srgbClr val="4A5568"/>
                </a:solidFill>
                <a:latin typeface="Calibri" pitchFamily="34" charset="0"/>
                <a:ea typeface="Calibri" pitchFamily="34" charset="-122"/>
                <a:cs typeface="Calibri" pitchFamily="34" charset="-120"/>
              </a:rPr>
              <a:t>Polling Model</a:t>
            </a:r>
            <a:endParaRPr lang="en-US" sz="1150" dirty="0"/>
          </a:p>
          <a:p>
            <a:pPr marL="0" indent="0">
              <a:buNone/>
            </a:pPr>
            <a:r>
              <a:rPr lang="en-US" sz="1150" dirty="0">
                <a:solidFill>
                  <a:srgbClr val="4A5568"/>
                </a:solidFill>
                <a:latin typeface="Calibri" pitchFamily="34" charset="0"/>
                <a:ea typeface="Calibri" pitchFamily="34" charset="-122"/>
                <a:cs typeface="Calibri" pitchFamily="34" charset="-120"/>
              </a:rPr>
              <a:t>Boolean flags toggled in keyPressed/Released. Game loop reads every frame for smooth multi-key input.
</a:t>
            </a:r>
            <a:endParaRPr lang="en-US" sz="1150" dirty="0"/>
          </a:p>
          <a:p>
            <a:pPr marL="0" indent="0">
              <a:buNone/>
            </a:pPr>
            <a:r>
              <a:rPr lang="en-US" sz="1150" b="1" dirty="0">
                <a:solidFill>
                  <a:srgbClr val="4A5568"/>
                </a:solidFill>
                <a:latin typeface="Calibri" pitchFamily="34" charset="0"/>
                <a:ea typeface="Calibri" pitchFamily="34" charset="-122"/>
                <a:cs typeface="Calibri" pitchFamily="34" charset="-120"/>
              </a:rPr>
              <a:t>Mapped Keys</a:t>
            </a:r>
            <a:endParaRPr lang="en-US" sz="1150" dirty="0"/>
          </a:p>
          <a:p>
            <a:pPr marL="0" indent="0">
              <a:buNone/>
            </a:pPr>
            <a:r>
              <a:rPr lang="en-US" sz="1150" dirty="0">
                <a:solidFill>
                  <a:srgbClr val="4A5568"/>
                </a:solidFill>
                <a:latin typeface="Calibri" pitchFamily="34" charset="0"/>
                <a:ea typeface="Calibri" pitchFamily="34" charset="-122"/>
                <a:cs typeface="Calibri" pitchFamily="34" charset="-120"/>
              </a:rPr>
              <a:t>W/A/S/D + Arrow  ·  R (restart)  ·  P/G/L/O (debug)  ·  ESC / ENTER</a:t>
            </a:r>
            <a:endParaRPr lang="en-US" sz="1150" dirty="0"/>
          </a:p>
        </p:txBody>
      </p:sp>
      <p:sp>
        <p:nvSpPr>
          <p:cNvPr id="11" name="Shape 9"/>
          <p:cNvSpPr/>
          <p:nvPr/>
        </p:nvSpPr>
        <p:spPr>
          <a:xfrm>
            <a:off x="365760" y="3566160"/>
            <a:ext cx="4069080" cy="1188720"/>
          </a:xfrm>
          <a:prstGeom prst="rect">
            <a:avLst/>
          </a:prstGeom>
          <a:solidFill>
            <a:srgbClr val="0D1B2A"/>
          </a:solidFill>
          <a:ln w="6350">
            <a:solidFill>
              <a:srgbClr val="2A4A6B"/>
            </a:solidFill>
            <a:prstDash val="solid"/>
          </a:ln>
        </p:spPr>
        <p:txBody>
          <a:bodyPr/>
          <a:lstStyle/>
          <a:p>
            <a:endParaRPr lang="en-GB"/>
          </a:p>
        </p:txBody>
      </p:sp>
      <p:sp>
        <p:nvSpPr>
          <p:cNvPr id="12" name="Shape 10"/>
          <p:cNvSpPr/>
          <p:nvPr/>
        </p:nvSpPr>
        <p:spPr>
          <a:xfrm>
            <a:off x="475488" y="3657600"/>
            <a:ext cx="109728" cy="109728"/>
          </a:xfrm>
          <a:prstGeom prst="line">
            <a:avLst/>
          </a:prstGeom>
          <a:solidFill>
            <a:srgbClr val="FF5F57"/>
          </a:solidFill>
          <a:ln w="12700">
            <a:solidFill>
              <a:srgbClr val="FF5F57"/>
            </a:solidFill>
            <a:prstDash val="solid"/>
          </a:ln>
        </p:spPr>
        <p:txBody>
          <a:bodyPr/>
          <a:lstStyle/>
          <a:p>
            <a:endParaRPr lang="en-GB"/>
          </a:p>
        </p:txBody>
      </p:sp>
      <p:sp>
        <p:nvSpPr>
          <p:cNvPr id="13" name="Shape 11"/>
          <p:cNvSpPr/>
          <p:nvPr/>
        </p:nvSpPr>
        <p:spPr>
          <a:xfrm>
            <a:off x="676656" y="3657600"/>
            <a:ext cx="109728" cy="109728"/>
          </a:xfrm>
          <a:prstGeom prst="line">
            <a:avLst/>
          </a:prstGeom>
          <a:solidFill>
            <a:srgbClr val="FFBD2E"/>
          </a:solidFill>
          <a:ln w="12700">
            <a:solidFill>
              <a:srgbClr val="FFBD2E"/>
            </a:solidFill>
            <a:prstDash val="solid"/>
          </a:ln>
        </p:spPr>
        <p:txBody>
          <a:bodyPr/>
          <a:lstStyle/>
          <a:p>
            <a:endParaRPr lang="en-GB"/>
          </a:p>
        </p:txBody>
      </p:sp>
      <p:sp>
        <p:nvSpPr>
          <p:cNvPr id="14" name="Shape 12"/>
          <p:cNvSpPr/>
          <p:nvPr/>
        </p:nvSpPr>
        <p:spPr>
          <a:xfrm>
            <a:off x="877824" y="3657600"/>
            <a:ext cx="109728" cy="109728"/>
          </a:xfrm>
          <a:prstGeom prst="line">
            <a:avLst/>
          </a:prstGeom>
          <a:solidFill>
            <a:srgbClr val="28C840"/>
          </a:solidFill>
          <a:ln w="12700">
            <a:solidFill>
              <a:srgbClr val="28C840"/>
            </a:solidFill>
            <a:prstDash val="solid"/>
          </a:ln>
        </p:spPr>
        <p:txBody>
          <a:bodyPr/>
          <a:lstStyle/>
          <a:p>
            <a:endParaRPr lang="en-GB"/>
          </a:p>
        </p:txBody>
      </p:sp>
      <p:sp>
        <p:nvSpPr>
          <p:cNvPr id="15" name="Text 13"/>
          <p:cNvSpPr/>
          <p:nvPr/>
        </p:nvSpPr>
        <p:spPr>
          <a:xfrm>
            <a:off x="475488" y="3822192"/>
            <a:ext cx="3849624" cy="896112"/>
          </a:xfrm>
          <a:prstGeom prst="rect">
            <a:avLst/>
          </a:prstGeom>
          <a:noFill/>
          <a:ln/>
        </p:spPr>
        <p:txBody>
          <a:bodyPr wrap="square" rtlCol="0" anchor="t"/>
          <a:lstStyle/>
          <a:p>
            <a:pPr marL="0" indent="0">
              <a:buNone/>
            </a:pPr>
            <a:r>
              <a:rPr lang="en-US" sz="950" dirty="0">
                <a:solidFill>
                  <a:srgbClr val="A8D8FF"/>
                </a:solidFill>
                <a:latin typeface="Consolas" pitchFamily="34" charset="0"/>
                <a:ea typeface="Consolas" pitchFamily="34" charset="-122"/>
                <a:cs typeface="Consolas" pitchFamily="34" charset="-120"/>
              </a:rPr>
              <a:t>public boolean upPressed, downPressed,</a:t>
            </a:r>
            <a:endParaRPr lang="en-US" sz="950" dirty="0"/>
          </a:p>
          <a:p>
            <a:pPr marL="0" indent="0">
              <a:buNone/>
            </a:pPr>
            <a:r>
              <a:rPr lang="en-US" sz="950" dirty="0">
                <a:solidFill>
                  <a:srgbClr val="A8D8FF"/>
                </a:solidFill>
                <a:latin typeface="Consolas" pitchFamily="34" charset="0"/>
                <a:ea typeface="Consolas" pitchFamily="34" charset="-122"/>
                <a:cs typeface="Consolas" pitchFamily="34" charset="-120"/>
              </a:rPr>
              <a:t>               leftPressed, rightPressed;</a:t>
            </a:r>
            <a:endParaRPr lang="en-US" sz="950" dirty="0"/>
          </a:p>
          <a:p>
            <a:pPr marL="0" indent="0">
              <a:buNone/>
            </a:pPr>
            <a:r>
              <a:rPr lang="en-US" sz="950" dirty="0">
                <a:solidFill>
                  <a:srgbClr val="A8D8FF"/>
                </a:solidFill>
                <a:latin typeface="Consolas" pitchFamily="34" charset="0"/>
                <a:ea typeface="Consolas" pitchFamily="34" charset="-122"/>
                <a:cs typeface="Consolas" pitchFamily="34" charset="-120"/>
              </a:rPr>
              <a:t>// keyPressed(): if(code==VK_W||VK_UP) upPressed=true;</a:t>
            </a:r>
            <a:endParaRPr lang="en-US" sz="950" dirty="0"/>
          </a:p>
        </p:txBody>
      </p:sp>
      <p:sp>
        <p:nvSpPr>
          <p:cNvPr id="16" name="Shape 14"/>
          <p:cNvSpPr/>
          <p:nvPr/>
        </p:nvSpPr>
        <p:spPr>
          <a:xfrm>
            <a:off x="365760" y="4828032"/>
            <a:ext cx="4069080" cy="228600"/>
          </a:xfrm>
          <a:prstGeom prst="rect">
            <a:avLst/>
          </a:prstGeom>
          <a:solidFill>
            <a:srgbClr val="1B3A5C"/>
          </a:solidFill>
          <a:ln w="6350">
            <a:solidFill>
              <a:srgbClr val="D0D8E4"/>
            </a:solidFill>
            <a:prstDash val="solid"/>
          </a:ln>
          <a:effectLst>
            <a:outerShdw blurRad="50800" dist="12700" dir="8100000" algn="bl" rotWithShape="0">
              <a:srgbClr val="000000">
                <a:alpha val="8000"/>
              </a:srgbClr>
            </a:outerShdw>
          </a:effectLst>
        </p:spPr>
        <p:txBody>
          <a:bodyPr/>
          <a:lstStyle/>
          <a:p>
            <a:endParaRPr lang="en-GB"/>
          </a:p>
        </p:txBody>
      </p:sp>
      <p:sp>
        <p:nvSpPr>
          <p:cNvPr id="17" name="Text 15"/>
          <p:cNvSpPr/>
          <p:nvPr/>
        </p:nvSpPr>
        <p:spPr>
          <a:xfrm>
            <a:off x="457200" y="4846320"/>
            <a:ext cx="3886200" cy="182880"/>
          </a:xfrm>
          <a:prstGeom prst="rect">
            <a:avLst/>
          </a:prstGeom>
          <a:noFill/>
          <a:ln/>
        </p:spPr>
        <p:txBody>
          <a:bodyPr wrap="square" lIns="0" tIns="0" rIns="0" bIns="0" rtlCol="0" anchor="ctr"/>
          <a:lstStyle/>
          <a:p>
            <a:pPr marL="0" indent="0" algn="ctr">
              <a:buNone/>
            </a:pPr>
            <a:r>
              <a:rPr lang="en-US" sz="800" dirty="0">
                <a:solidFill>
                  <a:srgbClr val="D6E4F7"/>
                </a:solidFill>
                <a:latin typeface="Calibri" pitchFamily="34" charset="0"/>
                <a:ea typeface="Calibri" pitchFamily="34" charset="-122"/>
                <a:cs typeface="Calibri" pitchFamily="34" charset="-120"/>
              </a:rPr>
              <a:t>Collision: X &amp; Y tested independently → wall-sliding enabled  |  Tile 4=stagger  Tile 5=spikes</a:t>
            </a:r>
            <a:endParaRPr lang="en-US" sz="800" dirty="0"/>
          </a:p>
        </p:txBody>
      </p:sp>
      <p:sp>
        <p:nvSpPr>
          <p:cNvPr id="18" name="Shape 16"/>
          <p:cNvSpPr/>
          <p:nvPr/>
        </p:nvSpPr>
        <p:spPr>
          <a:xfrm>
            <a:off x="4709160" y="960120"/>
            <a:ext cx="4069080" cy="2514600"/>
          </a:xfrm>
          <a:prstGeom prst="rect">
            <a:avLst/>
          </a:prstGeom>
          <a:solidFill>
            <a:srgbClr val="FFFFFF"/>
          </a:solidFill>
          <a:ln w="6350">
            <a:solidFill>
              <a:srgbClr val="D0D8E4"/>
            </a:solidFill>
            <a:prstDash val="solid"/>
          </a:ln>
          <a:effectLst>
            <a:outerShdw blurRad="50800" dist="12700" dir="8100000" algn="bl" rotWithShape="0">
              <a:srgbClr val="000000">
                <a:alpha val="8000"/>
              </a:srgbClr>
            </a:outerShdw>
          </a:effectLst>
        </p:spPr>
        <p:txBody>
          <a:bodyPr/>
          <a:lstStyle/>
          <a:p>
            <a:endParaRPr lang="en-GB"/>
          </a:p>
        </p:txBody>
      </p:sp>
      <p:sp>
        <p:nvSpPr>
          <p:cNvPr id="19" name="Shape 17"/>
          <p:cNvSpPr/>
          <p:nvPr/>
        </p:nvSpPr>
        <p:spPr>
          <a:xfrm>
            <a:off x="4709160" y="960120"/>
            <a:ext cx="64008" cy="2514600"/>
          </a:xfrm>
          <a:prstGeom prst="rect">
            <a:avLst/>
          </a:prstGeom>
          <a:solidFill>
            <a:srgbClr val="C0392B"/>
          </a:solidFill>
          <a:ln w="12700">
            <a:solidFill>
              <a:srgbClr val="C0392B"/>
            </a:solidFill>
            <a:prstDash val="solid"/>
          </a:ln>
        </p:spPr>
        <p:txBody>
          <a:bodyPr/>
          <a:lstStyle/>
          <a:p>
            <a:endParaRPr lang="en-GB"/>
          </a:p>
        </p:txBody>
      </p:sp>
      <p:sp>
        <p:nvSpPr>
          <p:cNvPr id="20" name="Text 18"/>
          <p:cNvSpPr/>
          <p:nvPr/>
        </p:nvSpPr>
        <p:spPr>
          <a:xfrm>
            <a:off x="4937760" y="1005840"/>
            <a:ext cx="3657600" cy="347472"/>
          </a:xfrm>
          <a:prstGeom prst="rect">
            <a:avLst/>
          </a:prstGeom>
          <a:noFill/>
          <a:ln/>
        </p:spPr>
        <p:txBody>
          <a:bodyPr wrap="square" lIns="0" tIns="0" rIns="0" bIns="0" rtlCol="0" anchor="ctr"/>
          <a:lstStyle/>
          <a:p>
            <a:pPr marL="0" indent="0">
              <a:buNone/>
            </a:pPr>
            <a:r>
              <a:rPr lang="en-US" sz="1500" b="1" dirty="0">
                <a:solidFill>
                  <a:srgbClr val="1B3A5C"/>
                </a:solidFill>
                <a:latin typeface="Georgia" pitchFamily="34" charset="0"/>
                <a:ea typeface="Georgia" pitchFamily="34" charset="-122"/>
                <a:cs typeface="Georgia" pitchFamily="34" charset="-120"/>
              </a:rPr>
              <a:t>Player.java</a:t>
            </a:r>
            <a:endParaRPr lang="en-US" sz="1500" dirty="0"/>
          </a:p>
        </p:txBody>
      </p:sp>
      <p:sp>
        <p:nvSpPr>
          <p:cNvPr id="21" name="Shape 19"/>
          <p:cNvSpPr/>
          <p:nvPr/>
        </p:nvSpPr>
        <p:spPr>
          <a:xfrm>
            <a:off x="4937760" y="1371600"/>
            <a:ext cx="850392" cy="256032"/>
          </a:xfrm>
          <a:prstGeom prst="roundRect">
            <a:avLst>
              <a:gd name="adj" fmla="val 17857"/>
            </a:avLst>
          </a:prstGeom>
          <a:solidFill>
            <a:srgbClr val="C0392B"/>
          </a:solidFill>
          <a:ln w="12700">
            <a:solidFill>
              <a:srgbClr val="C0392B"/>
            </a:solidFill>
            <a:prstDash val="solid"/>
          </a:ln>
        </p:spPr>
        <p:txBody>
          <a:bodyPr/>
          <a:lstStyle/>
          <a:p>
            <a:endParaRPr lang="en-GB"/>
          </a:p>
        </p:txBody>
      </p:sp>
      <p:sp>
        <p:nvSpPr>
          <p:cNvPr id="22" name="Text 20"/>
          <p:cNvSpPr/>
          <p:nvPr/>
        </p:nvSpPr>
        <p:spPr>
          <a:xfrm>
            <a:off x="4937760" y="1371600"/>
            <a:ext cx="850392"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PLAYER</a:t>
            </a:r>
            <a:endParaRPr lang="en-US" sz="900" dirty="0"/>
          </a:p>
        </p:txBody>
      </p:sp>
      <p:sp>
        <p:nvSpPr>
          <p:cNvPr id="23" name="Text 21"/>
          <p:cNvSpPr/>
          <p:nvPr/>
        </p:nvSpPr>
        <p:spPr>
          <a:xfrm>
            <a:off x="4937760" y="1691640"/>
            <a:ext cx="3657600" cy="1600200"/>
          </a:xfrm>
          <a:prstGeom prst="rect">
            <a:avLst/>
          </a:prstGeom>
          <a:noFill/>
          <a:ln/>
        </p:spPr>
        <p:txBody>
          <a:bodyPr wrap="square" rtlCol="0" anchor="t"/>
          <a:lstStyle/>
          <a:p>
            <a:pPr marL="0" indent="0">
              <a:buNone/>
            </a:pPr>
            <a:r>
              <a:rPr lang="en-US" sz="1150" b="1" dirty="0">
                <a:solidFill>
                  <a:srgbClr val="4A5568"/>
                </a:solidFill>
                <a:latin typeface="Calibri" pitchFamily="34" charset="0"/>
                <a:ea typeface="Calibri" pitchFamily="34" charset="-122"/>
                <a:cs typeface="Calibri" pitchFamily="34" charset="-120"/>
              </a:rPr>
              <a:t>Axis-Independent Collision</a:t>
            </a:r>
            <a:endParaRPr lang="en-US" sz="1150" dirty="0"/>
          </a:p>
          <a:p>
            <a:pPr marL="0" indent="0">
              <a:buNone/>
            </a:pPr>
            <a:r>
              <a:rPr lang="en-US" sz="1150" dirty="0">
                <a:solidFill>
                  <a:srgbClr val="4A5568"/>
                </a:solidFill>
                <a:latin typeface="Calibri" pitchFamily="34" charset="0"/>
                <a:ea typeface="Calibri" pitchFamily="34" charset="-122"/>
                <a:cs typeface="Calibri" pitchFamily="34" charset="-120"/>
              </a:rPr>
              <a:t>X and Y movement tested separately — player slides along walls rather than stopping dead.
</a:t>
            </a:r>
            <a:endParaRPr lang="en-US" sz="1150" dirty="0"/>
          </a:p>
          <a:p>
            <a:pPr marL="0" indent="0">
              <a:buNone/>
            </a:pPr>
            <a:r>
              <a:rPr lang="en-US" sz="1150" b="1" dirty="0">
                <a:solidFill>
                  <a:srgbClr val="4A5568"/>
                </a:solidFill>
                <a:latin typeface="Calibri" pitchFamily="34" charset="0"/>
                <a:ea typeface="Calibri" pitchFamily="34" charset="-122"/>
                <a:cs typeface="Calibri" pitchFamily="34" charset="-120"/>
              </a:rPr>
              <a:t>Aspect-Ratio Rendering</a:t>
            </a:r>
            <a:endParaRPr lang="en-US" sz="1150" dirty="0"/>
          </a:p>
          <a:p>
            <a:pPr marL="0" indent="0">
              <a:buNone/>
            </a:pPr>
            <a:r>
              <a:rPr lang="en-US" sz="1150" dirty="0">
                <a:solidFill>
                  <a:srgbClr val="4A5568"/>
                </a:solidFill>
                <a:latin typeface="Calibri" pitchFamily="34" charset="0"/>
                <a:ea typeface="Calibri" pitchFamily="34" charset="-122"/>
                <a:cs typeface="Calibri" pitchFamily="34" charset="-120"/>
              </a:rPr>
              <a:t>ratio = imgWidth/imgHeight computed per frame; drawImage centered over 30×30 hitbox.</a:t>
            </a:r>
            <a:endParaRPr lang="en-US" sz="1150" dirty="0"/>
          </a:p>
        </p:txBody>
      </p:sp>
      <p:sp>
        <p:nvSpPr>
          <p:cNvPr id="24" name="Shape 22"/>
          <p:cNvSpPr/>
          <p:nvPr/>
        </p:nvSpPr>
        <p:spPr>
          <a:xfrm>
            <a:off x="4709160" y="3566160"/>
            <a:ext cx="4069080" cy="1188720"/>
          </a:xfrm>
          <a:prstGeom prst="rect">
            <a:avLst/>
          </a:prstGeom>
          <a:solidFill>
            <a:srgbClr val="0D1B2A"/>
          </a:solidFill>
          <a:ln w="6350">
            <a:solidFill>
              <a:srgbClr val="2A4A6B"/>
            </a:solidFill>
            <a:prstDash val="solid"/>
          </a:ln>
        </p:spPr>
        <p:txBody>
          <a:bodyPr/>
          <a:lstStyle/>
          <a:p>
            <a:endParaRPr lang="en-GB"/>
          </a:p>
        </p:txBody>
      </p:sp>
      <p:sp>
        <p:nvSpPr>
          <p:cNvPr id="25" name="Shape 23"/>
          <p:cNvSpPr/>
          <p:nvPr/>
        </p:nvSpPr>
        <p:spPr>
          <a:xfrm>
            <a:off x="4818888" y="3657600"/>
            <a:ext cx="109728" cy="109728"/>
          </a:xfrm>
          <a:prstGeom prst="line">
            <a:avLst/>
          </a:prstGeom>
          <a:solidFill>
            <a:srgbClr val="FF5F57"/>
          </a:solidFill>
          <a:ln w="12700">
            <a:solidFill>
              <a:srgbClr val="FF5F57"/>
            </a:solidFill>
            <a:prstDash val="solid"/>
          </a:ln>
        </p:spPr>
        <p:txBody>
          <a:bodyPr/>
          <a:lstStyle/>
          <a:p>
            <a:endParaRPr lang="en-GB"/>
          </a:p>
        </p:txBody>
      </p:sp>
      <p:sp>
        <p:nvSpPr>
          <p:cNvPr id="26" name="Shape 24"/>
          <p:cNvSpPr/>
          <p:nvPr/>
        </p:nvSpPr>
        <p:spPr>
          <a:xfrm>
            <a:off x="5020056" y="3657600"/>
            <a:ext cx="109728" cy="109728"/>
          </a:xfrm>
          <a:prstGeom prst="line">
            <a:avLst/>
          </a:prstGeom>
          <a:solidFill>
            <a:srgbClr val="FFBD2E"/>
          </a:solidFill>
          <a:ln w="12700">
            <a:solidFill>
              <a:srgbClr val="FFBD2E"/>
            </a:solidFill>
            <a:prstDash val="solid"/>
          </a:ln>
        </p:spPr>
        <p:txBody>
          <a:bodyPr/>
          <a:lstStyle/>
          <a:p>
            <a:endParaRPr lang="en-GB"/>
          </a:p>
        </p:txBody>
      </p:sp>
      <p:sp>
        <p:nvSpPr>
          <p:cNvPr id="27" name="Shape 25"/>
          <p:cNvSpPr/>
          <p:nvPr/>
        </p:nvSpPr>
        <p:spPr>
          <a:xfrm>
            <a:off x="5221224" y="3657600"/>
            <a:ext cx="109728" cy="109728"/>
          </a:xfrm>
          <a:prstGeom prst="line">
            <a:avLst/>
          </a:prstGeom>
          <a:solidFill>
            <a:srgbClr val="28C840"/>
          </a:solidFill>
          <a:ln w="12700">
            <a:solidFill>
              <a:srgbClr val="28C840"/>
            </a:solidFill>
            <a:prstDash val="solid"/>
          </a:ln>
        </p:spPr>
        <p:txBody>
          <a:bodyPr/>
          <a:lstStyle/>
          <a:p>
            <a:endParaRPr lang="en-GB"/>
          </a:p>
        </p:txBody>
      </p:sp>
      <p:sp>
        <p:nvSpPr>
          <p:cNvPr id="28" name="Text 26"/>
          <p:cNvSpPr/>
          <p:nvPr/>
        </p:nvSpPr>
        <p:spPr>
          <a:xfrm>
            <a:off x="4818888" y="3822192"/>
            <a:ext cx="3849624" cy="896112"/>
          </a:xfrm>
          <a:prstGeom prst="rect">
            <a:avLst/>
          </a:prstGeom>
          <a:noFill/>
          <a:ln/>
        </p:spPr>
        <p:txBody>
          <a:bodyPr wrap="square" rtlCol="0" anchor="t"/>
          <a:lstStyle/>
          <a:p>
            <a:pPr marL="0" indent="0">
              <a:buNone/>
            </a:pPr>
            <a:r>
              <a:rPr lang="en-US" sz="950" dirty="0">
                <a:solidFill>
                  <a:srgbClr val="A8D8FF"/>
                </a:solidFill>
                <a:latin typeface="Consolas" pitchFamily="34" charset="0"/>
                <a:ea typeface="Consolas" pitchFamily="34" charset="-122"/>
                <a:cs typeface="Consolas" pitchFamily="34" charset="-120"/>
              </a:rPr>
              <a:t>if (!checkCollision(newX, y)) x = newX;</a:t>
            </a:r>
            <a:endParaRPr lang="en-US" sz="950" dirty="0"/>
          </a:p>
          <a:p>
            <a:pPr marL="0" indent="0">
              <a:buNone/>
            </a:pPr>
            <a:r>
              <a:rPr lang="en-US" sz="950" dirty="0">
                <a:solidFill>
                  <a:srgbClr val="A8D8FF"/>
                </a:solidFill>
                <a:latin typeface="Consolas" pitchFamily="34" charset="0"/>
                <a:ea typeface="Consolas" pitchFamily="34" charset="-122"/>
                <a:cs typeface="Consolas" pitchFamily="34" charset="-120"/>
              </a:rPr>
              <a:t>if (!checkCollision(x, newY)) y = newY;</a:t>
            </a:r>
            <a:endParaRPr lang="en-US" sz="950" dirty="0"/>
          </a:p>
          <a:p>
            <a:pPr marL="0" indent="0">
              <a:buNone/>
            </a:pPr>
            <a:r>
              <a:rPr lang="en-US" sz="950" dirty="0">
                <a:solidFill>
                  <a:srgbClr val="A8D8FF"/>
                </a:solidFill>
                <a:latin typeface="Consolas" pitchFamily="34" charset="0"/>
                <a:ea typeface="Consolas" pitchFamily="34" charset="-122"/>
                <a:cs typeface="Consolas" pitchFamily="34" charset="-120"/>
              </a:rPr>
              <a:t>// ratio = img.getWidth() / img.getHeight();</a:t>
            </a:r>
            <a:endParaRPr lang="en-US" sz="950" dirty="0"/>
          </a:p>
        </p:txBody>
      </p:sp>
      <p:sp>
        <p:nvSpPr>
          <p:cNvPr id="29" name="Shape 27"/>
          <p:cNvSpPr/>
          <p:nvPr/>
        </p:nvSpPr>
        <p:spPr>
          <a:xfrm>
            <a:off x="4709160" y="4828032"/>
            <a:ext cx="4069080" cy="228600"/>
          </a:xfrm>
          <a:prstGeom prst="rect">
            <a:avLst/>
          </a:prstGeom>
          <a:solidFill>
            <a:srgbClr val="1B3A5C"/>
          </a:solidFill>
          <a:ln w="6350">
            <a:solidFill>
              <a:srgbClr val="D0D8E4"/>
            </a:solidFill>
            <a:prstDash val="solid"/>
          </a:ln>
          <a:effectLst>
            <a:outerShdw blurRad="50800" dist="12700" dir="8100000" algn="bl" rotWithShape="0">
              <a:srgbClr val="000000">
                <a:alpha val="8000"/>
              </a:srgbClr>
            </a:outerShdw>
          </a:effectLst>
        </p:spPr>
        <p:txBody>
          <a:bodyPr/>
          <a:lstStyle/>
          <a:p>
            <a:endParaRPr lang="en-GB"/>
          </a:p>
        </p:txBody>
      </p:sp>
      <p:sp>
        <p:nvSpPr>
          <p:cNvPr id="30" name="Text 28"/>
          <p:cNvSpPr/>
          <p:nvPr/>
        </p:nvSpPr>
        <p:spPr>
          <a:xfrm>
            <a:off x="4800600" y="4846320"/>
            <a:ext cx="3886200" cy="182880"/>
          </a:xfrm>
          <a:prstGeom prst="rect">
            <a:avLst/>
          </a:prstGeom>
          <a:noFill/>
          <a:ln/>
        </p:spPr>
        <p:txBody>
          <a:bodyPr wrap="square" lIns="0" tIns="0" rIns="0" bIns="0" rtlCol="0" anchor="ctr"/>
          <a:lstStyle/>
          <a:p>
            <a:pPr marL="0" indent="0" algn="ctr">
              <a:buNone/>
            </a:pPr>
            <a:r>
              <a:rPr lang="en-US" sz="800" dirty="0">
                <a:solidFill>
                  <a:srgbClr val="D6E4F7"/>
                </a:solidFill>
                <a:latin typeface="Calibri" pitchFamily="34" charset="0"/>
                <a:ea typeface="Calibri" pitchFamily="34" charset="-122"/>
                <a:cs typeface="Calibri" pitchFamily="34" charset="-120"/>
              </a:rPr>
              <a:t>Sprite loaded via getResourceAsStream() — IOException caught, colour-rect fallback applied</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B2A"/>
        </a:solidFill>
        <a:effectLst/>
      </p:bgPr>
    </p:bg>
    <p:spTree>
      <p:nvGrpSpPr>
        <p:cNvPr id="1" name=""/>
        <p:cNvGrpSpPr/>
        <p:nvPr/>
      </p:nvGrpSpPr>
      <p:grpSpPr>
        <a:xfrm>
          <a:off x="0" y="0"/>
          <a:ext cx="0" cy="0"/>
          <a:chOff x="0" y="0"/>
          <a:chExt cx="0" cy="0"/>
        </a:xfrm>
      </p:grpSpPr>
      <p:sp>
        <p:nvSpPr>
          <p:cNvPr id="2" name="Text 0"/>
          <p:cNvSpPr/>
          <p:nvPr/>
        </p:nvSpPr>
        <p:spPr>
          <a:xfrm>
            <a:off x="640080" y="1645920"/>
            <a:ext cx="7863840" cy="1280160"/>
          </a:xfrm>
          <a:prstGeom prst="rect">
            <a:avLst/>
          </a:prstGeom>
          <a:noFill/>
          <a:ln/>
        </p:spPr>
        <p:txBody>
          <a:bodyPr wrap="square" rtlCol="0" anchor="ctr"/>
          <a:lstStyle/>
          <a:p>
            <a:pPr marL="0" indent="0" algn="ctr">
              <a:buNone/>
            </a:pPr>
            <a:r>
              <a:rPr lang="en-US" sz="4600" b="1" dirty="0">
                <a:solidFill>
                  <a:srgbClr val="FFFFFF"/>
                </a:solidFill>
                <a:latin typeface="Georgia" pitchFamily="34" charset="0"/>
                <a:ea typeface="Georgia" pitchFamily="34" charset="-122"/>
                <a:cs typeface="Georgia" pitchFamily="34" charset="-120"/>
              </a:rPr>
              <a:t>AI &amp; Algorithms</a:t>
            </a:r>
            <a:endParaRPr lang="en-US" sz="4600" dirty="0"/>
          </a:p>
        </p:txBody>
      </p:sp>
      <p:sp>
        <p:nvSpPr>
          <p:cNvPr id="3" name="Text 1"/>
          <p:cNvSpPr/>
          <p:nvPr/>
        </p:nvSpPr>
        <p:spPr>
          <a:xfrm>
            <a:off x="640080" y="3017520"/>
            <a:ext cx="7863840" cy="640080"/>
          </a:xfrm>
          <a:prstGeom prst="rect">
            <a:avLst/>
          </a:prstGeom>
          <a:noFill/>
          <a:ln/>
        </p:spPr>
        <p:txBody>
          <a:bodyPr wrap="square" rtlCol="0" anchor="ctr"/>
          <a:lstStyle/>
          <a:p>
            <a:pPr marL="0" indent="0" algn="ctr">
              <a:buNone/>
            </a:pPr>
            <a:r>
              <a:rPr lang="en-US" sz="1800" dirty="0">
                <a:solidFill>
                  <a:srgbClr val="D6E4F7"/>
                </a:solidFill>
                <a:latin typeface="Calibri" pitchFamily="34" charset="0"/>
                <a:ea typeface="Calibri" pitchFamily="34" charset="-122"/>
                <a:cs typeface="Calibri" pitchFamily="34" charset="-120"/>
              </a:rPr>
              <a:t>Enemy  ·  Node  ·  Map</a:t>
            </a:r>
            <a:endParaRPr lang="en-US" sz="1800" dirty="0"/>
          </a:p>
        </p:txBody>
      </p:sp>
      <p:sp>
        <p:nvSpPr>
          <p:cNvPr id="4" name="Shape 2"/>
          <p:cNvSpPr/>
          <p:nvPr/>
        </p:nvSpPr>
        <p:spPr>
          <a:xfrm>
            <a:off x="3840480" y="4297680"/>
            <a:ext cx="1234440" cy="256032"/>
          </a:xfrm>
          <a:prstGeom prst="roundRect">
            <a:avLst>
              <a:gd name="adj" fmla="val 17857"/>
            </a:avLst>
          </a:prstGeom>
          <a:solidFill>
            <a:srgbClr val="C0392B"/>
          </a:solidFill>
          <a:ln w="12700">
            <a:solidFill>
              <a:srgbClr val="C0392B"/>
            </a:solidFill>
            <a:prstDash val="solid"/>
          </a:ln>
        </p:spPr>
        <p:txBody>
          <a:bodyPr/>
          <a:lstStyle/>
          <a:p>
            <a:endParaRPr lang="en-GB"/>
          </a:p>
        </p:txBody>
      </p:sp>
      <p:sp>
        <p:nvSpPr>
          <p:cNvPr id="5" name="Text 3"/>
          <p:cNvSpPr/>
          <p:nvPr/>
        </p:nvSpPr>
        <p:spPr>
          <a:xfrm>
            <a:off x="3840480" y="4297680"/>
            <a:ext cx="1234440"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SECTION 03</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8EDF2"/>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1B3A5C"/>
          </a:solidFill>
          <a:ln w="12700">
            <a:solidFill>
              <a:srgbClr val="1B3A5C"/>
            </a:solidFill>
            <a:prstDash val="solid"/>
          </a:ln>
        </p:spPr>
        <p:txBody>
          <a:bodyPr/>
          <a:lstStyle/>
          <a:p>
            <a:endParaRPr lang="en-GB"/>
          </a:p>
        </p:txBody>
      </p:sp>
      <p:sp>
        <p:nvSpPr>
          <p:cNvPr id="3" name="Text 1"/>
          <p:cNvSpPr/>
          <p:nvPr/>
        </p:nvSpPr>
        <p:spPr>
          <a:xfrm>
            <a:off x="365760" y="182880"/>
            <a:ext cx="8503920" cy="594360"/>
          </a:xfrm>
          <a:prstGeom prst="rect">
            <a:avLst/>
          </a:prstGeom>
          <a:noFill/>
          <a:ln/>
        </p:spPr>
        <p:txBody>
          <a:bodyPr wrap="square" lIns="0" tIns="0" rIns="0" bIns="0" rtlCol="0" anchor="ctr"/>
          <a:lstStyle/>
          <a:p>
            <a:pPr marL="0" indent="0" algn="l">
              <a:buNone/>
            </a:pPr>
            <a:r>
              <a:rPr lang="en-US" sz="2400" b="1" dirty="0">
                <a:solidFill>
                  <a:srgbClr val="1B3A5C"/>
                </a:solidFill>
                <a:latin typeface="Georgia" pitchFamily="34" charset="0"/>
                <a:ea typeface="Georgia" pitchFamily="34" charset="-122"/>
                <a:cs typeface="Georgia" pitchFamily="34" charset="-120"/>
              </a:rPr>
              <a:t>Enemy.java — A* Pathfinding &amp; AI State Machine</a:t>
            </a:r>
            <a:endParaRPr lang="en-US" sz="2400" dirty="0"/>
          </a:p>
        </p:txBody>
      </p:sp>
      <p:sp>
        <p:nvSpPr>
          <p:cNvPr id="4" name="Shape 2"/>
          <p:cNvSpPr/>
          <p:nvPr/>
        </p:nvSpPr>
        <p:spPr>
          <a:xfrm>
            <a:off x="365760" y="804672"/>
            <a:ext cx="8412480" cy="36576"/>
          </a:xfrm>
          <a:prstGeom prst="rect">
            <a:avLst/>
          </a:prstGeom>
          <a:solidFill>
            <a:srgbClr val="C0392B"/>
          </a:solidFill>
          <a:ln w="12700">
            <a:solidFill>
              <a:srgbClr val="C0392B"/>
            </a:solidFill>
            <a:prstDash val="solid"/>
          </a:ln>
        </p:spPr>
        <p:txBody>
          <a:bodyPr/>
          <a:lstStyle/>
          <a:p>
            <a:endParaRPr lang="en-GB"/>
          </a:p>
        </p:txBody>
      </p:sp>
      <p:sp>
        <p:nvSpPr>
          <p:cNvPr id="5" name="Shape 3"/>
          <p:cNvSpPr/>
          <p:nvPr/>
        </p:nvSpPr>
        <p:spPr>
          <a:xfrm>
            <a:off x="365760" y="960120"/>
            <a:ext cx="2697480" cy="2423160"/>
          </a:xfrm>
          <a:prstGeom prst="rect">
            <a:avLst/>
          </a:prstGeom>
          <a:solidFill>
            <a:srgbClr val="FFFFFF"/>
          </a:solidFill>
          <a:ln w="6350">
            <a:solidFill>
              <a:srgbClr val="D0D8E4"/>
            </a:solidFill>
            <a:prstDash val="solid"/>
          </a:ln>
          <a:effectLst>
            <a:outerShdw blurRad="50800" dist="12700" dir="8100000" algn="bl" rotWithShape="0">
              <a:srgbClr val="000000">
                <a:alpha val="8000"/>
              </a:srgbClr>
            </a:outerShdw>
          </a:effectLst>
        </p:spPr>
        <p:txBody>
          <a:bodyPr/>
          <a:lstStyle/>
          <a:p>
            <a:endParaRPr lang="en-GB"/>
          </a:p>
        </p:txBody>
      </p:sp>
      <p:sp>
        <p:nvSpPr>
          <p:cNvPr id="6" name="Shape 4"/>
          <p:cNvSpPr/>
          <p:nvPr/>
        </p:nvSpPr>
        <p:spPr>
          <a:xfrm>
            <a:off x="365760" y="960120"/>
            <a:ext cx="64008" cy="2423160"/>
          </a:xfrm>
          <a:prstGeom prst="rect">
            <a:avLst/>
          </a:prstGeom>
          <a:solidFill>
            <a:srgbClr val="1B3A5C"/>
          </a:solidFill>
          <a:ln w="12700">
            <a:solidFill>
              <a:srgbClr val="1B3A5C"/>
            </a:solidFill>
            <a:prstDash val="solid"/>
          </a:ln>
        </p:spPr>
        <p:txBody>
          <a:bodyPr/>
          <a:lstStyle/>
          <a:p>
            <a:endParaRPr lang="en-GB"/>
          </a:p>
        </p:txBody>
      </p:sp>
      <p:sp>
        <p:nvSpPr>
          <p:cNvPr id="7" name="Text 5"/>
          <p:cNvSpPr/>
          <p:nvPr/>
        </p:nvSpPr>
        <p:spPr>
          <a:xfrm>
            <a:off x="548640" y="1005840"/>
            <a:ext cx="2377440" cy="347472"/>
          </a:xfrm>
          <a:prstGeom prst="rect">
            <a:avLst/>
          </a:prstGeom>
          <a:noFill/>
          <a:ln/>
        </p:spPr>
        <p:txBody>
          <a:bodyPr wrap="square" lIns="0" tIns="0" rIns="0" bIns="0" rtlCol="0" anchor="ctr"/>
          <a:lstStyle/>
          <a:p>
            <a:pPr marL="0" indent="0">
              <a:buNone/>
            </a:pPr>
            <a:r>
              <a:rPr lang="en-US" sz="1300" b="1" dirty="0">
                <a:solidFill>
                  <a:srgbClr val="1B3A5C"/>
                </a:solidFill>
                <a:latin typeface="Georgia" pitchFamily="34" charset="0"/>
                <a:ea typeface="Georgia" pitchFamily="34" charset="-122"/>
                <a:cs typeface="Georgia" pitchFamily="34" charset="-120"/>
              </a:rPr>
              <a:t>A* Pathfinding</a:t>
            </a:r>
            <a:endParaRPr lang="en-US" sz="1300" dirty="0"/>
          </a:p>
        </p:txBody>
      </p:sp>
      <p:sp>
        <p:nvSpPr>
          <p:cNvPr id="8" name="Text 6"/>
          <p:cNvSpPr/>
          <p:nvPr/>
        </p:nvSpPr>
        <p:spPr>
          <a:xfrm>
            <a:off x="548640" y="1389888"/>
            <a:ext cx="2377440" cy="1874520"/>
          </a:xfrm>
          <a:prstGeom prst="rect">
            <a:avLst/>
          </a:prstGeom>
          <a:noFill/>
          <a:ln/>
        </p:spPr>
        <p:txBody>
          <a:bodyPr wrap="square" rtlCol="0" anchor="t"/>
          <a:lstStyle/>
          <a:p>
            <a:pPr marL="0" indent="0">
              <a:buNone/>
            </a:pPr>
            <a:r>
              <a:rPr lang="en-US" sz="1100" dirty="0">
                <a:solidFill>
                  <a:srgbClr val="4A5568"/>
                </a:solidFill>
                <a:latin typeface="Calibri" pitchFamily="34" charset="0"/>
                <a:ea typeface="Calibri" pitchFamily="34" charset="-122"/>
                <a:cs typeface="Calibri" pitchFamily="34" charset="-120"/>
              </a:rPr>
              <a:t>ArrayList open/closed lists. Lowest fCost selected per frame. Manhattan |dx|+|dy| heuristic for 4-directional grid. constructPath() walks parent chain.</a:t>
            </a:r>
            <a:endParaRPr lang="en-US" sz="1100" dirty="0"/>
          </a:p>
        </p:txBody>
      </p:sp>
      <p:sp>
        <p:nvSpPr>
          <p:cNvPr id="9" name="Shape 7"/>
          <p:cNvSpPr/>
          <p:nvPr/>
        </p:nvSpPr>
        <p:spPr>
          <a:xfrm>
            <a:off x="3227832" y="960120"/>
            <a:ext cx="2697480" cy="2423160"/>
          </a:xfrm>
          <a:prstGeom prst="rect">
            <a:avLst/>
          </a:prstGeom>
          <a:solidFill>
            <a:srgbClr val="FFFFFF"/>
          </a:solidFill>
          <a:ln w="6350">
            <a:solidFill>
              <a:srgbClr val="D0D8E4"/>
            </a:solidFill>
            <a:prstDash val="solid"/>
          </a:ln>
          <a:effectLst>
            <a:outerShdw blurRad="50800" dist="12700" dir="8100000" algn="bl" rotWithShape="0">
              <a:srgbClr val="000000">
                <a:alpha val="8000"/>
              </a:srgbClr>
            </a:outerShdw>
          </a:effectLst>
        </p:spPr>
        <p:txBody>
          <a:bodyPr/>
          <a:lstStyle/>
          <a:p>
            <a:endParaRPr lang="en-GB"/>
          </a:p>
        </p:txBody>
      </p:sp>
      <p:sp>
        <p:nvSpPr>
          <p:cNvPr id="10" name="Shape 8"/>
          <p:cNvSpPr/>
          <p:nvPr/>
        </p:nvSpPr>
        <p:spPr>
          <a:xfrm>
            <a:off x="3227832" y="960120"/>
            <a:ext cx="64008" cy="2423160"/>
          </a:xfrm>
          <a:prstGeom prst="rect">
            <a:avLst/>
          </a:prstGeom>
          <a:solidFill>
            <a:srgbClr val="2563A8"/>
          </a:solidFill>
          <a:ln w="12700">
            <a:solidFill>
              <a:srgbClr val="2563A8"/>
            </a:solidFill>
            <a:prstDash val="solid"/>
          </a:ln>
        </p:spPr>
        <p:txBody>
          <a:bodyPr/>
          <a:lstStyle/>
          <a:p>
            <a:endParaRPr lang="en-GB"/>
          </a:p>
        </p:txBody>
      </p:sp>
      <p:sp>
        <p:nvSpPr>
          <p:cNvPr id="11" name="Text 9"/>
          <p:cNvSpPr/>
          <p:nvPr/>
        </p:nvSpPr>
        <p:spPr>
          <a:xfrm>
            <a:off x="3410712" y="1005840"/>
            <a:ext cx="2377440" cy="347472"/>
          </a:xfrm>
          <a:prstGeom prst="rect">
            <a:avLst/>
          </a:prstGeom>
          <a:noFill/>
          <a:ln/>
        </p:spPr>
        <p:txBody>
          <a:bodyPr wrap="square" lIns="0" tIns="0" rIns="0" bIns="0" rtlCol="0" anchor="ctr"/>
          <a:lstStyle/>
          <a:p>
            <a:pPr marL="0" indent="0">
              <a:buNone/>
            </a:pPr>
            <a:r>
              <a:rPr lang="en-US" sz="1300" b="1" dirty="0">
                <a:solidFill>
                  <a:srgbClr val="1B3A5C"/>
                </a:solidFill>
                <a:latin typeface="Georgia" pitchFamily="34" charset="0"/>
                <a:ea typeface="Georgia" pitchFamily="34" charset="-122"/>
                <a:cs typeface="Georgia" pitchFamily="34" charset="-120"/>
              </a:rPr>
              <a:t>Finite State Machine</a:t>
            </a:r>
            <a:endParaRPr lang="en-US" sz="1300" dirty="0"/>
          </a:p>
        </p:txBody>
      </p:sp>
      <p:sp>
        <p:nvSpPr>
          <p:cNvPr id="12" name="Text 10"/>
          <p:cNvSpPr/>
          <p:nvPr/>
        </p:nvSpPr>
        <p:spPr>
          <a:xfrm>
            <a:off x="3410712" y="1389888"/>
            <a:ext cx="2377440" cy="1874520"/>
          </a:xfrm>
          <a:prstGeom prst="rect">
            <a:avLst/>
          </a:prstGeom>
          <a:noFill/>
          <a:ln/>
        </p:spPr>
        <p:txBody>
          <a:bodyPr wrap="square" rtlCol="0" anchor="t"/>
          <a:lstStyle/>
          <a:p>
            <a:pPr marL="0" indent="0">
              <a:buNone/>
            </a:pPr>
            <a:r>
              <a:rPr lang="en-US" sz="1100" dirty="0">
                <a:solidFill>
                  <a:srgbClr val="4A5568"/>
                </a:solidFill>
                <a:latin typeface="Calibri" pitchFamily="34" charset="0"/>
                <a:ea typeface="Calibri" pitchFamily="34" charset="-122"/>
                <a:cs typeface="Calibri" pitchFamily="34" charset="-120"/>
              </a:rPr>
              <a:t>enum State { CHASE, WANDER }. CHASE triggers within 10 tiles if among 4 closest. WANDER picks random free tile from Map.</a:t>
            </a:r>
            <a:endParaRPr lang="en-US" sz="1100" dirty="0"/>
          </a:p>
        </p:txBody>
      </p:sp>
      <p:sp>
        <p:nvSpPr>
          <p:cNvPr id="13" name="Shape 11"/>
          <p:cNvSpPr/>
          <p:nvPr/>
        </p:nvSpPr>
        <p:spPr>
          <a:xfrm>
            <a:off x="6089904" y="960120"/>
            <a:ext cx="2697480" cy="2423160"/>
          </a:xfrm>
          <a:prstGeom prst="rect">
            <a:avLst/>
          </a:prstGeom>
          <a:solidFill>
            <a:srgbClr val="FFFFFF"/>
          </a:solidFill>
          <a:ln w="6350">
            <a:solidFill>
              <a:srgbClr val="D0D8E4"/>
            </a:solidFill>
            <a:prstDash val="solid"/>
          </a:ln>
          <a:effectLst>
            <a:outerShdw blurRad="50800" dist="12700" dir="8100000" algn="bl" rotWithShape="0">
              <a:srgbClr val="000000">
                <a:alpha val="8000"/>
              </a:srgbClr>
            </a:outerShdw>
          </a:effectLst>
        </p:spPr>
        <p:txBody>
          <a:bodyPr/>
          <a:lstStyle/>
          <a:p>
            <a:endParaRPr lang="en-GB"/>
          </a:p>
        </p:txBody>
      </p:sp>
      <p:sp>
        <p:nvSpPr>
          <p:cNvPr id="14" name="Shape 12"/>
          <p:cNvSpPr/>
          <p:nvPr/>
        </p:nvSpPr>
        <p:spPr>
          <a:xfrm>
            <a:off x="6089904" y="960120"/>
            <a:ext cx="64008" cy="2423160"/>
          </a:xfrm>
          <a:prstGeom prst="rect">
            <a:avLst/>
          </a:prstGeom>
          <a:solidFill>
            <a:srgbClr val="C0392B"/>
          </a:solidFill>
          <a:ln w="12700">
            <a:solidFill>
              <a:srgbClr val="C0392B"/>
            </a:solidFill>
            <a:prstDash val="solid"/>
          </a:ln>
        </p:spPr>
        <p:txBody>
          <a:bodyPr/>
          <a:lstStyle/>
          <a:p>
            <a:endParaRPr lang="en-GB"/>
          </a:p>
        </p:txBody>
      </p:sp>
      <p:sp>
        <p:nvSpPr>
          <p:cNvPr id="15" name="Text 13"/>
          <p:cNvSpPr/>
          <p:nvPr/>
        </p:nvSpPr>
        <p:spPr>
          <a:xfrm>
            <a:off x="6272784" y="1005840"/>
            <a:ext cx="2377440" cy="347472"/>
          </a:xfrm>
          <a:prstGeom prst="rect">
            <a:avLst/>
          </a:prstGeom>
          <a:noFill/>
          <a:ln/>
        </p:spPr>
        <p:txBody>
          <a:bodyPr wrap="square" lIns="0" tIns="0" rIns="0" bIns="0" rtlCol="0" anchor="ctr"/>
          <a:lstStyle/>
          <a:p>
            <a:pPr marL="0" indent="0">
              <a:buNone/>
            </a:pPr>
            <a:r>
              <a:rPr lang="en-US" sz="1300" b="1" dirty="0">
                <a:solidFill>
                  <a:srgbClr val="1B3A5C"/>
                </a:solidFill>
                <a:latin typeface="Georgia" pitchFamily="34" charset="0"/>
                <a:ea typeface="Georgia" pitchFamily="34" charset="-122"/>
                <a:cs typeface="Georgia" pitchFamily="34" charset="-120"/>
              </a:rPr>
              <a:t>Performance &amp; Separation</a:t>
            </a:r>
            <a:endParaRPr lang="en-US" sz="1300" dirty="0"/>
          </a:p>
        </p:txBody>
      </p:sp>
      <p:sp>
        <p:nvSpPr>
          <p:cNvPr id="16" name="Text 14"/>
          <p:cNvSpPr/>
          <p:nvPr/>
        </p:nvSpPr>
        <p:spPr>
          <a:xfrm>
            <a:off x="6272784" y="1389888"/>
            <a:ext cx="2377440" cy="1874520"/>
          </a:xfrm>
          <a:prstGeom prst="rect">
            <a:avLst/>
          </a:prstGeom>
          <a:noFill/>
          <a:ln/>
        </p:spPr>
        <p:txBody>
          <a:bodyPr wrap="square" rtlCol="0" anchor="t"/>
          <a:lstStyle/>
          <a:p>
            <a:pPr marL="0" indent="0">
              <a:buNone/>
            </a:pPr>
            <a:r>
              <a:rPr lang="en-US" sz="1100" dirty="0">
                <a:solidFill>
                  <a:srgbClr val="4A5568"/>
                </a:solidFill>
                <a:latin typeface="Calibri" pitchFamily="34" charset="0"/>
                <a:ea typeface="Calibri" pitchFamily="34" charset="-122"/>
                <a:cs typeface="Calibri" pitchFamily="34" charset="-120"/>
              </a:rPr>
              <a:t>Path recalculated every 15 frames. Slow-motion: skip every 3rd frame (gp.slowTimer). Euclidean distance &lt; 15px triggers repulsion.</a:t>
            </a:r>
            <a:endParaRPr lang="en-US" sz="1100" dirty="0"/>
          </a:p>
        </p:txBody>
      </p:sp>
      <p:sp>
        <p:nvSpPr>
          <p:cNvPr id="17" name="Shape 15"/>
          <p:cNvSpPr/>
          <p:nvPr/>
        </p:nvSpPr>
        <p:spPr>
          <a:xfrm>
            <a:off x="365760" y="3520440"/>
            <a:ext cx="5029200" cy="1280160"/>
          </a:xfrm>
          <a:prstGeom prst="rect">
            <a:avLst/>
          </a:prstGeom>
          <a:solidFill>
            <a:srgbClr val="1A2E44"/>
          </a:solidFill>
          <a:ln w="12700">
            <a:solidFill>
              <a:srgbClr val="3A7BD5"/>
            </a:solidFill>
            <a:prstDash val="solid"/>
          </a:ln>
        </p:spPr>
        <p:txBody>
          <a:bodyPr/>
          <a:lstStyle/>
          <a:p>
            <a:endParaRPr lang="en-GB"/>
          </a:p>
        </p:txBody>
      </p:sp>
      <p:sp>
        <p:nvSpPr>
          <p:cNvPr id="18" name="Shape 16"/>
          <p:cNvSpPr/>
          <p:nvPr/>
        </p:nvSpPr>
        <p:spPr>
          <a:xfrm>
            <a:off x="2679192" y="3840480"/>
            <a:ext cx="402336" cy="402336"/>
          </a:xfrm>
          <a:prstGeom prst="line">
            <a:avLst/>
          </a:prstGeom>
          <a:solidFill>
            <a:srgbClr val="2A4A6B"/>
          </a:solidFill>
          <a:ln w="6350">
            <a:solidFill>
              <a:srgbClr val="3A7BD5"/>
            </a:solidFill>
            <a:prstDash val="solid"/>
          </a:ln>
        </p:spPr>
        <p:txBody>
          <a:bodyPr/>
          <a:lstStyle/>
          <a:p>
            <a:endParaRPr lang="en-GB"/>
          </a:p>
        </p:txBody>
      </p:sp>
      <p:sp>
        <p:nvSpPr>
          <p:cNvPr id="22" name="Shape 20"/>
          <p:cNvSpPr/>
          <p:nvPr/>
        </p:nvSpPr>
        <p:spPr>
          <a:xfrm>
            <a:off x="5532120" y="3520440"/>
            <a:ext cx="3246120" cy="1280160"/>
          </a:xfrm>
          <a:prstGeom prst="rect">
            <a:avLst/>
          </a:prstGeom>
          <a:solidFill>
            <a:srgbClr val="0D1B2A"/>
          </a:solidFill>
          <a:ln w="6350">
            <a:solidFill>
              <a:srgbClr val="2A4A6B"/>
            </a:solidFill>
            <a:prstDash val="solid"/>
          </a:ln>
        </p:spPr>
        <p:txBody>
          <a:bodyPr/>
          <a:lstStyle/>
          <a:p>
            <a:endParaRPr lang="en-GB"/>
          </a:p>
        </p:txBody>
      </p:sp>
      <p:sp>
        <p:nvSpPr>
          <p:cNvPr id="23" name="Shape 21"/>
          <p:cNvSpPr/>
          <p:nvPr/>
        </p:nvSpPr>
        <p:spPr>
          <a:xfrm>
            <a:off x="5641848" y="3611880"/>
            <a:ext cx="109728" cy="109728"/>
          </a:xfrm>
          <a:prstGeom prst="line">
            <a:avLst/>
          </a:prstGeom>
          <a:solidFill>
            <a:srgbClr val="FF5F57"/>
          </a:solidFill>
          <a:ln w="12700">
            <a:solidFill>
              <a:srgbClr val="FF5F57"/>
            </a:solidFill>
            <a:prstDash val="solid"/>
          </a:ln>
        </p:spPr>
        <p:txBody>
          <a:bodyPr/>
          <a:lstStyle/>
          <a:p>
            <a:endParaRPr lang="en-GB"/>
          </a:p>
        </p:txBody>
      </p:sp>
      <p:sp>
        <p:nvSpPr>
          <p:cNvPr id="24" name="Shape 22"/>
          <p:cNvSpPr/>
          <p:nvPr/>
        </p:nvSpPr>
        <p:spPr>
          <a:xfrm>
            <a:off x="5843016" y="3611880"/>
            <a:ext cx="109728" cy="109728"/>
          </a:xfrm>
          <a:prstGeom prst="line">
            <a:avLst/>
          </a:prstGeom>
          <a:solidFill>
            <a:srgbClr val="FFBD2E"/>
          </a:solidFill>
          <a:ln w="12700">
            <a:solidFill>
              <a:srgbClr val="FFBD2E"/>
            </a:solidFill>
            <a:prstDash val="solid"/>
          </a:ln>
        </p:spPr>
        <p:txBody>
          <a:bodyPr/>
          <a:lstStyle/>
          <a:p>
            <a:endParaRPr lang="en-GB"/>
          </a:p>
        </p:txBody>
      </p:sp>
      <p:sp>
        <p:nvSpPr>
          <p:cNvPr id="25" name="Shape 23"/>
          <p:cNvSpPr/>
          <p:nvPr/>
        </p:nvSpPr>
        <p:spPr>
          <a:xfrm>
            <a:off x="6044184" y="3611880"/>
            <a:ext cx="109728" cy="109728"/>
          </a:xfrm>
          <a:prstGeom prst="line">
            <a:avLst/>
          </a:prstGeom>
          <a:solidFill>
            <a:srgbClr val="28C840"/>
          </a:solidFill>
          <a:ln w="12700">
            <a:solidFill>
              <a:srgbClr val="28C840"/>
            </a:solidFill>
            <a:prstDash val="solid"/>
          </a:ln>
        </p:spPr>
        <p:txBody>
          <a:bodyPr/>
          <a:lstStyle/>
          <a:p>
            <a:endParaRPr lang="en-GB"/>
          </a:p>
        </p:txBody>
      </p:sp>
      <p:sp>
        <p:nvSpPr>
          <p:cNvPr id="26" name="Text 24"/>
          <p:cNvSpPr/>
          <p:nvPr/>
        </p:nvSpPr>
        <p:spPr>
          <a:xfrm>
            <a:off x="5641848" y="3776472"/>
            <a:ext cx="3026664" cy="987552"/>
          </a:xfrm>
          <a:prstGeom prst="rect">
            <a:avLst/>
          </a:prstGeom>
          <a:noFill/>
          <a:ln/>
        </p:spPr>
        <p:txBody>
          <a:bodyPr wrap="square" rtlCol="0" anchor="t"/>
          <a:lstStyle/>
          <a:p>
            <a:pPr marL="0" indent="0">
              <a:buNone/>
            </a:pPr>
            <a:r>
              <a:rPr lang="en-US" sz="950" dirty="0">
                <a:solidFill>
                  <a:srgbClr val="A8D8FF"/>
                </a:solidFill>
                <a:latin typeface="Consolas" pitchFamily="34" charset="0"/>
                <a:ea typeface="Consolas" pitchFamily="34" charset="-122"/>
                <a:cs typeface="Consolas" pitchFamily="34" charset="-120"/>
              </a:rPr>
              <a:t>for(Node n : openList) {</a:t>
            </a:r>
            <a:endParaRPr lang="en-US" sz="950" dirty="0"/>
          </a:p>
          <a:p>
            <a:pPr marL="0" indent="0">
              <a:buNone/>
            </a:pPr>
            <a:r>
              <a:rPr lang="en-US" sz="950" dirty="0">
                <a:solidFill>
                  <a:srgbClr val="A8D8FF"/>
                </a:solidFill>
                <a:latin typeface="Consolas" pitchFamily="34" charset="0"/>
                <a:ea typeface="Consolas" pitchFamily="34" charset="-122"/>
                <a:cs typeface="Consolas" pitchFamily="34" charset="-120"/>
              </a:rPr>
              <a:t>  if(n.fCost &lt; current.fCost) current = n;</a:t>
            </a:r>
            <a:endParaRPr lang="en-US" sz="950" dirty="0"/>
          </a:p>
          <a:p>
            <a:pPr marL="0" indent="0">
              <a:buNone/>
            </a:pPr>
            <a:r>
              <a:rPr lang="en-US" sz="950" dirty="0">
                <a:solidFill>
                  <a:srgbClr val="A8D8FF"/>
                </a:solidFill>
                <a:latin typeface="Consolas" pitchFamily="34" charset="0"/>
                <a:ea typeface="Consolas" pitchFamily="34" charset="-122"/>
                <a:cs typeface="Consolas" pitchFamily="34" charset="-120"/>
              </a:rPr>
              <a:t>}</a:t>
            </a:r>
            <a:endParaRPr lang="en-US" sz="950" dirty="0"/>
          </a:p>
          <a:p>
            <a:pPr marL="0" indent="0">
              <a:buNone/>
            </a:pPr>
            <a:r>
              <a:rPr lang="en-US" sz="950" dirty="0">
                <a:solidFill>
                  <a:srgbClr val="A8D8FF"/>
                </a:solidFill>
                <a:latin typeface="Consolas" pitchFamily="34" charset="0"/>
                <a:ea typeface="Consolas" pitchFamily="34" charset="-122"/>
                <a:cs typeface="Consolas" pitchFamily="34" charset="-120"/>
              </a:rPr>
              <a:t>public enum State { CHASE, WANDER }</a:t>
            </a:r>
            <a:endParaRPr lang="en-US" sz="950" dirty="0"/>
          </a:p>
        </p:txBody>
      </p:sp>
      <p:pic>
        <p:nvPicPr>
          <p:cNvPr id="28" name="Picture 27">
            <a:extLst>
              <a:ext uri="{FF2B5EF4-FFF2-40B4-BE49-F238E27FC236}">
                <a16:creationId xmlns:a16="http://schemas.microsoft.com/office/drawing/2014/main" id="{C3E571C4-A17F-B870-3318-7EB7093AA1B6}"/>
              </a:ext>
            </a:extLst>
          </p:cNvPr>
          <p:cNvPicPr>
            <a:picLocks noChangeAspect="1"/>
          </p:cNvPicPr>
          <p:nvPr/>
        </p:nvPicPr>
        <p:blipFill>
          <a:blip r:embed="rId3"/>
          <a:srcRect t="25870" b="18742"/>
          <a:stretch>
            <a:fillRect/>
          </a:stretch>
        </p:blipFill>
        <p:spPr>
          <a:xfrm>
            <a:off x="1239932" y="3520440"/>
            <a:ext cx="2959299" cy="128016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8EDF2"/>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1B3A5C"/>
          </a:solidFill>
          <a:ln w="12700">
            <a:solidFill>
              <a:srgbClr val="1B3A5C"/>
            </a:solidFill>
            <a:prstDash val="solid"/>
          </a:ln>
        </p:spPr>
        <p:txBody>
          <a:bodyPr/>
          <a:lstStyle/>
          <a:p>
            <a:endParaRPr lang="en-GB"/>
          </a:p>
        </p:txBody>
      </p:sp>
      <p:sp>
        <p:nvSpPr>
          <p:cNvPr id="3" name="Text 1"/>
          <p:cNvSpPr/>
          <p:nvPr/>
        </p:nvSpPr>
        <p:spPr>
          <a:xfrm>
            <a:off x="365760" y="182880"/>
            <a:ext cx="8503920" cy="594360"/>
          </a:xfrm>
          <a:prstGeom prst="rect">
            <a:avLst/>
          </a:prstGeom>
          <a:noFill/>
          <a:ln/>
        </p:spPr>
        <p:txBody>
          <a:bodyPr wrap="square" lIns="0" tIns="0" rIns="0" bIns="0" rtlCol="0" anchor="ctr"/>
          <a:lstStyle/>
          <a:p>
            <a:pPr marL="0" indent="0" algn="l">
              <a:buNone/>
            </a:pPr>
            <a:r>
              <a:rPr lang="en-US" sz="2400" b="1" dirty="0">
                <a:solidFill>
                  <a:srgbClr val="1B3A5C"/>
                </a:solidFill>
                <a:latin typeface="Georgia" pitchFamily="34" charset="0"/>
                <a:ea typeface="Georgia" pitchFamily="34" charset="-122"/>
                <a:cs typeface="Georgia" pitchFamily="34" charset="-120"/>
              </a:rPr>
              <a:t>Node.java  &amp;  Map.java</a:t>
            </a:r>
            <a:endParaRPr lang="en-US" sz="2400" dirty="0"/>
          </a:p>
        </p:txBody>
      </p:sp>
      <p:sp>
        <p:nvSpPr>
          <p:cNvPr id="4" name="Shape 2"/>
          <p:cNvSpPr/>
          <p:nvPr/>
        </p:nvSpPr>
        <p:spPr>
          <a:xfrm>
            <a:off x="365760" y="804672"/>
            <a:ext cx="8412480" cy="36576"/>
          </a:xfrm>
          <a:prstGeom prst="rect">
            <a:avLst/>
          </a:prstGeom>
          <a:solidFill>
            <a:srgbClr val="C0392B"/>
          </a:solidFill>
          <a:ln w="12700">
            <a:solidFill>
              <a:srgbClr val="C0392B"/>
            </a:solidFill>
            <a:prstDash val="solid"/>
          </a:ln>
        </p:spPr>
        <p:txBody>
          <a:bodyPr/>
          <a:lstStyle/>
          <a:p>
            <a:endParaRPr lang="en-GB"/>
          </a:p>
        </p:txBody>
      </p:sp>
      <p:sp>
        <p:nvSpPr>
          <p:cNvPr id="5" name="Shape 3"/>
          <p:cNvSpPr/>
          <p:nvPr/>
        </p:nvSpPr>
        <p:spPr>
          <a:xfrm>
            <a:off x="365760" y="960120"/>
            <a:ext cx="4069080" cy="2514600"/>
          </a:xfrm>
          <a:prstGeom prst="rect">
            <a:avLst/>
          </a:prstGeom>
          <a:solidFill>
            <a:srgbClr val="FFFFFF"/>
          </a:solidFill>
          <a:ln w="6350">
            <a:solidFill>
              <a:srgbClr val="D0D8E4"/>
            </a:solidFill>
            <a:prstDash val="solid"/>
          </a:ln>
          <a:effectLst>
            <a:outerShdw blurRad="50800" dist="12700" dir="8100000" algn="bl" rotWithShape="0">
              <a:srgbClr val="000000">
                <a:alpha val="8000"/>
              </a:srgbClr>
            </a:outerShdw>
          </a:effectLst>
        </p:spPr>
        <p:txBody>
          <a:bodyPr/>
          <a:lstStyle/>
          <a:p>
            <a:endParaRPr lang="en-GB"/>
          </a:p>
        </p:txBody>
      </p:sp>
      <p:sp>
        <p:nvSpPr>
          <p:cNvPr id="6" name="Shape 4"/>
          <p:cNvSpPr/>
          <p:nvPr/>
        </p:nvSpPr>
        <p:spPr>
          <a:xfrm>
            <a:off x="365760" y="960120"/>
            <a:ext cx="64008" cy="2514600"/>
          </a:xfrm>
          <a:prstGeom prst="rect">
            <a:avLst/>
          </a:prstGeom>
          <a:solidFill>
            <a:srgbClr val="1B3A5C"/>
          </a:solidFill>
          <a:ln w="12700">
            <a:solidFill>
              <a:srgbClr val="1B3A5C"/>
            </a:solidFill>
            <a:prstDash val="solid"/>
          </a:ln>
        </p:spPr>
        <p:txBody>
          <a:bodyPr/>
          <a:lstStyle/>
          <a:p>
            <a:endParaRPr lang="en-GB"/>
          </a:p>
        </p:txBody>
      </p:sp>
      <p:sp>
        <p:nvSpPr>
          <p:cNvPr id="7" name="Text 5"/>
          <p:cNvSpPr/>
          <p:nvPr/>
        </p:nvSpPr>
        <p:spPr>
          <a:xfrm>
            <a:off x="594360" y="1005840"/>
            <a:ext cx="3657600" cy="347472"/>
          </a:xfrm>
          <a:prstGeom prst="rect">
            <a:avLst/>
          </a:prstGeom>
          <a:noFill/>
          <a:ln/>
        </p:spPr>
        <p:txBody>
          <a:bodyPr wrap="square" lIns="0" tIns="0" rIns="0" bIns="0" rtlCol="0" anchor="ctr"/>
          <a:lstStyle/>
          <a:p>
            <a:pPr marL="0" indent="0">
              <a:buNone/>
            </a:pPr>
            <a:r>
              <a:rPr lang="en-US" sz="1500" b="1" dirty="0">
                <a:solidFill>
                  <a:srgbClr val="1B3A5C"/>
                </a:solidFill>
                <a:latin typeface="Georgia" pitchFamily="34" charset="0"/>
                <a:ea typeface="Georgia" pitchFamily="34" charset="-122"/>
                <a:cs typeface="Georgia" pitchFamily="34" charset="-120"/>
              </a:rPr>
              <a:t>Node.java</a:t>
            </a:r>
            <a:endParaRPr lang="en-US" sz="1500" dirty="0"/>
          </a:p>
        </p:txBody>
      </p:sp>
      <p:sp>
        <p:nvSpPr>
          <p:cNvPr id="8" name="Shape 6"/>
          <p:cNvSpPr/>
          <p:nvPr/>
        </p:nvSpPr>
        <p:spPr>
          <a:xfrm>
            <a:off x="594360" y="1371600"/>
            <a:ext cx="658368" cy="256032"/>
          </a:xfrm>
          <a:prstGeom prst="roundRect">
            <a:avLst>
              <a:gd name="adj" fmla="val 17857"/>
            </a:avLst>
          </a:prstGeom>
          <a:solidFill>
            <a:srgbClr val="C0392B"/>
          </a:solidFill>
          <a:ln w="12700">
            <a:solidFill>
              <a:srgbClr val="C0392B"/>
            </a:solidFill>
            <a:prstDash val="solid"/>
          </a:ln>
        </p:spPr>
        <p:txBody>
          <a:bodyPr/>
          <a:lstStyle/>
          <a:p>
            <a:endParaRPr lang="en-GB"/>
          </a:p>
        </p:txBody>
      </p:sp>
      <p:sp>
        <p:nvSpPr>
          <p:cNvPr id="9" name="Text 7"/>
          <p:cNvSpPr/>
          <p:nvPr/>
        </p:nvSpPr>
        <p:spPr>
          <a:xfrm>
            <a:off x="594360" y="1371600"/>
            <a:ext cx="658368"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POJO</a:t>
            </a:r>
            <a:endParaRPr lang="en-US" sz="900" dirty="0"/>
          </a:p>
        </p:txBody>
      </p:sp>
      <p:sp>
        <p:nvSpPr>
          <p:cNvPr id="10" name="Text 8"/>
          <p:cNvSpPr/>
          <p:nvPr/>
        </p:nvSpPr>
        <p:spPr>
          <a:xfrm>
            <a:off x="594360" y="1691640"/>
            <a:ext cx="3657600" cy="1600200"/>
          </a:xfrm>
          <a:prstGeom prst="rect">
            <a:avLst/>
          </a:prstGeom>
          <a:noFill/>
          <a:ln/>
        </p:spPr>
        <p:txBody>
          <a:bodyPr wrap="square" rtlCol="0" anchor="t"/>
          <a:lstStyle/>
          <a:p>
            <a:pPr marL="0" indent="0">
              <a:buNone/>
            </a:pPr>
            <a:r>
              <a:rPr lang="en-US" sz="1150" b="1" dirty="0">
                <a:solidFill>
                  <a:srgbClr val="4A5568"/>
                </a:solidFill>
                <a:latin typeface="Calibri" pitchFamily="34" charset="0"/>
                <a:ea typeface="Calibri" pitchFamily="34" charset="-122"/>
                <a:cs typeface="Calibri" pitchFamily="34" charset="-120"/>
              </a:rPr>
              <a:t>Linked-List Path Chain</a:t>
            </a:r>
            <a:endParaRPr lang="en-US" sz="1150" dirty="0"/>
          </a:p>
          <a:p>
            <a:pPr marL="0" indent="0">
              <a:buNone/>
            </a:pPr>
            <a:r>
              <a:rPr lang="en-US" sz="1150" dirty="0">
                <a:solidFill>
                  <a:srgbClr val="4A5568"/>
                </a:solidFill>
                <a:latin typeface="Calibri" pitchFamily="34" charset="0"/>
                <a:ea typeface="Calibri" pitchFamily="34" charset="-122"/>
                <a:cs typeface="Calibri" pitchFamily="34" charset="-120"/>
              </a:rPr>
              <a:t>parent field chains nodes from goal backwards. Direct field access — no getters — for inner-loop performance.
</a:t>
            </a:r>
            <a:endParaRPr lang="en-US" sz="1150" dirty="0"/>
          </a:p>
          <a:p>
            <a:pPr marL="0" indent="0">
              <a:buNone/>
            </a:pPr>
            <a:r>
              <a:rPr lang="en-US" sz="1150" b="1" dirty="0">
                <a:solidFill>
                  <a:srgbClr val="4A5568"/>
                </a:solidFill>
                <a:latin typeface="Calibri" pitchFamily="34" charset="0"/>
                <a:ea typeface="Calibri" pitchFamily="34" charset="-122"/>
                <a:cs typeface="Calibri" pitchFamily="34" charset="-120"/>
              </a:rPr>
              <a:t>Open/Closed Principle</a:t>
            </a:r>
            <a:endParaRPr lang="en-US" sz="1150" dirty="0"/>
          </a:p>
          <a:p>
            <a:pPr marL="0" indent="0">
              <a:buNone/>
            </a:pPr>
            <a:r>
              <a:rPr lang="en-US" sz="1150" dirty="0">
                <a:solidFill>
                  <a:srgbClr val="4A5568"/>
                </a:solidFill>
                <a:latin typeface="Calibri" pitchFamily="34" charset="0"/>
                <a:ea typeface="Calibri" pitchFamily="34" charset="-122"/>
                <a:cs typeface="Calibri" pitchFamily="34" charset="-120"/>
              </a:rPr>
              <a:t>calculateFCost() = gCost + hCost — single change point if cost formula evolves.</a:t>
            </a:r>
            <a:endParaRPr lang="en-US" sz="1150" dirty="0"/>
          </a:p>
        </p:txBody>
      </p:sp>
      <p:sp>
        <p:nvSpPr>
          <p:cNvPr id="11" name="Shape 9"/>
          <p:cNvSpPr/>
          <p:nvPr/>
        </p:nvSpPr>
        <p:spPr>
          <a:xfrm>
            <a:off x="365760" y="3566160"/>
            <a:ext cx="4069080" cy="914400"/>
          </a:xfrm>
          <a:prstGeom prst="rect">
            <a:avLst/>
          </a:prstGeom>
          <a:solidFill>
            <a:srgbClr val="0D1B2A"/>
          </a:solidFill>
          <a:ln w="6350">
            <a:solidFill>
              <a:srgbClr val="2A4A6B"/>
            </a:solidFill>
            <a:prstDash val="solid"/>
          </a:ln>
        </p:spPr>
        <p:txBody>
          <a:bodyPr/>
          <a:lstStyle/>
          <a:p>
            <a:endParaRPr lang="en-GB"/>
          </a:p>
        </p:txBody>
      </p:sp>
      <p:sp>
        <p:nvSpPr>
          <p:cNvPr id="12" name="Shape 10"/>
          <p:cNvSpPr/>
          <p:nvPr/>
        </p:nvSpPr>
        <p:spPr>
          <a:xfrm>
            <a:off x="475488" y="3657600"/>
            <a:ext cx="109728" cy="109728"/>
          </a:xfrm>
          <a:prstGeom prst="line">
            <a:avLst/>
          </a:prstGeom>
          <a:solidFill>
            <a:srgbClr val="FF5F57"/>
          </a:solidFill>
          <a:ln w="12700">
            <a:solidFill>
              <a:srgbClr val="FF5F57"/>
            </a:solidFill>
            <a:prstDash val="solid"/>
          </a:ln>
        </p:spPr>
        <p:txBody>
          <a:bodyPr/>
          <a:lstStyle/>
          <a:p>
            <a:endParaRPr lang="en-GB"/>
          </a:p>
        </p:txBody>
      </p:sp>
      <p:sp>
        <p:nvSpPr>
          <p:cNvPr id="13" name="Shape 11"/>
          <p:cNvSpPr/>
          <p:nvPr/>
        </p:nvSpPr>
        <p:spPr>
          <a:xfrm>
            <a:off x="676656" y="3657600"/>
            <a:ext cx="109728" cy="109728"/>
          </a:xfrm>
          <a:prstGeom prst="line">
            <a:avLst/>
          </a:prstGeom>
          <a:solidFill>
            <a:srgbClr val="FFBD2E"/>
          </a:solidFill>
          <a:ln w="12700">
            <a:solidFill>
              <a:srgbClr val="FFBD2E"/>
            </a:solidFill>
            <a:prstDash val="solid"/>
          </a:ln>
        </p:spPr>
        <p:txBody>
          <a:bodyPr/>
          <a:lstStyle/>
          <a:p>
            <a:endParaRPr lang="en-GB"/>
          </a:p>
        </p:txBody>
      </p:sp>
      <p:sp>
        <p:nvSpPr>
          <p:cNvPr id="14" name="Shape 12"/>
          <p:cNvSpPr/>
          <p:nvPr/>
        </p:nvSpPr>
        <p:spPr>
          <a:xfrm>
            <a:off x="877824" y="3657600"/>
            <a:ext cx="109728" cy="109728"/>
          </a:xfrm>
          <a:prstGeom prst="line">
            <a:avLst/>
          </a:prstGeom>
          <a:solidFill>
            <a:srgbClr val="28C840"/>
          </a:solidFill>
          <a:ln w="12700">
            <a:solidFill>
              <a:srgbClr val="28C840"/>
            </a:solidFill>
            <a:prstDash val="solid"/>
          </a:ln>
        </p:spPr>
        <p:txBody>
          <a:bodyPr/>
          <a:lstStyle/>
          <a:p>
            <a:endParaRPr lang="en-GB"/>
          </a:p>
        </p:txBody>
      </p:sp>
      <p:sp>
        <p:nvSpPr>
          <p:cNvPr id="15" name="Text 13"/>
          <p:cNvSpPr/>
          <p:nvPr/>
        </p:nvSpPr>
        <p:spPr>
          <a:xfrm>
            <a:off x="475488" y="3822192"/>
            <a:ext cx="3849624" cy="621792"/>
          </a:xfrm>
          <a:prstGeom prst="rect">
            <a:avLst/>
          </a:prstGeom>
          <a:noFill/>
          <a:ln/>
        </p:spPr>
        <p:txBody>
          <a:bodyPr wrap="square" rtlCol="0" anchor="t"/>
          <a:lstStyle/>
          <a:p>
            <a:pPr marL="0" indent="0">
              <a:buNone/>
            </a:pPr>
            <a:r>
              <a:rPr lang="en-US" sz="950" dirty="0">
                <a:solidFill>
                  <a:srgbClr val="A8D8FF"/>
                </a:solidFill>
                <a:latin typeface="Consolas" pitchFamily="34" charset="0"/>
                <a:ea typeface="Consolas" pitchFamily="34" charset="-122"/>
                <a:cs typeface="Consolas" pitchFamily="34" charset="-120"/>
              </a:rPr>
              <a:t>int col, row, gCost, hCost, fCost;</a:t>
            </a:r>
            <a:endParaRPr lang="en-US" sz="950" dirty="0"/>
          </a:p>
          <a:p>
            <a:pPr marL="0" indent="0">
              <a:buNone/>
            </a:pPr>
            <a:r>
              <a:rPr lang="en-US" sz="950" dirty="0">
                <a:solidFill>
                  <a:srgbClr val="A8D8FF"/>
                </a:solidFill>
                <a:latin typeface="Consolas" pitchFamily="34" charset="0"/>
                <a:ea typeface="Consolas" pitchFamily="34" charset="-122"/>
                <a:cs typeface="Consolas" pitchFamily="34" charset="-120"/>
              </a:rPr>
              <a:t>Node parent;</a:t>
            </a:r>
            <a:endParaRPr lang="en-US" sz="950" dirty="0"/>
          </a:p>
          <a:p>
            <a:pPr marL="0" indent="0">
              <a:buNone/>
            </a:pPr>
            <a:r>
              <a:rPr lang="en-US" sz="950" dirty="0">
                <a:solidFill>
                  <a:srgbClr val="A8D8FF"/>
                </a:solidFill>
                <a:latin typeface="Consolas" pitchFamily="34" charset="0"/>
                <a:ea typeface="Consolas" pitchFamily="34" charset="-122"/>
                <a:cs typeface="Consolas" pitchFamily="34" charset="-120"/>
              </a:rPr>
              <a:t>void calculateFCost() { fCost = gCost + hCost; }</a:t>
            </a:r>
            <a:endParaRPr lang="en-US" sz="950" dirty="0"/>
          </a:p>
        </p:txBody>
      </p:sp>
      <p:sp>
        <p:nvSpPr>
          <p:cNvPr id="16" name="Shape 14"/>
          <p:cNvSpPr/>
          <p:nvPr/>
        </p:nvSpPr>
        <p:spPr>
          <a:xfrm>
            <a:off x="4709160" y="960120"/>
            <a:ext cx="4069080" cy="2514600"/>
          </a:xfrm>
          <a:prstGeom prst="rect">
            <a:avLst/>
          </a:prstGeom>
          <a:solidFill>
            <a:srgbClr val="FFFFFF"/>
          </a:solidFill>
          <a:ln w="6350">
            <a:solidFill>
              <a:srgbClr val="D0D8E4"/>
            </a:solidFill>
            <a:prstDash val="solid"/>
          </a:ln>
          <a:effectLst>
            <a:outerShdw blurRad="50800" dist="12700" dir="8100000" algn="bl" rotWithShape="0">
              <a:srgbClr val="000000">
                <a:alpha val="8000"/>
              </a:srgbClr>
            </a:outerShdw>
          </a:effectLst>
        </p:spPr>
        <p:txBody>
          <a:bodyPr/>
          <a:lstStyle/>
          <a:p>
            <a:endParaRPr lang="en-GB"/>
          </a:p>
        </p:txBody>
      </p:sp>
      <p:sp>
        <p:nvSpPr>
          <p:cNvPr id="17" name="Shape 15"/>
          <p:cNvSpPr/>
          <p:nvPr/>
        </p:nvSpPr>
        <p:spPr>
          <a:xfrm>
            <a:off x="4709160" y="960120"/>
            <a:ext cx="64008" cy="2514600"/>
          </a:xfrm>
          <a:prstGeom prst="rect">
            <a:avLst/>
          </a:prstGeom>
          <a:solidFill>
            <a:srgbClr val="C0392B"/>
          </a:solidFill>
          <a:ln w="12700">
            <a:solidFill>
              <a:srgbClr val="C0392B"/>
            </a:solidFill>
            <a:prstDash val="solid"/>
          </a:ln>
        </p:spPr>
        <p:txBody>
          <a:bodyPr/>
          <a:lstStyle/>
          <a:p>
            <a:endParaRPr lang="en-GB"/>
          </a:p>
        </p:txBody>
      </p:sp>
      <p:sp>
        <p:nvSpPr>
          <p:cNvPr id="18" name="Text 16"/>
          <p:cNvSpPr/>
          <p:nvPr/>
        </p:nvSpPr>
        <p:spPr>
          <a:xfrm>
            <a:off x="4937760" y="1005840"/>
            <a:ext cx="3657600" cy="347472"/>
          </a:xfrm>
          <a:prstGeom prst="rect">
            <a:avLst/>
          </a:prstGeom>
          <a:noFill/>
          <a:ln/>
        </p:spPr>
        <p:txBody>
          <a:bodyPr wrap="square" lIns="0" tIns="0" rIns="0" bIns="0" rtlCol="0" anchor="ctr"/>
          <a:lstStyle/>
          <a:p>
            <a:pPr marL="0" indent="0">
              <a:buNone/>
            </a:pPr>
            <a:r>
              <a:rPr lang="en-US" sz="1500" b="1" dirty="0">
                <a:solidFill>
                  <a:srgbClr val="1B3A5C"/>
                </a:solidFill>
                <a:latin typeface="Georgia" pitchFamily="34" charset="0"/>
                <a:ea typeface="Georgia" pitchFamily="34" charset="-122"/>
                <a:cs typeface="Georgia" pitchFamily="34" charset="-120"/>
              </a:rPr>
              <a:t>Map.java</a:t>
            </a:r>
            <a:endParaRPr lang="en-US" sz="1500" dirty="0"/>
          </a:p>
        </p:txBody>
      </p:sp>
      <p:sp>
        <p:nvSpPr>
          <p:cNvPr id="19" name="Shape 17"/>
          <p:cNvSpPr/>
          <p:nvPr/>
        </p:nvSpPr>
        <p:spPr>
          <a:xfrm>
            <a:off x="4937760" y="1371600"/>
            <a:ext cx="1618488" cy="256032"/>
          </a:xfrm>
          <a:prstGeom prst="roundRect">
            <a:avLst>
              <a:gd name="adj" fmla="val 17857"/>
            </a:avLst>
          </a:prstGeom>
          <a:solidFill>
            <a:srgbClr val="C0392B"/>
          </a:solidFill>
          <a:ln w="12700">
            <a:solidFill>
              <a:srgbClr val="C0392B"/>
            </a:solidFill>
            <a:prstDash val="solid"/>
          </a:ln>
        </p:spPr>
        <p:txBody>
          <a:bodyPr/>
          <a:lstStyle/>
          <a:p>
            <a:endParaRPr lang="en-GB"/>
          </a:p>
        </p:txBody>
      </p:sp>
      <p:sp>
        <p:nvSpPr>
          <p:cNvPr id="20" name="Text 18"/>
          <p:cNvSpPr/>
          <p:nvPr/>
        </p:nvSpPr>
        <p:spPr>
          <a:xfrm>
            <a:off x="4937760" y="1371600"/>
            <a:ext cx="1618488"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PROCEDURAL GEN</a:t>
            </a:r>
            <a:endParaRPr lang="en-US" sz="900" dirty="0"/>
          </a:p>
        </p:txBody>
      </p:sp>
      <p:sp>
        <p:nvSpPr>
          <p:cNvPr id="21" name="Text 19"/>
          <p:cNvSpPr/>
          <p:nvPr/>
        </p:nvSpPr>
        <p:spPr>
          <a:xfrm>
            <a:off x="4937760" y="1691640"/>
            <a:ext cx="3657600" cy="1600200"/>
          </a:xfrm>
          <a:prstGeom prst="rect">
            <a:avLst/>
          </a:prstGeom>
          <a:noFill/>
          <a:ln/>
        </p:spPr>
        <p:txBody>
          <a:bodyPr wrap="square" rtlCol="0" anchor="t"/>
          <a:lstStyle/>
          <a:p>
            <a:pPr marL="0" indent="0">
              <a:buNone/>
            </a:pPr>
            <a:r>
              <a:rPr lang="en-US" sz="1150" b="1" dirty="0">
                <a:solidFill>
                  <a:srgbClr val="4A5568"/>
                </a:solidFill>
                <a:latin typeface="Calibri" pitchFamily="34" charset="0"/>
                <a:ea typeface="Calibri" pitchFamily="34" charset="-122"/>
                <a:cs typeface="Calibri" pitchFamily="34" charset="-120"/>
              </a:rPr>
              <a:t>Wall Scaling</a:t>
            </a:r>
            <a:endParaRPr lang="en-US" sz="1150" dirty="0"/>
          </a:p>
          <a:p>
            <a:pPr marL="0" indent="0">
              <a:buNone/>
            </a:pPr>
            <a:r>
              <a:rPr lang="en-US" sz="1150" dirty="0">
                <a:solidFill>
                  <a:srgbClr val="4A5568"/>
                </a:solidFill>
                <a:latin typeface="Calibri" pitchFamily="34" charset="0"/>
                <a:ea typeface="Calibri" pitchFamily="34" charset="-122"/>
                <a:cs typeface="Calibri" pitchFamily="34" charset="-120"/>
              </a:rPr>
              <a:t>wallChance = 20 + ((level-1)/5)*5, capped at 40%. 3 layouts: normal, arena (4 pillars), chase corridor.
</a:t>
            </a:r>
            <a:endParaRPr lang="en-US" sz="1150" dirty="0"/>
          </a:p>
          <a:p>
            <a:pPr marL="0" indent="0">
              <a:buNone/>
            </a:pPr>
            <a:r>
              <a:rPr lang="en-US" sz="1150" b="1" dirty="0">
                <a:solidFill>
                  <a:srgbClr val="4A5568"/>
                </a:solidFill>
                <a:latin typeface="Calibri" pitchFamily="34" charset="0"/>
                <a:ea typeface="Calibri" pitchFamily="34" charset="-122"/>
                <a:cs typeface="Calibri" pitchFamily="34" charset="-120"/>
              </a:rPr>
              <a:t>Path Carver</a:t>
            </a:r>
            <a:endParaRPr lang="en-US" sz="1150" dirty="0"/>
          </a:p>
          <a:p>
            <a:pPr marL="0" indent="0">
              <a:buNone/>
            </a:pPr>
            <a:r>
              <a:rPr lang="en-US" sz="1150" dirty="0">
                <a:solidFill>
                  <a:srgbClr val="4A5568"/>
                </a:solidFill>
                <a:latin typeface="Calibri" pitchFamily="34" charset="0"/>
                <a:ea typeface="Calibri" pitchFamily="34" charset="-122"/>
                <a:cs typeface="Calibri" pitchFamily="34" charset="-120"/>
              </a:rPr>
              <a:t>Drunk-walk carves 2×2 corridor from spawn to exit. map[endY][endX] = 2 stamps the exit.</a:t>
            </a:r>
            <a:endParaRPr lang="en-US" sz="1150" dirty="0"/>
          </a:p>
        </p:txBody>
      </p:sp>
      <p:sp>
        <p:nvSpPr>
          <p:cNvPr id="22" name="Shape 20"/>
          <p:cNvSpPr/>
          <p:nvPr/>
        </p:nvSpPr>
        <p:spPr>
          <a:xfrm>
            <a:off x="4709160" y="3566160"/>
            <a:ext cx="4069080" cy="914400"/>
          </a:xfrm>
          <a:prstGeom prst="rect">
            <a:avLst/>
          </a:prstGeom>
          <a:solidFill>
            <a:srgbClr val="0D1B2A"/>
          </a:solidFill>
          <a:ln w="6350">
            <a:solidFill>
              <a:srgbClr val="2A4A6B"/>
            </a:solidFill>
            <a:prstDash val="solid"/>
          </a:ln>
        </p:spPr>
        <p:txBody>
          <a:bodyPr/>
          <a:lstStyle/>
          <a:p>
            <a:endParaRPr lang="en-GB"/>
          </a:p>
        </p:txBody>
      </p:sp>
      <p:sp>
        <p:nvSpPr>
          <p:cNvPr id="23" name="Shape 21"/>
          <p:cNvSpPr/>
          <p:nvPr/>
        </p:nvSpPr>
        <p:spPr>
          <a:xfrm>
            <a:off x="4818888" y="3657600"/>
            <a:ext cx="109728" cy="109728"/>
          </a:xfrm>
          <a:prstGeom prst="line">
            <a:avLst/>
          </a:prstGeom>
          <a:solidFill>
            <a:srgbClr val="FF5F57"/>
          </a:solidFill>
          <a:ln w="12700">
            <a:solidFill>
              <a:srgbClr val="FF5F57"/>
            </a:solidFill>
            <a:prstDash val="solid"/>
          </a:ln>
        </p:spPr>
        <p:txBody>
          <a:bodyPr/>
          <a:lstStyle/>
          <a:p>
            <a:endParaRPr lang="en-GB"/>
          </a:p>
        </p:txBody>
      </p:sp>
      <p:sp>
        <p:nvSpPr>
          <p:cNvPr id="24" name="Shape 22"/>
          <p:cNvSpPr/>
          <p:nvPr/>
        </p:nvSpPr>
        <p:spPr>
          <a:xfrm>
            <a:off x="5020056" y="3657600"/>
            <a:ext cx="109728" cy="109728"/>
          </a:xfrm>
          <a:prstGeom prst="line">
            <a:avLst/>
          </a:prstGeom>
          <a:solidFill>
            <a:srgbClr val="FFBD2E"/>
          </a:solidFill>
          <a:ln w="12700">
            <a:solidFill>
              <a:srgbClr val="FFBD2E"/>
            </a:solidFill>
            <a:prstDash val="solid"/>
          </a:ln>
        </p:spPr>
        <p:txBody>
          <a:bodyPr/>
          <a:lstStyle/>
          <a:p>
            <a:endParaRPr lang="en-GB"/>
          </a:p>
        </p:txBody>
      </p:sp>
      <p:sp>
        <p:nvSpPr>
          <p:cNvPr id="25" name="Shape 23"/>
          <p:cNvSpPr/>
          <p:nvPr/>
        </p:nvSpPr>
        <p:spPr>
          <a:xfrm>
            <a:off x="5221224" y="3657600"/>
            <a:ext cx="109728" cy="109728"/>
          </a:xfrm>
          <a:prstGeom prst="line">
            <a:avLst/>
          </a:prstGeom>
          <a:solidFill>
            <a:srgbClr val="28C840"/>
          </a:solidFill>
          <a:ln w="12700">
            <a:solidFill>
              <a:srgbClr val="28C840"/>
            </a:solidFill>
            <a:prstDash val="solid"/>
          </a:ln>
        </p:spPr>
        <p:txBody>
          <a:bodyPr/>
          <a:lstStyle/>
          <a:p>
            <a:endParaRPr lang="en-GB"/>
          </a:p>
        </p:txBody>
      </p:sp>
      <p:sp>
        <p:nvSpPr>
          <p:cNvPr id="26" name="Text 24"/>
          <p:cNvSpPr/>
          <p:nvPr/>
        </p:nvSpPr>
        <p:spPr>
          <a:xfrm>
            <a:off x="4818888" y="3822192"/>
            <a:ext cx="3849624" cy="621792"/>
          </a:xfrm>
          <a:prstGeom prst="rect">
            <a:avLst/>
          </a:prstGeom>
          <a:noFill/>
          <a:ln/>
        </p:spPr>
        <p:txBody>
          <a:bodyPr wrap="square" rtlCol="0" anchor="t"/>
          <a:lstStyle/>
          <a:p>
            <a:pPr marL="0" indent="0">
              <a:buNone/>
            </a:pPr>
            <a:r>
              <a:rPr lang="en-US" sz="950" dirty="0">
                <a:solidFill>
                  <a:srgbClr val="A8D8FF"/>
                </a:solidFill>
                <a:latin typeface="Consolas" pitchFamily="34" charset="0"/>
                <a:ea typeface="Consolas" pitchFamily="34" charset="-122"/>
                <a:cs typeface="Consolas" pitchFamily="34" charset="-120"/>
              </a:rPr>
              <a:t>int wallChance = 20 + ((level-1)/5)*5;</a:t>
            </a:r>
            <a:endParaRPr lang="en-US" sz="950" dirty="0"/>
          </a:p>
          <a:p>
            <a:pPr marL="0" indent="0">
              <a:buNone/>
            </a:pPr>
            <a:r>
              <a:rPr lang="en-US" sz="950" dirty="0">
                <a:solidFill>
                  <a:srgbClr val="A8D8FF"/>
                </a:solidFill>
                <a:latin typeface="Consolas" pitchFamily="34" charset="0"/>
                <a:ea typeface="Consolas" pitchFamily="34" charset="-122"/>
                <a:cs typeface="Consolas" pitchFamily="34" charset="-120"/>
              </a:rPr>
              <a:t>if (wallChance &gt; 40) wallChance = 40;</a:t>
            </a:r>
            <a:endParaRPr lang="en-US" sz="950" dirty="0"/>
          </a:p>
          <a:p>
            <a:pPr marL="0" indent="0">
              <a:buNone/>
            </a:pPr>
            <a:r>
              <a:rPr lang="en-US" sz="950" dirty="0">
                <a:solidFill>
                  <a:srgbClr val="A8D8FF"/>
                </a:solidFill>
                <a:latin typeface="Consolas" pitchFamily="34" charset="0"/>
                <a:ea typeface="Consolas" pitchFamily="34" charset="-122"/>
                <a:cs typeface="Consolas" pitchFamily="34" charset="-120"/>
              </a:rPr>
              <a:t>map[endY][endX] = 2; // stamp exit tile</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p:cNvGrpSpPr/>
        <p:nvPr/>
      </p:nvGrpSpPr>
      <p:grpSpPr>
        <a:xfrm>
          <a:off x="0" y="0"/>
          <a:ext cx="0" cy="0"/>
          <a:chOff x="0" y="0"/>
          <a:chExt cx="0" cy="0"/>
        </a:xfrm>
      </p:grpSpPr>
      <p:pic>
        <p:nvPicPr>
          <p:cNvPr id="33" name="Picture 32">
            <a:extLst>
              <a:ext uri="{FF2B5EF4-FFF2-40B4-BE49-F238E27FC236}">
                <a16:creationId xmlns:a16="http://schemas.microsoft.com/office/drawing/2014/main" id="{794E614A-1CF2-4A61-5053-D1854EA12464}"/>
              </a:ext>
            </a:extLst>
          </p:cNvPr>
          <p:cNvPicPr>
            <a:picLocks noChangeAspect="1"/>
          </p:cNvPicPr>
          <p:nvPr/>
        </p:nvPicPr>
        <p:blipFill>
          <a:blip r:embed="rId2"/>
          <a:srcRect/>
          <a:stretch>
            <a:fillRect/>
          </a:stretch>
        </p:blipFill>
        <p:spPr>
          <a:xfrm>
            <a:off x="1071355" y="-3557"/>
            <a:ext cx="6590209" cy="5147057"/>
          </a:xfrm>
          <a:prstGeom prst="rect">
            <a:avLst/>
          </a:prstGeom>
        </p:spPr>
      </p:pic>
    </p:spTree>
    <p:extLst>
      <p:ext uri="{BB962C8B-B14F-4D97-AF65-F5344CB8AC3E}">
        <p14:creationId xmlns:p14="http://schemas.microsoft.com/office/powerpoint/2010/main" val="33393595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0D1B2A"/>
        </a:solidFill>
        <a:effectLst/>
      </p:bgPr>
    </p:bg>
    <p:spTree>
      <p:nvGrpSpPr>
        <p:cNvPr id="1" name=""/>
        <p:cNvGrpSpPr/>
        <p:nvPr/>
      </p:nvGrpSpPr>
      <p:grpSpPr>
        <a:xfrm>
          <a:off x="0" y="0"/>
          <a:ext cx="0" cy="0"/>
          <a:chOff x="0" y="0"/>
          <a:chExt cx="0" cy="0"/>
        </a:xfrm>
      </p:grpSpPr>
      <p:sp>
        <p:nvSpPr>
          <p:cNvPr id="2" name="Text 0"/>
          <p:cNvSpPr/>
          <p:nvPr/>
        </p:nvSpPr>
        <p:spPr>
          <a:xfrm>
            <a:off x="640080" y="1645920"/>
            <a:ext cx="7863840" cy="1280160"/>
          </a:xfrm>
          <a:prstGeom prst="rect">
            <a:avLst/>
          </a:prstGeom>
          <a:noFill/>
          <a:ln/>
        </p:spPr>
        <p:txBody>
          <a:bodyPr wrap="square" rtlCol="0" anchor="ctr"/>
          <a:lstStyle/>
          <a:p>
            <a:pPr marL="0" indent="0" algn="ctr">
              <a:buNone/>
            </a:pPr>
            <a:r>
              <a:rPr lang="en-US" sz="4600" b="1" dirty="0">
                <a:solidFill>
                  <a:srgbClr val="FFFFFF"/>
                </a:solidFill>
                <a:latin typeface="Georgia" pitchFamily="34" charset="0"/>
                <a:ea typeface="Georgia" pitchFamily="34" charset="-122"/>
                <a:cs typeface="Georgia" pitchFamily="34" charset="-120"/>
              </a:rPr>
              <a:t>Game Mechanics</a:t>
            </a:r>
            <a:endParaRPr lang="en-US" sz="4600" dirty="0"/>
          </a:p>
        </p:txBody>
      </p:sp>
      <p:sp>
        <p:nvSpPr>
          <p:cNvPr id="3" name="Text 1"/>
          <p:cNvSpPr/>
          <p:nvPr/>
        </p:nvSpPr>
        <p:spPr>
          <a:xfrm>
            <a:off x="640080" y="3017520"/>
            <a:ext cx="7863840" cy="640080"/>
          </a:xfrm>
          <a:prstGeom prst="rect">
            <a:avLst/>
          </a:prstGeom>
          <a:noFill/>
          <a:ln/>
        </p:spPr>
        <p:txBody>
          <a:bodyPr wrap="square" rtlCol="0" anchor="ctr"/>
          <a:lstStyle/>
          <a:p>
            <a:pPr marL="0" indent="0" algn="ctr">
              <a:buNone/>
            </a:pPr>
            <a:r>
              <a:rPr lang="en-US" sz="1800" dirty="0">
                <a:solidFill>
                  <a:srgbClr val="D6E4F7"/>
                </a:solidFill>
                <a:latin typeface="Calibri" pitchFamily="34" charset="0"/>
                <a:ea typeface="Calibri" pitchFamily="34" charset="-122"/>
                <a:cs typeface="Calibri" pitchFamily="34" charset="-120"/>
              </a:rPr>
              <a:t>Arrow  ·  ExplosionTracker  ·  Crystal</a:t>
            </a:r>
            <a:endParaRPr lang="en-US" sz="1800" dirty="0"/>
          </a:p>
        </p:txBody>
      </p:sp>
      <p:sp>
        <p:nvSpPr>
          <p:cNvPr id="4" name="Shape 2"/>
          <p:cNvSpPr/>
          <p:nvPr/>
        </p:nvSpPr>
        <p:spPr>
          <a:xfrm>
            <a:off x="3840480" y="4297680"/>
            <a:ext cx="1234440" cy="256032"/>
          </a:xfrm>
          <a:prstGeom prst="roundRect">
            <a:avLst>
              <a:gd name="adj" fmla="val 17857"/>
            </a:avLst>
          </a:prstGeom>
          <a:solidFill>
            <a:srgbClr val="C0392B"/>
          </a:solidFill>
          <a:ln w="12700">
            <a:solidFill>
              <a:srgbClr val="C0392B"/>
            </a:solidFill>
            <a:prstDash val="solid"/>
          </a:ln>
        </p:spPr>
        <p:txBody>
          <a:bodyPr/>
          <a:lstStyle/>
          <a:p>
            <a:endParaRPr lang="en-GB"/>
          </a:p>
        </p:txBody>
      </p:sp>
      <p:sp>
        <p:nvSpPr>
          <p:cNvPr id="5" name="Text 3"/>
          <p:cNvSpPr/>
          <p:nvPr/>
        </p:nvSpPr>
        <p:spPr>
          <a:xfrm>
            <a:off x="3840480" y="4297680"/>
            <a:ext cx="1234440"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SECTION 04</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E8EDF2"/>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1B3A5C"/>
          </a:solidFill>
          <a:ln w="12700">
            <a:solidFill>
              <a:srgbClr val="1B3A5C"/>
            </a:solidFill>
            <a:prstDash val="solid"/>
          </a:ln>
        </p:spPr>
        <p:txBody>
          <a:bodyPr/>
          <a:lstStyle/>
          <a:p>
            <a:endParaRPr lang="en-GB"/>
          </a:p>
        </p:txBody>
      </p:sp>
      <p:sp>
        <p:nvSpPr>
          <p:cNvPr id="3" name="Text 1"/>
          <p:cNvSpPr/>
          <p:nvPr/>
        </p:nvSpPr>
        <p:spPr>
          <a:xfrm>
            <a:off x="365760" y="182880"/>
            <a:ext cx="8503920" cy="594360"/>
          </a:xfrm>
          <a:prstGeom prst="rect">
            <a:avLst/>
          </a:prstGeom>
          <a:noFill/>
          <a:ln/>
        </p:spPr>
        <p:txBody>
          <a:bodyPr wrap="square" lIns="0" tIns="0" rIns="0" bIns="0" rtlCol="0" anchor="ctr"/>
          <a:lstStyle/>
          <a:p>
            <a:pPr marL="0" indent="0" algn="l">
              <a:buNone/>
            </a:pPr>
            <a:r>
              <a:rPr lang="en-US" sz="2400" b="1" dirty="0">
                <a:solidFill>
                  <a:srgbClr val="1B3A5C"/>
                </a:solidFill>
                <a:latin typeface="Georgia" pitchFamily="34" charset="0"/>
                <a:ea typeface="Georgia" pitchFamily="34" charset="-122"/>
                <a:cs typeface="Georgia" pitchFamily="34" charset="-120"/>
              </a:rPr>
              <a:t>Arrow.java  &amp;  ExplosionTracker.java</a:t>
            </a:r>
            <a:endParaRPr lang="en-US" sz="2400" dirty="0"/>
          </a:p>
        </p:txBody>
      </p:sp>
      <p:sp>
        <p:nvSpPr>
          <p:cNvPr id="4" name="Shape 2"/>
          <p:cNvSpPr/>
          <p:nvPr/>
        </p:nvSpPr>
        <p:spPr>
          <a:xfrm>
            <a:off x="365760" y="804672"/>
            <a:ext cx="8412480" cy="36576"/>
          </a:xfrm>
          <a:prstGeom prst="rect">
            <a:avLst/>
          </a:prstGeom>
          <a:solidFill>
            <a:srgbClr val="C0392B"/>
          </a:solidFill>
          <a:ln w="12700">
            <a:solidFill>
              <a:srgbClr val="C0392B"/>
            </a:solidFill>
            <a:prstDash val="solid"/>
          </a:ln>
        </p:spPr>
        <p:txBody>
          <a:bodyPr/>
          <a:lstStyle/>
          <a:p>
            <a:endParaRPr lang="en-GB"/>
          </a:p>
        </p:txBody>
      </p:sp>
      <p:sp>
        <p:nvSpPr>
          <p:cNvPr id="5" name="Shape 3"/>
          <p:cNvSpPr/>
          <p:nvPr/>
        </p:nvSpPr>
        <p:spPr>
          <a:xfrm>
            <a:off x="365760" y="960120"/>
            <a:ext cx="4069080" cy="2377440"/>
          </a:xfrm>
          <a:prstGeom prst="rect">
            <a:avLst/>
          </a:prstGeom>
          <a:solidFill>
            <a:srgbClr val="FFFFFF"/>
          </a:solidFill>
          <a:ln w="6350">
            <a:solidFill>
              <a:srgbClr val="D0D8E4"/>
            </a:solidFill>
            <a:prstDash val="solid"/>
          </a:ln>
          <a:effectLst>
            <a:outerShdw blurRad="50800" dist="12700" dir="8100000" algn="bl" rotWithShape="0">
              <a:srgbClr val="000000">
                <a:alpha val="8000"/>
              </a:srgbClr>
            </a:outerShdw>
          </a:effectLst>
        </p:spPr>
        <p:txBody>
          <a:bodyPr/>
          <a:lstStyle/>
          <a:p>
            <a:endParaRPr lang="en-GB"/>
          </a:p>
        </p:txBody>
      </p:sp>
      <p:sp>
        <p:nvSpPr>
          <p:cNvPr id="6" name="Shape 4"/>
          <p:cNvSpPr/>
          <p:nvPr/>
        </p:nvSpPr>
        <p:spPr>
          <a:xfrm>
            <a:off x="365760" y="960120"/>
            <a:ext cx="64008" cy="2377440"/>
          </a:xfrm>
          <a:prstGeom prst="rect">
            <a:avLst/>
          </a:prstGeom>
          <a:solidFill>
            <a:srgbClr val="C0392B"/>
          </a:solidFill>
          <a:ln w="12700">
            <a:solidFill>
              <a:srgbClr val="C0392B"/>
            </a:solidFill>
            <a:prstDash val="solid"/>
          </a:ln>
        </p:spPr>
        <p:txBody>
          <a:bodyPr/>
          <a:lstStyle/>
          <a:p>
            <a:endParaRPr lang="en-GB"/>
          </a:p>
        </p:txBody>
      </p:sp>
      <p:sp>
        <p:nvSpPr>
          <p:cNvPr id="7" name="Text 5"/>
          <p:cNvSpPr/>
          <p:nvPr/>
        </p:nvSpPr>
        <p:spPr>
          <a:xfrm>
            <a:off x="594360" y="1005840"/>
            <a:ext cx="3657600" cy="347472"/>
          </a:xfrm>
          <a:prstGeom prst="rect">
            <a:avLst/>
          </a:prstGeom>
          <a:noFill/>
          <a:ln/>
        </p:spPr>
        <p:txBody>
          <a:bodyPr wrap="square" lIns="0" tIns="0" rIns="0" bIns="0" rtlCol="0" anchor="ctr"/>
          <a:lstStyle/>
          <a:p>
            <a:pPr marL="0" indent="0">
              <a:buNone/>
            </a:pPr>
            <a:r>
              <a:rPr lang="en-US" sz="1500" b="1" dirty="0">
                <a:solidFill>
                  <a:srgbClr val="1B3A5C"/>
                </a:solidFill>
                <a:latin typeface="Georgia" pitchFamily="34" charset="0"/>
                <a:ea typeface="Georgia" pitchFamily="34" charset="-122"/>
                <a:cs typeface="Georgia" pitchFamily="34" charset="-120"/>
              </a:rPr>
              <a:t>Arrow.java</a:t>
            </a:r>
            <a:endParaRPr lang="en-US" sz="1500" dirty="0"/>
          </a:p>
        </p:txBody>
      </p:sp>
      <p:sp>
        <p:nvSpPr>
          <p:cNvPr id="8" name="Shape 6"/>
          <p:cNvSpPr/>
          <p:nvPr/>
        </p:nvSpPr>
        <p:spPr>
          <a:xfrm>
            <a:off x="594360" y="1371600"/>
            <a:ext cx="1234440" cy="256032"/>
          </a:xfrm>
          <a:prstGeom prst="roundRect">
            <a:avLst>
              <a:gd name="adj" fmla="val 17857"/>
            </a:avLst>
          </a:prstGeom>
          <a:solidFill>
            <a:srgbClr val="C0392B"/>
          </a:solidFill>
          <a:ln w="12700">
            <a:solidFill>
              <a:srgbClr val="C0392B"/>
            </a:solidFill>
            <a:prstDash val="solid"/>
          </a:ln>
        </p:spPr>
        <p:txBody>
          <a:bodyPr/>
          <a:lstStyle/>
          <a:p>
            <a:endParaRPr lang="en-GB"/>
          </a:p>
        </p:txBody>
      </p:sp>
      <p:sp>
        <p:nvSpPr>
          <p:cNvPr id="9" name="Text 7"/>
          <p:cNvSpPr/>
          <p:nvPr/>
        </p:nvSpPr>
        <p:spPr>
          <a:xfrm>
            <a:off x="594360" y="1371600"/>
            <a:ext cx="1234440"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PROJECTILE</a:t>
            </a:r>
            <a:endParaRPr lang="en-US" sz="900" dirty="0"/>
          </a:p>
        </p:txBody>
      </p:sp>
      <p:sp>
        <p:nvSpPr>
          <p:cNvPr id="10" name="Text 8"/>
          <p:cNvSpPr/>
          <p:nvPr/>
        </p:nvSpPr>
        <p:spPr>
          <a:xfrm>
            <a:off x="594360" y="1691640"/>
            <a:ext cx="3657600" cy="1508760"/>
          </a:xfrm>
          <a:prstGeom prst="rect">
            <a:avLst/>
          </a:prstGeom>
          <a:noFill/>
          <a:ln/>
        </p:spPr>
        <p:txBody>
          <a:bodyPr wrap="square" rtlCol="0" anchor="t"/>
          <a:lstStyle/>
          <a:p>
            <a:pPr marL="0" indent="0">
              <a:buNone/>
            </a:pPr>
            <a:r>
              <a:rPr lang="en-US" sz="1150" b="1" dirty="0">
                <a:solidFill>
                  <a:srgbClr val="4A5568"/>
                </a:solidFill>
                <a:latin typeface="Calibri" pitchFamily="34" charset="0"/>
                <a:ea typeface="Calibri" pitchFamily="34" charset="-122"/>
                <a:cs typeface="Calibri" pitchFamily="34" charset="-120"/>
              </a:rPr>
              <a:t>Dual Constructors</a:t>
            </a:r>
            <a:endParaRPr lang="en-US" sz="1150" dirty="0"/>
          </a:p>
          <a:p>
            <a:pPr marL="0" indent="0">
              <a:buNone/>
            </a:pPr>
            <a:r>
              <a:rPr lang="en-US" sz="1150" dirty="0">
                <a:solidFill>
                  <a:srgbClr val="4A5568"/>
                </a:solidFill>
                <a:latin typeface="Calibri" pitchFamily="34" charset="0"/>
                <a:ea typeface="Calibri" pitchFamily="34" charset="-122"/>
                <a:cs typeface="Calibri" pitchFamily="34" charset="-120"/>
              </a:rPr>
              <a:t>One takes target (x,y) and computes angle; one takes pre-computed (dx,dy) for Frenzy spread-shots.
</a:t>
            </a:r>
            <a:endParaRPr lang="en-US" sz="1150" dirty="0"/>
          </a:p>
          <a:p>
            <a:pPr marL="0" indent="0">
              <a:buNone/>
            </a:pPr>
            <a:r>
              <a:rPr lang="en-US" sz="1150" b="1" dirty="0">
                <a:solidFill>
                  <a:srgbClr val="4A5568"/>
                </a:solidFill>
                <a:latin typeface="Calibri" pitchFamily="34" charset="0"/>
                <a:ea typeface="Calibri" pitchFamily="34" charset="-122"/>
                <a:cs typeface="Calibri" pitchFamily="34" charset="-120"/>
              </a:rPr>
              <a:t>Vector Movement</a:t>
            </a:r>
            <a:endParaRPr lang="en-US" sz="1150" dirty="0"/>
          </a:p>
          <a:p>
            <a:pPr marL="0" indent="0">
              <a:buNone/>
            </a:pPr>
            <a:r>
              <a:rPr lang="en-US" sz="1150" dirty="0">
                <a:solidFill>
                  <a:srgbClr val="4A5568"/>
                </a:solidFill>
                <a:latin typeface="Calibri" pitchFamily="34" charset="0"/>
                <a:ea typeface="Calibri" pitchFamily="34" charset="-122"/>
                <a:cs typeface="Calibri" pitchFamily="34" charset="-120"/>
              </a:rPr>
              <a:t>atan2 → angle; cos/sin × speed = dx/dy. Centre tile lookup deactivates on wall hit.</a:t>
            </a:r>
            <a:endParaRPr lang="en-US" sz="1150" dirty="0"/>
          </a:p>
        </p:txBody>
      </p:sp>
      <p:sp>
        <p:nvSpPr>
          <p:cNvPr id="11" name="Shape 9"/>
          <p:cNvSpPr/>
          <p:nvPr/>
        </p:nvSpPr>
        <p:spPr>
          <a:xfrm>
            <a:off x="365760" y="3429000"/>
            <a:ext cx="4069080" cy="914400"/>
          </a:xfrm>
          <a:prstGeom prst="rect">
            <a:avLst/>
          </a:prstGeom>
          <a:solidFill>
            <a:srgbClr val="0D1B2A"/>
          </a:solidFill>
          <a:ln w="6350">
            <a:solidFill>
              <a:srgbClr val="2A4A6B"/>
            </a:solidFill>
            <a:prstDash val="solid"/>
          </a:ln>
        </p:spPr>
        <p:txBody>
          <a:bodyPr/>
          <a:lstStyle/>
          <a:p>
            <a:endParaRPr lang="en-GB"/>
          </a:p>
        </p:txBody>
      </p:sp>
      <p:sp>
        <p:nvSpPr>
          <p:cNvPr id="12" name="Shape 10"/>
          <p:cNvSpPr/>
          <p:nvPr/>
        </p:nvSpPr>
        <p:spPr>
          <a:xfrm>
            <a:off x="475488" y="3520440"/>
            <a:ext cx="109728" cy="109728"/>
          </a:xfrm>
          <a:prstGeom prst="line">
            <a:avLst/>
          </a:prstGeom>
          <a:solidFill>
            <a:srgbClr val="FF5F57"/>
          </a:solidFill>
          <a:ln w="12700">
            <a:solidFill>
              <a:srgbClr val="FF5F57"/>
            </a:solidFill>
            <a:prstDash val="solid"/>
          </a:ln>
        </p:spPr>
        <p:txBody>
          <a:bodyPr/>
          <a:lstStyle/>
          <a:p>
            <a:endParaRPr lang="en-GB"/>
          </a:p>
        </p:txBody>
      </p:sp>
      <p:sp>
        <p:nvSpPr>
          <p:cNvPr id="13" name="Shape 11"/>
          <p:cNvSpPr/>
          <p:nvPr/>
        </p:nvSpPr>
        <p:spPr>
          <a:xfrm>
            <a:off x="676656" y="3520440"/>
            <a:ext cx="109728" cy="109728"/>
          </a:xfrm>
          <a:prstGeom prst="line">
            <a:avLst/>
          </a:prstGeom>
          <a:solidFill>
            <a:srgbClr val="FFBD2E"/>
          </a:solidFill>
          <a:ln w="12700">
            <a:solidFill>
              <a:srgbClr val="FFBD2E"/>
            </a:solidFill>
            <a:prstDash val="solid"/>
          </a:ln>
        </p:spPr>
        <p:txBody>
          <a:bodyPr/>
          <a:lstStyle/>
          <a:p>
            <a:endParaRPr lang="en-GB"/>
          </a:p>
        </p:txBody>
      </p:sp>
      <p:sp>
        <p:nvSpPr>
          <p:cNvPr id="14" name="Shape 12"/>
          <p:cNvSpPr/>
          <p:nvPr/>
        </p:nvSpPr>
        <p:spPr>
          <a:xfrm>
            <a:off x="877824" y="3520440"/>
            <a:ext cx="109728" cy="109728"/>
          </a:xfrm>
          <a:prstGeom prst="line">
            <a:avLst/>
          </a:prstGeom>
          <a:solidFill>
            <a:srgbClr val="28C840"/>
          </a:solidFill>
          <a:ln w="12700">
            <a:solidFill>
              <a:srgbClr val="28C840"/>
            </a:solidFill>
            <a:prstDash val="solid"/>
          </a:ln>
        </p:spPr>
        <p:txBody>
          <a:bodyPr/>
          <a:lstStyle/>
          <a:p>
            <a:endParaRPr lang="en-GB"/>
          </a:p>
        </p:txBody>
      </p:sp>
      <p:sp>
        <p:nvSpPr>
          <p:cNvPr id="15" name="Text 13"/>
          <p:cNvSpPr/>
          <p:nvPr/>
        </p:nvSpPr>
        <p:spPr>
          <a:xfrm>
            <a:off x="475488" y="3685032"/>
            <a:ext cx="3849624" cy="621792"/>
          </a:xfrm>
          <a:prstGeom prst="rect">
            <a:avLst/>
          </a:prstGeom>
          <a:noFill/>
          <a:ln/>
        </p:spPr>
        <p:txBody>
          <a:bodyPr wrap="square" rtlCol="0" anchor="t"/>
          <a:lstStyle/>
          <a:p>
            <a:pPr marL="0" indent="0">
              <a:buNone/>
            </a:pPr>
            <a:r>
              <a:rPr lang="en-US" sz="950" dirty="0">
                <a:solidFill>
                  <a:srgbClr val="A8D8FF"/>
                </a:solidFill>
                <a:latin typeface="Consolas" pitchFamily="34" charset="0"/>
                <a:ea typeface="Consolas" pitchFamily="34" charset="-122"/>
                <a:cs typeface="Consolas" pitchFamily="34" charset="-120"/>
              </a:rPr>
              <a:t>double angle = Math.atan2(targetY-startY,targetX-startX);</a:t>
            </a:r>
            <a:endParaRPr lang="en-US" sz="950" dirty="0"/>
          </a:p>
          <a:p>
            <a:pPr marL="0" indent="0">
              <a:buNone/>
            </a:pPr>
            <a:r>
              <a:rPr lang="en-US" sz="950" dirty="0">
                <a:solidFill>
                  <a:srgbClr val="A8D8FF"/>
                </a:solidFill>
                <a:latin typeface="Consolas" pitchFamily="34" charset="0"/>
                <a:ea typeface="Consolas" pitchFamily="34" charset="-122"/>
                <a:cs typeface="Consolas" pitchFamily="34" charset="-120"/>
              </a:rPr>
              <a:t>this.dx = Math.cos(angle) * speed;</a:t>
            </a:r>
            <a:endParaRPr lang="en-US" sz="950" dirty="0"/>
          </a:p>
          <a:p>
            <a:pPr marL="0" indent="0">
              <a:buNone/>
            </a:pPr>
            <a:r>
              <a:rPr lang="en-US" sz="950" dirty="0">
                <a:solidFill>
                  <a:srgbClr val="A8D8FF"/>
                </a:solidFill>
                <a:latin typeface="Consolas" pitchFamily="34" charset="0"/>
                <a:ea typeface="Consolas" pitchFamily="34" charset="-122"/>
                <a:cs typeface="Consolas" pitchFamily="34" charset="-120"/>
              </a:rPr>
              <a:t>this.dy = Math.sin(angle) * speed;</a:t>
            </a:r>
            <a:endParaRPr lang="en-US" sz="950" dirty="0"/>
          </a:p>
        </p:txBody>
      </p:sp>
      <p:sp>
        <p:nvSpPr>
          <p:cNvPr id="16" name="Shape 14"/>
          <p:cNvSpPr/>
          <p:nvPr/>
        </p:nvSpPr>
        <p:spPr>
          <a:xfrm>
            <a:off x="4709160" y="960120"/>
            <a:ext cx="4069080" cy="2377440"/>
          </a:xfrm>
          <a:prstGeom prst="rect">
            <a:avLst/>
          </a:prstGeom>
          <a:solidFill>
            <a:srgbClr val="FFFFFF"/>
          </a:solidFill>
          <a:ln w="6350">
            <a:solidFill>
              <a:srgbClr val="D0D8E4"/>
            </a:solidFill>
            <a:prstDash val="solid"/>
          </a:ln>
          <a:effectLst>
            <a:outerShdw blurRad="50800" dist="12700" dir="8100000" algn="bl" rotWithShape="0">
              <a:srgbClr val="000000">
                <a:alpha val="8000"/>
              </a:srgbClr>
            </a:outerShdw>
          </a:effectLst>
        </p:spPr>
        <p:txBody>
          <a:bodyPr/>
          <a:lstStyle/>
          <a:p>
            <a:endParaRPr lang="en-GB"/>
          </a:p>
        </p:txBody>
      </p:sp>
      <p:sp>
        <p:nvSpPr>
          <p:cNvPr id="17" name="Shape 15"/>
          <p:cNvSpPr/>
          <p:nvPr/>
        </p:nvSpPr>
        <p:spPr>
          <a:xfrm>
            <a:off x="4709160" y="960120"/>
            <a:ext cx="64008" cy="2377440"/>
          </a:xfrm>
          <a:prstGeom prst="rect">
            <a:avLst/>
          </a:prstGeom>
          <a:solidFill>
            <a:srgbClr val="1B3A5C"/>
          </a:solidFill>
          <a:ln w="12700">
            <a:solidFill>
              <a:srgbClr val="1B3A5C"/>
            </a:solidFill>
            <a:prstDash val="solid"/>
          </a:ln>
        </p:spPr>
        <p:txBody>
          <a:bodyPr/>
          <a:lstStyle/>
          <a:p>
            <a:endParaRPr lang="en-GB"/>
          </a:p>
        </p:txBody>
      </p:sp>
      <p:sp>
        <p:nvSpPr>
          <p:cNvPr id="18" name="Text 16"/>
          <p:cNvSpPr/>
          <p:nvPr/>
        </p:nvSpPr>
        <p:spPr>
          <a:xfrm>
            <a:off x="4937760" y="1005840"/>
            <a:ext cx="3657600" cy="347472"/>
          </a:xfrm>
          <a:prstGeom prst="rect">
            <a:avLst/>
          </a:prstGeom>
          <a:noFill/>
          <a:ln/>
        </p:spPr>
        <p:txBody>
          <a:bodyPr wrap="square" lIns="0" tIns="0" rIns="0" bIns="0" rtlCol="0" anchor="ctr"/>
          <a:lstStyle/>
          <a:p>
            <a:pPr marL="0" indent="0">
              <a:buNone/>
            </a:pPr>
            <a:r>
              <a:rPr lang="en-US" sz="1500" b="1" dirty="0">
                <a:solidFill>
                  <a:srgbClr val="1B3A5C"/>
                </a:solidFill>
                <a:latin typeface="Georgia" pitchFamily="34" charset="0"/>
                <a:ea typeface="Georgia" pitchFamily="34" charset="-122"/>
                <a:cs typeface="Georgia" pitchFamily="34" charset="-120"/>
              </a:rPr>
              <a:t>ExplosionTracker.java</a:t>
            </a:r>
            <a:endParaRPr lang="en-US" sz="1500" dirty="0"/>
          </a:p>
        </p:txBody>
      </p:sp>
      <p:sp>
        <p:nvSpPr>
          <p:cNvPr id="19" name="Shape 17"/>
          <p:cNvSpPr/>
          <p:nvPr/>
        </p:nvSpPr>
        <p:spPr>
          <a:xfrm>
            <a:off x="4937760" y="1371600"/>
            <a:ext cx="1522476" cy="256032"/>
          </a:xfrm>
          <a:prstGeom prst="roundRect">
            <a:avLst>
              <a:gd name="adj" fmla="val 17857"/>
            </a:avLst>
          </a:prstGeom>
          <a:solidFill>
            <a:srgbClr val="C0392B"/>
          </a:solidFill>
          <a:ln w="12700">
            <a:solidFill>
              <a:srgbClr val="C0392B"/>
            </a:solidFill>
            <a:prstDash val="solid"/>
          </a:ln>
        </p:spPr>
        <p:txBody>
          <a:bodyPr/>
          <a:lstStyle/>
          <a:p>
            <a:endParaRPr lang="en-GB"/>
          </a:p>
        </p:txBody>
      </p:sp>
      <p:sp>
        <p:nvSpPr>
          <p:cNvPr id="20" name="Text 18"/>
          <p:cNvSpPr/>
          <p:nvPr/>
        </p:nvSpPr>
        <p:spPr>
          <a:xfrm>
            <a:off x="4937760" y="1371600"/>
            <a:ext cx="1522476"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BOSS MECHANIC</a:t>
            </a:r>
            <a:endParaRPr lang="en-US" sz="900" dirty="0"/>
          </a:p>
        </p:txBody>
      </p:sp>
      <p:sp>
        <p:nvSpPr>
          <p:cNvPr id="21" name="Text 19"/>
          <p:cNvSpPr/>
          <p:nvPr/>
        </p:nvSpPr>
        <p:spPr>
          <a:xfrm>
            <a:off x="4937760" y="1691640"/>
            <a:ext cx="3657600" cy="1508760"/>
          </a:xfrm>
          <a:prstGeom prst="rect">
            <a:avLst/>
          </a:prstGeom>
          <a:noFill/>
          <a:ln/>
        </p:spPr>
        <p:txBody>
          <a:bodyPr wrap="square" rtlCol="0" anchor="t"/>
          <a:lstStyle/>
          <a:p>
            <a:pPr marL="0" indent="0">
              <a:buNone/>
            </a:pPr>
            <a:r>
              <a:rPr lang="en-US" sz="1150" b="1" dirty="0">
                <a:solidFill>
                  <a:srgbClr val="4A5568"/>
                </a:solidFill>
                <a:latin typeface="Calibri" pitchFamily="34" charset="0"/>
                <a:ea typeface="Calibri" pitchFamily="34" charset="-122"/>
                <a:cs typeface="Calibri" pitchFamily="34" charset="-120"/>
              </a:rPr>
              <a:t>4-Phase State Machine</a:t>
            </a:r>
            <a:endParaRPr lang="en-US" sz="1150" dirty="0"/>
          </a:p>
          <a:p>
            <a:pPr marL="0" indent="0">
              <a:buNone/>
            </a:pPr>
            <a:r>
              <a:rPr lang="en-US" sz="1150" dirty="0">
                <a:solidFill>
                  <a:srgbClr val="4A5568"/>
                </a:solidFill>
                <a:latin typeface="Calibri" pitchFamily="34" charset="0"/>
                <a:ea typeface="Calibri" pitchFamily="34" charset="-122"/>
                <a:cs typeface="Calibri" pitchFamily="34" charset="-120"/>
              </a:rPr>
              <a:t>0=Tracking (red, lerp 3s)  →  1=Locked (green 1s)  →  2=Exploding  →  3=Done
</a:t>
            </a:r>
            <a:endParaRPr lang="en-US" sz="1150" dirty="0"/>
          </a:p>
          <a:p>
            <a:pPr marL="0" indent="0">
              <a:buNone/>
            </a:pPr>
            <a:r>
              <a:rPr lang="en-US" sz="1150" b="1" dirty="0">
                <a:solidFill>
                  <a:srgbClr val="4A5568"/>
                </a:solidFill>
                <a:latin typeface="Calibri" pitchFamily="34" charset="0"/>
                <a:ea typeface="Calibri" pitchFamily="34" charset="-122"/>
                <a:cs typeface="Calibri" pitchFamily="34" charset="-120"/>
              </a:rPr>
              <a:t>AABB Blast</a:t>
            </a:r>
            <a:endParaRPr lang="en-US" sz="1150" dirty="0"/>
          </a:p>
          <a:p>
            <a:pPr marL="0" indent="0">
              <a:buNone/>
            </a:pPr>
            <a:r>
              <a:rPr lang="en-US" sz="1150" dirty="0">
                <a:solidFill>
                  <a:srgbClr val="4A5568"/>
                </a:solidFill>
                <a:latin typeface="Calibri" pitchFamily="34" charset="0"/>
                <a:ea typeface="Calibri" pitchFamily="34" charset="-122"/>
                <a:cs typeface="Calibri" pitchFamily="34" charset="-120"/>
              </a:rPr>
              <a:t>Rectangle +15px per side. Checks player AND crystals via intersects() — uniform collision for all entity types.</a:t>
            </a:r>
            <a:endParaRPr lang="en-US" sz="1150" dirty="0"/>
          </a:p>
        </p:txBody>
      </p:sp>
      <p:sp>
        <p:nvSpPr>
          <p:cNvPr id="22" name="Shape 20"/>
          <p:cNvSpPr/>
          <p:nvPr/>
        </p:nvSpPr>
        <p:spPr>
          <a:xfrm>
            <a:off x="4709160" y="3429000"/>
            <a:ext cx="4069080" cy="914400"/>
          </a:xfrm>
          <a:prstGeom prst="rect">
            <a:avLst/>
          </a:prstGeom>
          <a:solidFill>
            <a:srgbClr val="0D1B2A"/>
          </a:solidFill>
          <a:ln w="6350">
            <a:solidFill>
              <a:srgbClr val="2A4A6B"/>
            </a:solidFill>
            <a:prstDash val="solid"/>
          </a:ln>
        </p:spPr>
        <p:txBody>
          <a:bodyPr/>
          <a:lstStyle/>
          <a:p>
            <a:endParaRPr lang="en-GB"/>
          </a:p>
        </p:txBody>
      </p:sp>
      <p:sp>
        <p:nvSpPr>
          <p:cNvPr id="23" name="Shape 21"/>
          <p:cNvSpPr/>
          <p:nvPr/>
        </p:nvSpPr>
        <p:spPr>
          <a:xfrm>
            <a:off x="4818888" y="3520440"/>
            <a:ext cx="109728" cy="109728"/>
          </a:xfrm>
          <a:prstGeom prst="line">
            <a:avLst/>
          </a:prstGeom>
          <a:solidFill>
            <a:srgbClr val="FF5F57"/>
          </a:solidFill>
          <a:ln w="12700">
            <a:solidFill>
              <a:srgbClr val="FF5F57"/>
            </a:solidFill>
            <a:prstDash val="solid"/>
          </a:ln>
        </p:spPr>
        <p:txBody>
          <a:bodyPr/>
          <a:lstStyle/>
          <a:p>
            <a:endParaRPr lang="en-GB"/>
          </a:p>
        </p:txBody>
      </p:sp>
      <p:sp>
        <p:nvSpPr>
          <p:cNvPr id="24" name="Shape 22"/>
          <p:cNvSpPr/>
          <p:nvPr/>
        </p:nvSpPr>
        <p:spPr>
          <a:xfrm>
            <a:off x="5020056" y="3520440"/>
            <a:ext cx="109728" cy="109728"/>
          </a:xfrm>
          <a:prstGeom prst="line">
            <a:avLst/>
          </a:prstGeom>
          <a:solidFill>
            <a:srgbClr val="FFBD2E"/>
          </a:solidFill>
          <a:ln w="12700">
            <a:solidFill>
              <a:srgbClr val="FFBD2E"/>
            </a:solidFill>
            <a:prstDash val="solid"/>
          </a:ln>
        </p:spPr>
        <p:txBody>
          <a:bodyPr/>
          <a:lstStyle/>
          <a:p>
            <a:endParaRPr lang="en-GB"/>
          </a:p>
        </p:txBody>
      </p:sp>
      <p:sp>
        <p:nvSpPr>
          <p:cNvPr id="25" name="Shape 23"/>
          <p:cNvSpPr/>
          <p:nvPr/>
        </p:nvSpPr>
        <p:spPr>
          <a:xfrm>
            <a:off x="5221224" y="3520440"/>
            <a:ext cx="109728" cy="109728"/>
          </a:xfrm>
          <a:prstGeom prst="line">
            <a:avLst/>
          </a:prstGeom>
          <a:solidFill>
            <a:srgbClr val="28C840"/>
          </a:solidFill>
          <a:ln w="12700">
            <a:solidFill>
              <a:srgbClr val="28C840"/>
            </a:solidFill>
            <a:prstDash val="solid"/>
          </a:ln>
        </p:spPr>
        <p:txBody>
          <a:bodyPr/>
          <a:lstStyle/>
          <a:p>
            <a:endParaRPr lang="en-GB"/>
          </a:p>
        </p:txBody>
      </p:sp>
      <p:sp>
        <p:nvSpPr>
          <p:cNvPr id="26" name="Text 24"/>
          <p:cNvSpPr/>
          <p:nvPr/>
        </p:nvSpPr>
        <p:spPr>
          <a:xfrm>
            <a:off x="4818888" y="3685032"/>
            <a:ext cx="3849624" cy="621792"/>
          </a:xfrm>
          <a:prstGeom prst="rect">
            <a:avLst/>
          </a:prstGeom>
          <a:noFill/>
          <a:ln/>
        </p:spPr>
        <p:txBody>
          <a:bodyPr wrap="square" rtlCol="0" anchor="t"/>
          <a:lstStyle/>
          <a:p>
            <a:pPr marL="0" indent="0">
              <a:buNone/>
            </a:pPr>
            <a:r>
              <a:rPr lang="en-US" sz="950" dirty="0">
                <a:solidFill>
                  <a:srgbClr val="A8D8FF"/>
                </a:solidFill>
                <a:latin typeface="Consolas" pitchFamily="34" charset="0"/>
                <a:ea typeface="Consolas" pitchFamily="34" charset="-122"/>
                <a:cs typeface="Consolas" pitchFamily="34" charset="-120"/>
              </a:rPr>
              <a:t>x += (targetX - x) * 0.05; // lerp</a:t>
            </a:r>
            <a:endParaRPr lang="en-US" sz="950" dirty="0"/>
          </a:p>
          <a:p>
            <a:pPr marL="0" indent="0">
              <a:buNone/>
            </a:pPr>
            <a:r>
              <a:rPr lang="en-US" sz="950" dirty="0">
                <a:solidFill>
                  <a:srgbClr val="A8D8FF"/>
                </a:solidFill>
                <a:latin typeface="Consolas" pitchFamily="34" charset="0"/>
                <a:ea typeface="Consolas" pitchFamily="34" charset="-122"/>
                <a:cs typeface="Consolas" pitchFamily="34" charset="-120"/>
              </a:rPr>
              <a:t>Rectangle boomRect = new Rectangle(</a:t>
            </a:r>
            <a:endParaRPr lang="en-US" sz="950" dirty="0"/>
          </a:p>
          <a:p>
            <a:pPr marL="0" indent="0">
              <a:buNone/>
            </a:pPr>
            <a:r>
              <a:rPr lang="en-US" sz="950" dirty="0">
                <a:solidFill>
                  <a:srgbClr val="A8D8FF"/>
                </a:solidFill>
                <a:latin typeface="Consolas" pitchFamily="34" charset="0"/>
                <a:ea typeface="Consolas" pitchFamily="34" charset="-122"/>
                <a:cs typeface="Consolas" pitchFamily="34" charset="-120"/>
              </a:rPr>
              <a:t>  (int)x-15,(int)y-15, size+30, size+30);</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a:extLst>
            <a:ext uri="{FF2B5EF4-FFF2-40B4-BE49-F238E27FC236}">
              <a16:creationId xmlns:a16="http://schemas.microsoft.com/office/drawing/2014/main" id="{85A1EAAA-E762-EEEC-FF97-074F69EF2517}"/>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7981F4CB-FDF7-4A71-1258-9646C2AD5341}"/>
              </a:ext>
            </a:extLst>
          </p:cNvPr>
          <p:cNvPicPr>
            <a:picLocks noChangeAspect="1"/>
          </p:cNvPicPr>
          <p:nvPr/>
        </p:nvPicPr>
        <p:blipFill>
          <a:blip r:embed="rId2"/>
          <a:stretch>
            <a:fillRect/>
          </a:stretch>
        </p:blipFill>
        <p:spPr>
          <a:xfrm>
            <a:off x="1279173" y="0"/>
            <a:ext cx="6585654" cy="5143500"/>
          </a:xfrm>
          <a:prstGeom prst="rect">
            <a:avLst/>
          </a:prstGeom>
        </p:spPr>
      </p:pic>
    </p:spTree>
    <p:extLst>
      <p:ext uri="{BB962C8B-B14F-4D97-AF65-F5344CB8AC3E}">
        <p14:creationId xmlns:p14="http://schemas.microsoft.com/office/powerpoint/2010/main" val="302788496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2">
    <p:bg>
      <p:bgPr>
        <a:solidFill>
          <a:srgbClr val="E8EDF2"/>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1B3A5C"/>
          </a:solidFill>
          <a:ln w="12700">
            <a:solidFill>
              <a:srgbClr val="1B3A5C"/>
            </a:solidFill>
            <a:prstDash val="solid"/>
          </a:ln>
        </p:spPr>
        <p:txBody>
          <a:bodyPr/>
          <a:lstStyle/>
          <a:p>
            <a:endParaRPr lang="en-GB"/>
          </a:p>
        </p:txBody>
      </p:sp>
      <p:sp>
        <p:nvSpPr>
          <p:cNvPr id="3" name="Text 1"/>
          <p:cNvSpPr/>
          <p:nvPr/>
        </p:nvSpPr>
        <p:spPr>
          <a:xfrm>
            <a:off x="365760" y="182880"/>
            <a:ext cx="8503920" cy="594360"/>
          </a:xfrm>
          <a:prstGeom prst="rect">
            <a:avLst/>
          </a:prstGeom>
          <a:noFill/>
          <a:ln/>
        </p:spPr>
        <p:txBody>
          <a:bodyPr wrap="square" lIns="0" tIns="0" rIns="0" bIns="0" rtlCol="0" anchor="ctr"/>
          <a:lstStyle/>
          <a:p>
            <a:pPr marL="0" indent="0" algn="l">
              <a:buNone/>
            </a:pPr>
            <a:r>
              <a:rPr lang="en-US" sz="2400" b="1" dirty="0">
                <a:solidFill>
                  <a:srgbClr val="1B3A5C"/>
                </a:solidFill>
                <a:latin typeface="Georgia" pitchFamily="34" charset="0"/>
                <a:ea typeface="Georgia" pitchFamily="34" charset="-122"/>
                <a:cs typeface="Georgia" pitchFamily="34" charset="-120"/>
              </a:rPr>
              <a:t>Crystal.java — Collectibles &amp; Game Object Design</a:t>
            </a:r>
            <a:endParaRPr lang="en-US" sz="2400" dirty="0"/>
          </a:p>
        </p:txBody>
      </p:sp>
      <p:sp>
        <p:nvSpPr>
          <p:cNvPr id="4" name="Shape 2"/>
          <p:cNvSpPr/>
          <p:nvPr/>
        </p:nvSpPr>
        <p:spPr>
          <a:xfrm>
            <a:off x="365760" y="804672"/>
            <a:ext cx="8412480" cy="36576"/>
          </a:xfrm>
          <a:prstGeom prst="rect">
            <a:avLst/>
          </a:prstGeom>
          <a:solidFill>
            <a:srgbClr val="C0392B"/>
          </a:solidFill>
          <a:ln w="12700">
            <a:solidFill>
              <a:srgbClr val="C0392B"/>
            </a:solidFill>
            <a:prstDash val="solid"/>
          </a:ln>
        </p:spPr>
        <p:txBody>
          <a:bodyPr/>
          <a:lstStyle/>
          <a:p>
            <a:endParaRPr lang="en-GB"/>
          </a:p>
        </p:txBody>
      </p:sp>
      <p:sp>
        <p:nvSpPr>
          <p:cNvPr id="5" name="Shape 3"/>
          <p:cNvSpPr/>
          <p:nvPr/>
        </p:nvSpPr>
        <p:spPr>
          <a:xfrm>
            <a:off x="365760" y="960120"/>
            <a:ext cx="2697480" cy="2286000"/>
          </a:xfrm>
          <a:prstGeom prst="rect">
            <a:avLst/>
          </a:prstGeom>
          <a:solidFill>
            <a:srgbClr val="FFFFFF"/>
          </a:solidFill>
          <a:ln w="6350">
            <a:solidFill>
              <a:srgbClr val="D0D8E4"/>
            </a:solidFill>
            <a:prstDash val="solid"/>
          </a:ln>
          <a:effectLst>
            <a:outerShdw blurRad="50800" dist="12700" dir="8100000" algn="bl" rotWithShape="0">
              <a:srgbClr val="000000">
                <a:alpha val="8000"/>
              </a:srgbClr>
            </a:outerShdw>
          </a:effectLst>
        </p:spPr>
        <p:txBody>
          <a:bodyPr/>
          <a:lstStyle/>
          <a:p>
            <a:endParaRPr lang="en-GB"/>
          </a:p>
        </p:txBody>
      </p:sp>
      <p:sp>
        <p:nvSpPr>
          <p:cNvPr id="6" name="Shape 4"/>
          <p:cNvSpPr/>
          <p:nvPr/>
        </p:nvSpPr>
        <p:spPr>
          <a:xfrm>
            <a:off x="365760" y="960120"/>
            <a:ext cx="64008" cy="2286000"/>
          </a:xfrm>
          <a:prstGeom prst="rect">
            <a:avLst/>
          </a:prstGeom>
          <a:solidFill>
            <a:srgbClr val="1B3A5C"/>
          </a:solidFill>
          <a:ln w="12700">
            <a:solidFill>
              <a:srgbClr val="1B3A5C"/>
            </a:solidFill>
            <a:prstDash val="solid"/>
          </a:ln>
        </p:spPr>
        <p:txBody>
          <a:bodyPr/>
          <a:lstStyle/>
          <a:p>
            <a:endParaRPr lang="en-GB"/>
          </a:p>
        </p:txBody>
      </p:sp>
      <p:sp>
        <p:nvSpPr>
          <p:cNvPr id="7" name="Text 5"/>
          <p:cNvSpPr/>
          <p:nvPr/>
        </p:nvSpPr>
        <p:spPr>
          <a:xfrm>
            <a:off x="548640" y="1005840"/>
            <a:ext cx="2377440" cy="347472"/>
          </a:xfrm>
          <a:prstGeom prst="rect">
            <a:avLst/>
          </a:prstGeom>
          <a:noFill/>
          <a:ln/>
        </p:spPr>
        <p:txBody>
          <a:bodyPr wrap="square" lIns="0" tIns="0" rIns="0" bIns="0" rtlCol="0" anchor="ctr"/>
          <a:lstStyle/>
          <a:p>
            <a:pPr marL="0" indent="0">
              <a:buNone/>
            </a:pPr>
            <a:r>
              <a:rPr lang="en-US" sz="1300" b="1" dirty="0">
                <a:solidFill>
                  <a:srgbClr val="1B3A5C"/>
                </a:solidFill>
                <a:latin typeface="Georgia" pitchFamily="34" charset="0"/>
                <a:ea typeface="Georgia" pitchFamily="34" charset="-122"/>
                <a:cs typeface="Georgia" pitchFamily="34" charset="-120"/>
              </a:rPr>
              <a:t>Boolean Lifecycle</a:t>
            </a:r>
            <a:endParaRPr lang="en-US" sz="1300" dirty="0"/>
          </a:p>
        </p:txBody>
      </p:sp>
      <p:sp>
        <p:nvSpPr>
          <p:cNvPr id="8" name="Text 6"/>
          <p:cNvSpPr/>
          <p:nvPr/>
        </p:nvSpPr>
        <p:spPr>
          <a:xfrm>
            <a:off x="548640" y="1389888"/>
            <a:ext cx="2377440" cy="1737360"/>
          </a:xfrm>
          <a:prstGeom prst="rect">
            <a:avLst/>
          </a:prstGeom>
          <a:noFill/>
          <a:ln/>
        </p:spPr>
        <p:txBody>
          <a:bodyPr wrap="square" rtlCol="0" anchor="t"/>
          <a:lstStyle/>
          <a:p>
            <a:pPr marL="0" indent="0">
              <a:buNone/>
            </a:pPr>
            <a:r>
              <a:rPr lang="en-US" sz="1150" dirty="0">
                <a:solidFill>
                  <a:srgbClr val="4A5568"/>
                </a:solidFill>
                <a:latin typeface="Calibri" pitchFamily="34" charset="0"/>
                <a:ea typeface="Calibri" pitchFamily="34" charset="-122"/>
                <a:cs typeface="Calibri" pitchFamily="34" charset="-120"/>
              </a:rPr>
              <a:t>active flag controls draw() and all system checks. Avoids ConcurrentModificationException by not mutating the list during iteration.</a:t>
            </a:r>
            <a:endParaRPr lang="en-US" sz="1150" dirty="0"/>
          </a:p>
        </p:txBody>
      </p:sp>
      <p:sp>
        <p:nvSpPr>
          <p:cNvPr id="9" name="Shape 7"/>
          <p:cNvSpPr/>
          <p:nvPr/>
        </p:nvSpPr>
        <p:spPr>
          <a:xfrm>
            <a:off x="3227832" y="960120"/>
            <a:ext cx="2697480" cy="2286000"/>
          </a:xfrm>
          <a:prstGeom prst="rect">
            <a:avLst/>
          </a:prstGeom>
          <a:solidFill>
            <a:srgbClr val="FFFFFF"/>
          </a:solidFill>
          <a:ln w="6350">
            <a:solidFill>
              <a:srgbClr val="D0D8E4"/>
            </a:solidFill>
            <a:prstDash val="solid"/>
          </a:ln>
          <a:effectLst>
            <a:outerShdw blurRad="50800" dist="12700" dir="8100000" algn="bl" rotWithShape="0">
              <a:srgbClr val="000000">
                <a:alpha val="8000"/>
              </a:srgbClr>
            </a:outerShdw>
          </a:effectLst>
        </p:spPr>
        <p:txBody>
          <a:bodyPr/>
          <a:lstStyle/>
          <a:p>
            <a:endParaRPr lang="en-GB"/>
          </a:p>
        </p:txBody>
      </p:sp>
      <p:sp>
        <p:nvSpPr>
          <p:cNvPr id="10" name="Shape 8"/>
          <p:cNvSpPr/>
          <p:nvPr/>
        </p:nvSpPr>
        <p:spPr>
          <a:xfrm>
            <a:off x="3227832" y="960120"/>
            <a:ext cx="64008" cy="2286000"/>
          </a:xfrm>
          <a:prstGeom prst="rect">
            <a:avLst/>
          </a:prstGeom>
          <a:solidFill>
            <a:srgbClr val="2563A8"/>
          </a:solidFill>
          <a:ln w="12700">
            <a:solidFill>
              <a:srgbClr val="2563A8"/>
            </a:solidFill>
            <a:prstDash val="solid"/>
          </a:ln>
        </p:spPr>
        <p:txBody>
          <a:bodyPr/>
          <a:lstStyle/>
          <a:p>
            <a:endParaRPr lang="en-GB"/>
          </a:p>
        </p:txBody>
      </p:sp>
      <p:sp>
        <p:nvSpPr>
          <p:cNvPr id="11" name="Text 9"/>
          <p:cNvSpPr/>
          <p:nvPr/>
        </p:nvSpPr>
        <p:spPr>
          <a:xfrm>
            <a:off x="3410712" y="1005840"/>
            <a:ext cx="2377440" cy="347472"/>
          </a:xfrm>
          <a:prstGeom prst="rect">
            <a:avLst/>
          </a:prstGeom>
          <a:noFill/>
          <a:ln/>
        </p:spPr>
        <p:txBody>
          <a:bodyPr wrap="square" lIns="0" tIns="0" rIns="0" bIns="0" rtlCol="0" anchor="ctr"/>
          <a:lstStyle/>
          <a:p>
            <a:pPr marL="0" indent="0">
              <a:buNone/>
            </a:pPr>
            <a:r>
              <a:rPr lang="en-US" sz="1300" b="1" dirty="0">
                <a:solidFill>
                  <a:srgbClr val="1B3A5C"/>
                </a:solidFill>
                <a:latin typeface="Georgia" pitchFamily="34" charset="0"/>
                <a:ea typeface="Georgia" pitchFamily="34" charset="-122"/>
                <a:cs typeface="Georgia" pitchFamily="34" charset="-120"/>
              </a:rPr>
              <a:t>Expanded Hit Bounds</a:t>
            </a:r>
            <a:endParaRPr lang="en-US" sz="1300" dirty="0"/>
          </a:p>
        </p:txBody>
      </p:sp>
      <p:sp>
        <p:nvSpPr>
          <p:cNvPr id="12" name="Text 10"/>
          <p:cNvSpPr/>
          <p:nvPr/>
        </p:nvSpPr>
        <p:spPr>
          <a:xfrm>
            <a:off x="3410712" y="1389888"/>
            <a:ext cx="2377440" cy="1737360"/>
          </a:xfrm>
          <a:prstGeom prst="rect">
            <a:avLst/>
          </a:prstGeom>
          <a:noFill/>
          <a:ln/>
        </p:spPr>
        <p:txBody>
          <a:bodyPr wrap="square" rtlCol="0" anchor="t"/>
          <a:lstStyle/>
          <a:p>
            <a:pPr marL="0" indent="0">
              <a:buNone/>
            </a:pPr>
            <a:r>
              <a:rPr lang="en-US" sz="1150" dirty="0">
                <a:solidFill>
                  <a:srgbClr val="4A5568"/>
                </a:solidFill>
                <a:latin typeface="Calibri" pitchFamily="34" charset="0"/>
                <a:ea typeface="Calibri" pitchFamily="34" charset="-122"/>
                <a:cs typeface="Calibri" pitchFamily="34" charset="-120"/>
              </a:rPr>
              <a:t>18px padding per side on getExpandedBounds() — makes pickup feel responsive without changing the visual footprint.</a:t>
            </a:r>
            <a:endParaRPr lang="en-US" sz="1150" dirty="0"/>
          </a:p>
        </p:txBody>
      </p:sp>
      <p:sp>
        <p:nvSpPr>
          <p:cNvPr id="13" name="Shape 11"/>
          <p:cNvSpPr/>
          <p:nvPr/>
        </p:nvSpPr>
        <p:spPr>
          <a:xfrm>
            <a:off x="6089904" y="960120"/>
            <a:ext cx="2697480" cy="2286000"/>
          </a:xfrm>
          <a:prstGeom prst="rect">
            <a:avLst/>
          </a:prstGeom>
          <a:solidFill>
            <a:srgbClr val="FFFFFF"/>
          </a:solidFill>
          <a:ln w="6350">
            <a:solidFill>
              <a:srgbClr val="D0D8E4"/>
            </a:solidFill>
            <a:prstDash val="solid"/>
          </a:ln>
          <a:effectLst>
            <a:outerShdw blurRad="50800" dist="12700" dir="8100000" algn="bl" rotWithShape="0">
              <a:srgbClr val="000000">
                <a:alpha val="8000"/>
              </a:srgbClr>
            </a:outerShdw>
          </a:effectLst>
        </p:spPr>
        <p:txBody>
          <a:bodyPr/>
          <a:lstStyle/>
          <a:p>
            <a:endParaRPr lang="en-GB"/>
          </a:p>
        </p:txBody>
      </p:sp>
      <p:sp>
        <p:nvSpPr>
          <p:cNvPr id="14" name="Shape 12"/>
          <p:cNvSpPr/>
          <p:nvPr/>
        </p:nvSpPr>
        <p:spPr>
          <a:xfrm>
            <a:off x="6089904" y="960120"/>
            <a:ext cx="64008" cy="2286000"/>
          </a:xfrm>
          <a:prstGeom prst="rect">
            <a:avLst/>
          </a:prstGeom>
          <a:solidFill>
            <a:srgbClr val="C0392B"/>
          </a:solidFill>
          <a:ln w="12700">
            <a:solidFill>
              <a:srgbClr val="C0392B"/>
            </a:solidFill>
            <a:prstDash val="solid"/>
          </a:ln>
        </p:spPr>
        <p:txBody>
          <a:bodyPr/>
          <a:lstStyle/>
          <a:p>
            <a:endParaRPr lang="en-GB"/>
          </a:p>
        </p:txBody>
      </p:sp>
      <p:sp>
        <p:nvSpPr>
          <p:cNvPr id="15" name="Text 13"/>
          <p:cNvSpPr/>
          <p:nvPr/>
        </p:nvSpPr>
        <p:spPr>
          <a:xfrm>
            <a:off x="6272784" y="1005840"/>
            <a:ext cx="2377440" cy="347472"/>
          </a:xfrm>
          <a:prstGeom prst="rect">
            <a:avLst/>
          </a:prstGeom>
          <a:noFill/>
          <a:ln/>
        </p:spPr>
        <p:txBody>
          <a:bodyPr wrap="square" lIns="0" tIns="0" rIns="0" bIns="0" rtlCol="0" anchor="ctr"/>
          <a:lstStyle/>
          <a:p>
            <a:pPr marL="0" indent="0">
              <a:buNone/>
            </a:pPr>
            <a:r>
              <a:rPr lang="en-US" sz="1300" b="1" dirty="0">
                <a:solidFill>
                  <a:srgbClr val="1B3A5C"/>
                </a:solidFill>
                <a:latin typeface="Georgia" pitchFamily="34" charset="0"/>
                <a:ea typeface="Georgia" pitchFamily="34" charset="-122"/>
                <a:cs typeface="Georgia" pitchFamily="34" charset="-120"/>
              </a:rPr>
              <a:t>Dynamic Scaling</a:t>
            </a:r>
            <a:endParaRPr lang="en-US" sz="1300" dirty="0"/>
          </a:p>
        </p:txBody>
      </p:sp>
      <p:sp>
        <p:nvSpPr>
          <p:cNvPr id="16" name="Text 14"/>
          <p:cNvSpPr/>
          <p:nvPr/>
        </p:nvSpPr>
        <p:spPr>
          <a:xfrm>
            <a:off x="6272784" y="1389888"/>
            <a:ext cx="2377440" cy="1737360"/>
          </a:xfrm>
          <a:prstGeom prst="rect">
            <a:avLst/>
          </a:prstGeom>
          <a:noFill/>
          <a:ln/>
        </p:spPr>
        <p:txBody>
          <a:bodyPr wrap="square" rtlCol="0" anchor="t"/>
          <a:lstStyle/>
          <a:p>
            <a:pPr marL="0" indent="0">
              <a:buNone/>
            </a:pPr>
            <a:r>
              <a:rPr lang="en-US" sz="1150" dirty="0">
                <a:solidFill>
                  <a:srgbClr val="4A5568"/>
                </a:solidFill>
                <a:latin typeface="Calibri" pitchFamily="34" charset="0"/>
                <a:ea typeface="Calibri" pitchFamily="34" charset="-122"/>
                <a:cs typeface="Calibri" pitchFamily="34" charset="-120"/>
              </a:rPr>
              <a:t>Drawn at 2× tile size. Aspect ratio computed from BufferedImage.getWidth/Height(). Fallback: fillPolygon() diamond.</a:t>
            </a:r>
            <a:endParaRPr lang="en-US" sz="1150" dirty="0"/>
          </a:p>
        </p:txBody>
      </p:sp>
      <p:sp>
        <p:nvSpPr>
          <p:cNvPr id="17" name="Shape 15"/>
          <p:cNvSpPr/>
          <p:nvPr/>
        </p:nvSpPr>
        <p:spPr>
          <a:xfrm>
            <a:off x="365760" y="3337560"/>
            <a:ext cx="5029200" cy="914400"/>
          </a:xfrm>
          <a:prstGeom prst="rect">
            <a:avLst/>
          </a:prstGeom>
          <a:solidFill>
            <a:srgbClr val="0D1B2A"/>
          </a:solidFill>
          <a:ln w="6350">
            <a:solidFill>
              <a:srgbClr val="2A4A6B"/>
            </a:solidFill>
            <a:prstDash val="solid"/>
          </a:ln>
        </p:spPr>
        <p:txBody>
          <a:bodyPr/>
          <a:lstStyle/>
          <a:p>
            <a:endParaRPr lang="en-GB"/>
          </a:p>
        </p:txBody>
      </p:sp>
      <p:sp>
        <p:nvSpPr>
          <p:cNvPr id="18" name="Shape 16"/>
          <p:cNvSpPr/>
          <p:nvPr/>
        </p:nvSpPr>
        <p:spPr>
          <a:xfrm>
            <a:off x="475488" y="3429000"/>
            <a:ext cx="109728" cy="109728"/>
          </a:xfrm>
          <a:prstGeom prst="line">
            <a:avLst/>
          </a:prstGeom>
          <a:solidFill>
            <a:srgbClr val="FF5F57"/>
          </a:solidFill>
          <a:ln w="12700">
            <a:solidFill>
              <a:srgbClr val="FF5F57"/>
            </a:solidFill>
            <a:prstDash val="solid"/>
          </a:ln>
        </p:spPr>
        <p:txBody>
          <a:bodyPr/>
          <a:lstStyle/>
          <a:p>
            <a:endParaRPr lang="en-GB"/>
          </a:p>
        </p:txBody>
      </p:sp>
      <p:sp>
        <p:nvSpPr>
          <p:cNvPr id="19" name="Shape 17"/>
          <p:cNvSpPr/>
          <p:nvPr/>
        </p:nvSpPr>
        <p:spPr>
          <a:xfrm>
            <a:off x="676656" y="3429000"/>
            <a:ext cx="109728" cy="109728"/>
          </a:xfrm>
          <a:prstGeom prst="line">
            <a:avLst/>
          </a:prstGeom>
          <a:solidFill>
            <a:srgbClr val="FFBD2E"/>
          </a:solidFill>
          <a:ln w="12700">
            <a:solidFill>
              <a:srgbClr val="FFBD2E"/>
            </a:solidFill>
            <a:prstDash val="solid"/>
          </a:ln>
        </p:spPr>
        <p:txBody>
          <a:bodyPr/>
          <a:lstStyle/>
          <a:p>
            <a:endParaRPr lang="en-GB"/>
          </a:p>
        </p:txBody>
      </p:sp>
      <p:sp>
        <p:nvSpPr>
          <p:cNvPr id="20" name="Shape 18"/>
          <p:cNvSpPr/>
          <p:nvPr/>
        </p:nvSpPr>
        <p:spPr>
          <a:xfrm>
            <a:off x="877824" y="3429000"/>
            <a:ext cx="109728" cy="109728"/>
          </a:xfrm>
          <a:prstGeom prst="line">
            <a:avLst/>
          </a:prstGeom>
          <a:solidFill>
            <a:srgbClr val="28C840"/>
          </a:solidFill>
          <a:ln w="12700">
            <a:solidFill>
              <a:srgbClr val="28C840"/>
            </a:solidFill>
            <a:prstDash val="solid"/>
          </a:ln>
        </p:spPr>
        <p:txBody>
          <a:bodyPr/>
          <a:lstStyle/>
          <a:p>
            <a:endParaRPr lang="en-GB"/>
          </a:p>
        </p:txBody>
      </p:sp>
      <p:sp>
        <p:nvSpPr>
          <p:cNvPr id="21" name="Text 19"/>
          <p:cNvSpPr/>
          <p:nvPr/>
        </p:nvSpPr>
        <p:spPr>
          <a:xfrm>
            <a:off x="475488" y="3593592"/>
            <a:ext cx="4809744" cy="621792"/>
          </a:xfrm>
          <a:prstGeom prst="rect">
            <a:avLst/>
          </a:prstGeom>
          <a:noFill/>
          <a:ln/>
        </p:spPr>
        <p:txBody>
          <a:bodyPr wrap="square" rtlCol="0" anchor="t"/>
          <a:lstStyle/>
          <a:p>
            <a:pPr marL="0" indent="0">
              <a:buNone/>
            </a:pPr>
            <a:r>
              <a:rPr lang="en-US" sz="950" dirty="0">
                <a:solidFill>
                  <a:srgbClr val="A8D8FF"/>
                </a:solidFill>
                <a:latin typeface="Consolas" pitchFamily="34" charset="0"/>
                <a:ea typeface="Consolas" pitchFamily="34" charset="-122"/>
                <a:cs typeface="Consolas" pitchFamily="34" charset="-120"/>
              </a:rPr>
              <a:t>int leeway = 18;</a:t>
            </a:r>
            <a:endParaRPr lang="en-US" sz="950" dirty="0"/>
          </a:p>
          <a:p>
            <a:pPr marL="0" indent="0">
              <a:buNone/>
            </a:pPr>
            <a:r>
              <a:rPr lang="en-US" sz="950" dirty="0">
                <a:solidFill>
                  <a:srgbClr val="A8D8FF"/>
                </a:solidFill>
                <a:latin typeface="Consolas" pitchFamily="34" charset="0"/>
                <a:ea typeface="Consolas" pitchFamily="34" charset="-122"/>
                <a:cs typeface="Consolas" pitchFamily="34" charset="-120"/>
              </a:rPr>
              <a:t>return new Rectangle(x-leeway, y-leeway,</a:t>
            </a:r>
            <a:endParaRPr lang="en-US" sz="950" dirty="0"/>
          </a:p>
          <a:p>
            <a:pPr marL="0" indent="0">
              <a:buNone/>
            </a:pPr>
            <a:r>
              <a:rPr lang="en-US" sz="950" dirty="0">
                <a:solidFill>
                  <a:srgbClr val="A8D8FF"/>
                </a:solidFill>
                <a:latin typeface="Consolas" pitchFamily="34" charset="0"/>
                <a:ea typeface="Consolas" pitchFamily="34" charset="-122"/>
                <a:cs typeface="Consolas" pitchFamily="34" charset="-120"/>
              </a:rPr>
              <a:t>    gp.tileSize+leeway*2, gp.tileSize+leeway*2);</a:t>
            </a:r>
            <a:endParaRPr lang="en-US" sz="950" dirty="0"/>
          </a:p>
        </p:txBody>
      </p:sp>
      <p:sp>
        <p:nvSpPr>
          <p:cNvPr id="22" name="Shape 20"/>
          <p:cNvSpPr/>
          <p:nvPr/>
        </p:nvSpPr>
        <p:spPr>
          <a:xfrm>
            <a:off x="5074920" y="3337560"/>
            <a:ext cx="3703320" cy="914400"/>
          </a:xfrm>
          <a:prstGeom prst="rect">
            <a:avLst/>
          </a:prstGeom>
          <a:solidFill>
            <a:srgbClr val="1A2E44"/>
          </a:solidFill>
          <a:ln w="12700">
            <a:solidFill>
              <a:srgbClr val="3A7BD5"/>
            </a:solidFill>
            <a:prstDash val="solid"/>
          </a:ln>
        </p:spPr>
        <p:txBody>
          <a:bodyPr/>
          <a:lstStyle/>
          <a:p>
            <a:endParaRPr lang="en-GB"/>
          </a:p>
        </p:txBody>
      </p:sp>
      <p:sp>
        <p:nvSpPr>
          <p:cNvPr id="27" name="Shape 25"/>
          <p:cNvSpPr/>
          <p:nvPr/>
        </p:nvSpPr>
        <p:spPr>
          <a:xfrm>
            <a:off x="365760" y="4343400"/>
            <a:ext cx="8412480" cy="438912"/>
          </a:xfrm>
          <a:prstGeom prst="rect">
            <a:avLst/>
          </a:prstGeom>
          <a:solidFill>
            <a:srgbClr val="1B3A5C"/>
          </a:solidFill>
          <a:ln w="6350">
            <a:solidFill>
              <a:srgbClr val="D0D8E4"/>
            </a:solidFill>
            <a:prstDash val="solid"/>
          </a:ln>
          <a:effectLst>
            <a:outerShdw blurRad="50800" dist="12700" dir="8100000" algn="bl" rotWithShape="0">
              <a:srgbClr val="000000">
                <a:alpha val="8000"/>
              </a:srgbClr>
            </a:outerShdw>
          </a:effectLst>
        </p:spPr>
        <p:txBody>
          <a:bodyPr/>
          <a:lstStyle/>
          <a:p>
            <a:endParaRPr lang="en-GB"/>
          </a:p>
        </p:txBody>
      </p:sp>
      <p:sp>
        <p:nvSpPr>
          <p:cNvPr id="28" name="Text 26"/>
          <p:cNvSpPr/>
          <p:nvPr/>
        </p:nvSpPr>
        <p:spPr>
          <a:xfrm>
            <a:off x="548640" y="4370832"/>
            <a:ext cx="8138160" cy="365760"/>
          </a:xfrm>
          <a:prstGeom prst="rect">
            <a:avLst/>
          </a:prstGeom>
          <a:noFill/>
          <a:ln/>
        </p:spPr>
        <p:txBody>
          <a:bodyPr wrap="square" rtlCol="0" anchor="ctr"/>
          <a:lstStyle/>
          <a:p>
            <a:pPr marL="0" indent="0" algn="ctr">
              <a:buNone/>
            </a:pPr>
            <a:r>
              <a:rPr lang="en-US" sz="1200" dirty="0">
                <a:solidFill>
                  <a:srgbClr val="FFFFFF"/>
                </a:solidFill>
                <a:latin typeface="Calibri" pitchFamily="34" charset="0"/>
                <a:ea typeface="Calibri" pitchFamily="34" charset="-122"/>
                <a:cs typeface="Calibri" pitchFamily="34" charset="-120"/>
              </a:rPr>
              <a:t>Crystal.java — pure SRP game object holds state, defines bounds and rendering, delegates coordination to GamePanel.</a:t>
            </a:r>
            <a:endParaRPr lang="en-US" sz="1200" dirty="0"/>
          </a:p>
        </p:txBody>
      </p:sp>
      <p:pic>
        <p:nvPicPr>
          <p:cNvPr id="29" name="Picture 28">
            <a:extLst>
              <a:ext uri="{FF2B5EF4-FFF2-40B4-BE49-F238E27FC236}">
                <a16:creationId xmlns:a16="http://schemas.microsoft.com/office/drawing/2014/main" id="{45038CD5-DAD4-E5EC-06D4-31A9625728B2}"/>
              </a:ext>
            </a:extLst>
          </p:cNvPr>
          <p:cNvPicPr>
            <a:picLocks noChangeAspect="1"/>
          </p:cNvPicPr>
          <p:nvPr/>
        </p:nvPicPr>
        <p:blipFill>
          <a:blip r:embed="rId3"/>
          <a:srcRect l="35091" t="66667" r="39309" b="10091"/>
          <a:stretch>
            <a:fillRect/>
          </a:stretch>
        </p:blipFill>
        <p:spPr>
          <a:xfrm>
            <a:off x="6437975" y="3332109"/>
            <a:ext cx="1297249" cy="919851"/>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3">
    <p:bg>
      <p:bgPr>
        <a:solidFill>
          <a:srgbClr val="0D1B2A"/>
        </a:solidFill>
        <a:effectLst/>
      </p:bgPr>
    </p:bg>
    <p:spTree>
      <p:nvGrpSpPr>
        <p:cNvPr id="1" name=""/>
        <p:cNvGrpSpPr/>
        <p:nvPr/>
      </p:nvGrpSpPr>
      <p:grpSpPr>
        <a:xfrm>
          <a:off x="0" y="0"/>
          <a:ext cx="0" cy="0"/>
          <a:chOff x="0" y="0"/>
          <a:chExt cx="0" cy="0"/>
        </a:xfrm>
      </p:grpSpPr>
      <p:sp>
        <p:nvSpPr>
          <p:cNvPr id="2" name="Text 0"/>
          <p:cNvSpPr/>
          <p:nvPr/>
        </p:nvSpPr>
        <p:spPr>
          <a:xfrm>
            <a:off x="640080" y="1645920"/>
            <a:ext cx="7863840" cy="1280160"/>
          </a:xfrm>
          <a:prstGeom prst="rect">
            <a:avLst/>
          </a:prstGeom>
          <a:noFill/>
          <a:ln/>
        </p:spPr>
        <p:txBody>
          <a:bodyPr wrap="square" rtlCol="0" anchor="ctr"/>
          <a:lstStyle/>
          <a:p>
            <a:pPr marL="0" indent="0" algn="ctr">
              <a:buNone/>
            </a:pPr>
            <a:r>
              <a:rPr lang="en-US" sz="4600" b="1" dirty="0">
                <a:solidFill>
                  <a:srgbClr val="FFFFFF"/>
                </a:solidFill>
                <a:latin typeface="Georgia" pitchFamily="34" charset="0"/>
                <a:ea typeface="Georgia" pitchFamily="34" charset="-122"/>
                <a:cs typeface="Georgia" pitchFamily="34" charset="-120"/>
              </a:rPr>
              <a:t>Data &amp; Persistence</a:t>
            </a:r>
            <a:endParaRPr lang="en-US" sz="4600" dirty="0"/>
          </a:p>
        </p:txBody>
      </p:sp>
      <p:sp>
        <p:nvSpPr>
          <p:cNvPr id="3" name="Text 1"/>
          <p:cNvSpPr/>
          <p:nvPr/>
        </p:nvSpPr>
        <p:spPr>
          <a:xfrm>
            <a:off x="640080" y="3017520"/>
            <a:ext cx="7863840" cy="640080"/>
          </a:xfrm>
          <a:prstGeom prst="rect">
            <a:avLst/>
          </a:prstGeom>
          <a:noFill/>
          <a:ln/>
        </p:spPr>
        <p:txBody>
          <a:bodyPr wrap="square" rtlCol="0" anchor="ctr"/>
          <a:lstStyle/>
          <a:p>
            <a:pPr marL="0" indent="0" algn="ctr">
              <a:buNone/>
            </a:pPr>
            <a:r>
              <a:rPr lang="en-US" sz="1800" dirty="0">
                <a:solidFill>
                  <a:srgbClr val="D6E4F7"/>
                </a:solidFill>
                <a:latin typeface="Calibri" pitchFamily="34" charset="0"/>
                <a:ea typeface="Calibri" pitchFamily="34" charset="-122"/>
                <a:cs typeface="Calibri" pitchFamily="34" charset="-120"/>
              </a:rPr>
              <a:t>ScoreEntry  ·  ScoreManager  ·  Tile</a:t>
            </a:r>
            <a:endParaRPr lang="en-US" sz="1800" dirty="0"/>
          </a:p>
        </p:txBody>
      </p:sp>
      <p:sp>
        <p:nvSpPr>
          <p:cNvPr id="4" name="Shape 2"/>
          <p:cNvSpPr/>
          <p:nvPr/>
        </p:nvSpPr>
        <p:spPr>
          <a:xfrm>
            <a:off x="3840480" y="4297680"/>
            <a:ext cx="1234440" cy="256032"/>
          </a:xfrm>
          <a:prstGeom prst="roundRect">
            <a:avLst>
              <a:gd name="adj" fmla="val 17857"/>
            </a:avLst>
          </a:prstGeom>
          <a:solidFill>
            <a:srgbClr val="C0392B"/>
          </a:solidFill>
          <a:ln w="12700">
            <a:solidFill>
              <a:srgbClr val="C0392B"/>
            </a:solidFill>
            <a:prstDash val="solid"/>
          </a:ln>
        </p:spPr>
        <p:txBody>
          <a:bodyPr/>
          <a:lstStyle/>
          <a:p>
            <a:endParaRPr lang="en-GB"/>
          </a:p>
        </p:txBody>
      </p:sp>
      <p:sp>
        <p:nvSpPr>
          <p:cNvPr id="5" name="Text 3"/>
          <p:cNvSpPr/>
          <p:nvPr/>
        </p:nvSpPr>
        <p:spPr>
          <a:xfrm>
            <a:off x="3840480" y="4297680"/>
            <a:ext cx="1234440"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SECTION 05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4">
    <p:bg>
      <p:bgPr>
        <a:solidFill>
          <a:srgbClr val="E8EDF2"/>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1B3A5C"/>
          </a:solidFill>
          <a:ln w="12700">
            <a:solidFill>
              <a:srgbClr val="1B3A5C"/>
            </a:solidFill>
            <a:prstDash val="solid"/>
          </a:ln>
        </p:spPr>
        <p:txBody>
          <a:bodyPr/>
          <a:lstStyle/>
          <a:p>
            <a:endParaRPr lang="en-GB"/>
          </a:p>
        </p:txBody>
      </p:sp>
      <p:sp>
        <p:nvSpPr>
          <p:cNvPr id="3" name="Text 1"/>
          <p:cNvSpPr/>
          <p:nvPr/>
        </p:nvSpPr>
        <p:spPr>
          <a:xfrm>
            <a:off x="365760" y="182880"/>
            <a:ext cx="8503920" cy="594360"/>
          </a:xfrm>
          <a:prstGeom prst="rect">
            <a:avLst/>
          </a:prstGeom>
          <a:noFill/>
          <a:ln/>
        </p:spPr>
        <p:txBody>
          <a:bodyPr wrap="square" lIns="0" tIns="0" rIns="0" bIns="0" rtlCol="0" anchor="ctr"/>
          <a:lstStyle/>
          <a:p>
            <a:pPr marL="0" indent="0" algn="l">
              <a:buNone/>
            </a:pPr>
            <a:r>
              <a:rPr lang="en-US" sz="2400" b="1" dirty="0">
                <a:solidFill>
                  <a:srgbClr val="1B3A5C"/>
                </a:solidFill>
                <a:latin typeface="Georgia" pitchFamily="34" charset="0"/>
                <a:ea typeface="Georgia" pitchFamily="34" charset="-122"/>
                <a:cs typeface="Georgia" pitchFamily="34" charset="-120"/>
              </a:rPr>
              <a:t>ScoreEntry, ScoreManager  &amp;  Tile.java</a:t>
            </a:r>
            <a:endParaRPr lang="en-US" sz="2400" dirty="0"/>
          </a:p>
        </p:txBody>
      </p:sp>
      <p:sp>
        <p:nvSpPr>
          <p:cNvPr id="4" name="Shape 2"/>
          <p:cNvSpPr/>
          <p:nvPr/>
        </p:nvSpPr>
        <p:spPr>
          <a:xfrm>
            <a:off x="365760" y="804672"/>
            <a:ext cx="8412480" cy="36576"/>
          </a:xfrm>
          <a:prstGeom prst="rect">
            <a:avLst/>
          </a:prstGeom>
          <a:solidFill>
            <a:srgbClr val="C0392B"/>
          </a:solidFill>
          <a:ln w="12700">
            <a:solidFill>
              <a:srgbClr val="C0392B"/>
            </a:solidFill>
            <a:prstDash val="solid"/>
          </a:ln>
        </p:spPr>
        <p:txBody>
          <a:bodyPr/>
          <a:lstStyle/>
          <a:p>
            <a:endParaRPr lang="en-GB"/>
          </a:p>
        </p:txBody>
      </p:sp>
      <p:sp>
        <p:nvSpPr>
          <p:cNvPr id="5" name="Shape 3"/>
          <p:cNvSpPr/>
          <p:nvPr/>
        </p:nvSpPr>
        <p:spPr>
          <a:xfrm>
            <a:off x="365760" y="960120"/>
            <a:ext cx="5303520" cy="1188720"/>
          </a:xfrm>
          <a:prstGeom prst="rect">
            <a:avLst/>
          </a:prstGeom>
          <a:solidFill>
            <a:srgbClr val="FFFFFF"/>
          </a:solidFill>
          <a:ln w="6350">
            <a:solidFill>
              <a:srgbClr val="D0D8E4"/>
            </a:solidFill>
            <a:prstDash val="solid"/>
          </a:ln>
          <a:effectLst>
            <a:outerShdw blurRad="50800" dist="12700" dir="8100000" algn="bl" rotWithShape="0">
              <a:srgbClr val="000000">
                <a:alpha val="8000"/>
              </a:srgbClr>
            </a:outerShdw>
          </a:effectLst>
        </p:spPr>
        <p:txBody>
          <a:bodyPr/>
          <a:lstStyle/>
          <a:p>
            <a:endParaRPr lang="en-GB"/>
          </a:p>
        </p:txBody>
      </p:sp>
      <p:sp>
        <p:nvSpPr>
          <p:cNvPr id="6" name="Shape 4"/>
          <p:cNvSpPr/>
          <p:nvPr/>
        </p:nvSpPr>
        <p:spPr>
          <a:xfrm>
            <a:off x="365760" y="960120"/>
            <a:ext cx="64008" cy="1188720"/>
          </a:xfrm>
          <a:prstGeom prst="rect">
            <a:avLst/>
          </a:prstGeom>
          <a:solidFill>
            <a:srgbClr val="1B3A5C"/>
          </a:solidFill>
          <a:ln w="12700">
            <a:solidFill>
              <a:srgbClr val="1B3A5C"/>
            </a:solidFill>
            <a:prstDash val="solid"/>
          </a:ln>
        </p:spPr>
        <p:txBody>
          <a:bodyPr/>
          <a:lstStyle/>
          <a:p>
            <a:endParaRPr lang="en-GB"/>
          </a:p>
        </p:txBody>
      </p:sp>
      <p:sp>
        <p:nvSpPr>
          <p:cNvPr id="7" name="Text 5"/>
          <p:cNvSpPr/>
          <p:nvPr/>
        </p:nvSpPr>
        <p:spPr>
          <a:xfrm>
            <a:off x="594360" y="1005840"/>
            <a:ext cx="4846320" cy="320040"/>
          </a:xfrm>
          <a:prstGeom prst="rect">
            <a:avLst/>
          </a:prstGeom>
          <a:noFill/>
          <a:ln/>
        </p:spPr>
        <p:txBody>
          <a:bodyPr wrap="square" lIns="0" tIns="0" rIns="0" bIns="0" rtlCol="0" anchor="ctr"/>
          <a:lstStyle/>
          <a:p>
            <a:pPr marL="0" indent="0">
              <a:buNone/>
            </a:pPr>
            <a:r>
              <a:rPr lang="en-US" sz="1300" b="1" dirty="0">
                <a:solidFill>
                  <a:srgbClr val="1B3A5C"/>
                </a:solidFill>
                <a:latin typeface="Georgia" pitchFamily="34" charset="0"/>
                <a:ea typeface="Georgia" pitchFamily="34" charset="-122"/>
                <a:cs typeface="Georgia" pitchFamily="34" charset="-120"/>
              </a:rPr>
              <a:t>ScoreEntry.java — Serializable CSV Encoding</a:t>
            </a:r>
            <a:endParaRPr lang="en-US" sz="1300" dirty="0"/>
          </a:p>
        </p:txBody>
      </p:sp>
      <p:sp>
        <p:nvSpPr>
          <p:cNvPr id="8" name="Text 6"/>
          <p:cNvSpPr/>
          <p:nvPr/>
        </p:nvSpPr>
        <p:spPr>
          <a:xfrm>
            <a:off x="594360" y="1353312"/>
            <a:ext cx="4846320" cy="731520"/>
          </a:xfrm>
          <a:prstGeom prst="rect">
            <a:avLst/>
          </a:prstGeom>
          <a:noFill/>
          <a:ln/>
        </p:spPr>
        <p:txBody>
          <a:bodyPr wrap="square" rtlCol="0" anchor="ctr"/>
          <a:lstStyle/>
          <a:p>
            <a:pPr marL="0" indent="0">
              <a:buNone/>
            </a:pPr>
            <a:r>
              <a:rPr lang="en-US" sz="1150" dirty="0">
                <a:solidFill>
                  <a:srgbClr val="4A5568"/>
                </a:solidFill>
                <a:latin typeface="Calibri" pitchFamily="34" charset="0"/>
                <a:ea typeface="Calibri" pitchFamily="34" charset="-122"/>
                <a:cs typeface="Calibri" pitchFamily="34" charset="-120"/>
              </a:rPr>
              <a:t>Implements Serializable. toString() encodes as CSV: name,score,level,mode,coins. Used as write format by ScoreManager.</a:t>
            </a:r>
            <a:endParaRPr lang="en-US" sz="1150" dirty="0"/>
          </a:p>
        </p:txBody>
      </p:sp>
      <p:sp>
        <p:nvSpPr>
          <p:cNvPr id="9" name="Shape 7"/>
          <p:cNvSpPr/>
          <p:nvPr/>
        </p:nvSpPr>
        <p:spPr>
          <a:xfrm>
            <a:off x="365760" y="2240280"/>
            <a:ext cx="5303520" cy="1417320"/>
          </a:xfrm>
          <a:prstGeom prst="rect">
            <a:avLst/>
          </a:prstGeom>
          <a:solidFill>
            <a:srgbClr val="FFFFFF"/>
          </a:solidFill>
          <a:ln w="6350">
            <a:solidFill>
              <a:srgbClr val="D0D8E4"/>
            </a:solidFill>
            <a:prstDash val="solid"/>
          </a:ln>
          <a:effectLst>
            <a:outerShdw blurRad="50800" dist="12700" dir="8100000" algn="bl" rotWithShape="0">
              <a:srgbClr val="000000">
                <a:alpha val="8000"/>
              </a:srgbClr>
            </a:outerShdw>
          </a:effectLst>
        </p:spPr>
        <p:txBody>
          <a:bodyPr/>
          <a:lstStyle/>
          <a:p>
            <a:endParaRPr lang="en-GB"/>
          </a:p>
        </p:txBody>
      </p:sp>
      <p:sp>
        <p:nvSpPr>
          <p:cNvPr id="10" name="Shape 8"/>
          <p:cNvSpPr/>
          <p:nvPr/>
        </p:nvSpPr>
        <p:spPr>
          <a:xfrm>
            <a:off x="365760" y="2240280"/>
            <a:ext cx="64008" cy="1417320"/>
          </a:xfrm>
          <a:prstGeom prst="rect">
            <a:avLst/>
          </a:prstGeom>
          <a:solidFill>
            <a:srgbClr val="2563A8"/>
          </a:solidFill>
          <a:ln w="12700">
            <a:solidFill>
              <a:srgbClr val="2563A8"/>
            </a:solidFill>
            <a:prstDash val="solid"/>
          </a:ln>
        </p:spPr>
        <p:txBody>
          <a:bodyPr/>
          <a:lstStyle/>
          <a:p>
            <a:endParaRPr lang="en-GB"/>
          </a:p>
        </p:txBody>
      </p:sp>
      <p:sp>
        <p:nvSpPr>
          <p:cNvPr id="11" name="Text 9"/>
          <p:cNvSpPr/>
          <p:nvPr/>
        </p:nvSpPr>
        <p:spPr>
          <a:xfrm>
            <a:off x="594360" y="2286000"/>
            <a:ext cx="4846320" cy="320040"/>
          </a:xfrm>
          <a:prstGeom prst="rect">
            <a:avLst/>
          </a:prstGeom>
          <a:noFill/>
          <a:ln/>
        </p:spPr>
        <p:txBody>
          <a:bodyPr wrap="square" lIns="0" tIns="0" rIns="0" bIns="0" rtlCol="0" anchor="ctr"/>
          <a:lstStyle/>
          <a:p>
            <a:pPr marL="0" indent="0">
              <a:buNone/>
            </a:pPr>
            <a:r>
              <a:rPr lang="en-US" sz="1300" b="1" dirty="0">
                <a:solidFill>
                  <a:srgbClr val="1B3A5C"/>
                </a:solidFill>
                <a:latin typeface="Georgia" pitchFamily="34" charset="0"/>
                <a:ea typeface="Georgia" pitchFamily="34" charset="-122"/>
                <a:cs typeface="Georgia" pitchFamily="34" charset="-120"/>
              </a:rPr>
              <a:t>ScoreManager.java — File I/O, Parsing &amp; Sorting</a:t>
            </a:r>
            <a:endParaRPr lang="en-US" sz="1300" dirty="0"/>
          </a:p>
        </p:txBody>
      </p:sp>
      <p:sp>
        <p:nvSpPr>
          <p:cNvPr id="12" name="Text 10"/>
          <p:cNvSpPr/>
          <p:nvPr/>
        </p:nvSpPr>
        <p:spPr>
          <a:xfrm>
            <a:off x="594360" y="2633472"/>
            <a:ext cx="4846320" cy="914400"/>
          </a:xfrm>
          <a:prstGeom prst="rect">
            <a:avLst/>
          </a:prstGeom>
          <a:noFill/>
          <a:ln/>
        </p:spPr>
        <p:txBody>
          <a:bodyPr wrap="square" rtlCol="0" anchor="ctr"/>
          <a:lstStyle/>
          <a:p>
            <a:pPr marL="0" indent="0">
              <a:buNone/>
            </a:pPr>
            <a:r>
              <a:rPr lang="en-US" sz="1150" b="1" dirty="0">
                <a:solidFill>
                  <a:srgbClr val="4A5568"/>
                </a:solidFill>
                <a:latin typeface="Calibri" pitchFamily="34" charset="0"/>
                <a:ea typeface="Calibri" pitchFamily="34" charset="-122"/>
                <a:cs typeface="Calibri" pitchFamily="34" charset="-120"/>
              </a:rPr>
              <a:t>BufferedWriter(FileWriter(path, true))</a:t>
            </a:r>
            <a:r>
              <a:rPr lang="en-US" sz="1150" dirty="0">
                <a:solidFill>
                  <a:srgbClr val="4A5568"/>
                </a:solidFill>
                <a:latin typeface="Calibri" pitchFamily="34" charset="0"/>
                <a:ea typeface="Calibri" pitchFamily="34" charset="-122"/>
                <a:cs typeface="Calibri" pitchFamily="34" charset="-120"/>
              </a:rPr>
              <a:t> — append mode. Try-with-resources auto-closes.
</a:t>
            </a:r>
            <a:r>
              <a:rPr lang="en-US" sz="1150" b="1" dirty="0">
                <a:solidFill>
                  <a:srgbClr val="4A5568"/>
                </a:solidFill>
                <a:latin typeface="Calibri" pitchFamily="34" charset="0"/>
                <a:ea typeface="Calibri" pitchFamily="34" charset="-122"/>
                <a:cs typeface="Calibri" pitchFamily="34" charset="-120"/>
              </a:rPr>
              <a:t>Defensive parsing: </a:t>
            </a:r>
            <a:r>
              <a:rPr lang="en-US" sz="1150" dirty="0">
                <a:solidFill>
                  <a:srgbClr val="4A5568"/>
                </a:solidFill>
                <a:latin typeface="Calibri" pitchFamily="34" charset="0"/>
                <a:ea typeface="Calibri" pitchFamily="34" charset="-122"/>
                <a:cs typeface="Calibri" pitchFamily="34" charset="-120"/>
              </a:rPr>
              <a:t>parts.length guards old save files missing mode/coins fields.
</a:t>
            </a:r>
            <a:r>
              <a:rPr lang="en-US" sz="1150" b="1" dirty="0">
                <a:solidFill>
                  <a:srgbClr val="4A5568"/>
                </a:solidFill>
                <a:latin typeface="Calibri" pitchFamily="34" charset="0"/>
                <a:ea typeface="Calibri" pitchFamily="34" charset="-122"/>
                <a:cs typeface="Calibri" pitchFamily="34" charset="-120"/>
              </a:rPr>
              <a:t>Lambda Comparator: </a:t>
            </a:r>
            <a:r>
              <a:rPr lang="en-US" sz="1150" dirty="0">
                <a:solidFill>
                  <a:srgbClr val="4A5568"/>
                </a:solidFill>
                <a:latin typeface="Calibri" pitchFamily="34" charset="0"/>
                <a:ea typeface="Calibri" pitchFamily="34" charset="-122"/>
                <a:cs typeface="Calibri" pitchFamily="34" charset="-120"/>
              </a:rPr>
              <a:t>sort by score DESC, level DESC; subList(0,10).</a:t>
            </a:r>
            <a:endParaRPr lang="en-US" sz="1150" dirty="0"/>
          </a:p>
        </p:txBody>
      </p:sp>
      <p:sp>
        <p:nvSpPr>
          <p:cNvPr id="13" name="Shape 11"/>
          <p:cNvSpPr/>
          <p:nvPr/>
        </p:nvSpPr>
        <p:spPr>
          <a:xfrm>
            <a:off x="365760" y="3749040"/>
            <a:ext cx="5303520" cy="1051560"/>
          </a:xfrm>
          <a:prstGeom prst="rect">
            <a:avLst/>
          </a:prstGeom>
          <a:solidFill>
            <a:srgbClr val="0D1B2A"/>
          </a:solidFill>
          <a:ln w="6350">
            <a:solidFill>
              <a:srgbClr val="2A4A6B"/>
            </a:solidFill>
            <a:prstDash val="solid"/>
          </a:ln>
        </p:spPr>
        <p:txBody>
          <a:bodyPr/>
          <a:lstStyle/>
          <a:p>
            <a:endParaRPr lang="en-GB"/>
          </a:p>
        </p:txBody>
      </p:sp>
      <p:sp>
        <p:nvSpPr>
          <p:cNvPr id="14" name="Shape 12"/>
          <p:cNvSpPr/>
          <p:nvPr/>
        </p:nvSpPr>
        <p:spPr>
          <a:xfrm>
            <a:off x="475488" y="3840480"/>
            <a:ext cx="109728" cy="109728"/>
          </a:xfrm>
          <a:prstGeom prst="line">
            <a:avLst/>
          </a:prstGeom>
          <a:solidFill>
            <a:srgbClr val="FF5F57"/>
          </a:solidFill>
          <a:ln w="12700">
            <a:solidFill>
              <a:srgbClr val="FF5F57"/>
            </a:solidFill>
            <a:prstDash val="solid"/>
          </a:ln>
        </p:spPr>
        <p:txBody>
          <a:bodyPr/>
          <a:lstStyle/>
          <a:p>
            <a:endParaRPr lang="en-GB"/>
          </a:p>
        </p:txBody>
      </p:sp>
      <p:sp>
        <p:nvSpPr>
          <p:cNvPr id="15" name="Shape 13"/>
          <p:cNvSpPr/>
          <p:nvPr/>
        </p:nvSpPr>
        <p:spPr>
          <a:xfrm>
            <a:off x="676656" y="3840480"/>
            <a:ext cx="109728" cy="109728"/>
          </a:xfrm>
          <a:prstGeom prst="line">
            <a:avLst/>
          </a:prstGeom>
          <a:solidFill>
            <a:srgbClr val="FFBD2E"/>
          </a:solidFill>
          <a:ln w="12700">
            <a:solidFill>
              <a:srgbClr val="FFBD2E"/>
            </a:solidFill>
            <a:prstDash val="solid"/>
          </a:ln>
        </p:spPr>
        <p:txBody>
          <a:bodyPr/>
          <a:lstStyle/>
          <a:p>
            <a:endParaRPr lang="en-GB"/>
          </a:p>
        </p:txBody>
      </p:sp>
      <p:sp>
        <p:nvSpPr>
          <p:cNvPr id="16" name="Shape 14"/>
          <p:cNvSpPr/>
          <p:nvPr/>
        </p:nvSpPr>
        <p:spPr>
          <a:xfrm>
            <a:off x="877824" y="3840480"/>
            <a:ext cx="109728" cy="109728"/>
          </a:xfrm>
          <a:prstGeom prst="line">
            <a:avLst/>
          </a:prstGeom>
          <a:solidFill>
            <a:srgbClr val="28C840"/>
          </a:solidFill>
          <a:ln w="12700">
            <a:solidFill>
              <a:srgbClr val="28C840"/>
            </a:solidFill>
            <a:prstDash val="solid"/>
          </a:ln>
        </p:spPr>
        <p:txBody>
          <a:bodyPr/>
          <a:lstStyle/>
          <a:p>
            <a:endParaRPr lang="en-GB"/>
          </a:p>
        </p:txBody>
      </p:sp>
      <p:sp>
        <p:nvSpPr>
          <p:cNvPr id="17" name="Text 15"/>
          <p:cNvSpPr/>
          <p:nvPr/>
        </p:nvSpPr>
        <p:spPr>
          <a:xfrm>
            <a:off x="475488" y="4005072"/>
            <a:ext cx="5084064" cy="758952"/>
          </a:xfrm>
          <a:prstGeom prst="rect">
            <a:avLst/>
          </a:prstGeom>
          <a:noFill/>
          <a:ln/>
        </p:spPr>
        <p:txBody>
          <a:bodyPr wrap="square" rtlCol="0" anchor="t"/>
          <a:lstStyle/>
          <a:p>
            <a:pPr marL="0" indent="0">
              <a:buNone/>
            </a:pPr>
            <a:r>
              <a:rPr lang="en-US" sz="950" dirty="0">
                <a:solidFill>
                  <a:srgbClr val="A8D8FF"/>
                </a:solidFill>
                <a:latin typeface="Consolas" pitchFamily="34" charset="0"/>
                <a:ea typeface="Consolas" pitchFamily="34" charset="-122"/>
                <a:cs typeface="Consolas" pitchFamily="34" charset="-120"/>
              </a:rPr>
              <a:t>try (BufferedWriter w = new BufferedWriter(</a:t>
            </a:r>
            <a:endParaRPr lang="en-US" sz="950" dirty="0"/>
          </a:p>
          <a:p>
            <a:pPr marL="0" indent="0">
              <a:buNone/>
            </a:pPr>
            <a:r>
              <a:rPr lang="en-US" sz="950" dirty="0">
                <a:solidFill>
                  <a:srgbClr val="A8D8FF"/>
                </a:solidFill>
                <a:latin typeface="Consolas" pitchFamily="34" charset="0"/>
                <a:ea typeface="Consolas" pitchFamily="34" charset="-122"/>
                <a:cs typeface="Consolas" pitchFamily="34" charset="-120"/>
              </a:rPr>
              <a:t>        new FileWriter(FILE_PATH, true))) {</a:t>
            </a:r>
            <a:endParaRPr lang="en-US" sz="950" dirty="0"/>
          </a:p>
          <a:p>
            <a:pPr marL="0" indent="0">
              <a:buNone/>
            </a:pPr>
            <a:r>
              <a:rPr lang="en-US" sz="950" dirty="0">
                <a:solidFill>
                  <a:srgbClr val="A8D8FF"/>
                </a:solidFill>
                <a:latin typeface="Consolas" pitchFamily="34" charset="0"/>
                <a:ea typeface="Consolas" pitchFamily="34" charset="-122"/>
                <a:cs typeface="Consolas" pitchFamily="34" charset="-120"/>
              </a:rPr>
              <a:t>  w.write(name+","+score+","+level+","+mode+","+coins);</a:t>
            </a:r>
            <a:endParaRPr lang="en-US" sz="950" dirty="0"/>
          </a:p>
          <a:p>
            <a:pPr marL="0" indent="0">
              <a:buNone/>
            </a:pPr>
            <a:r>
              <a:rPr lang="en-US" sz="950" dirty="0">
                <a:solidFill>
                  <a:srgbClr val="A8D8FF"/>
                </a:solidFill>
                <a:latin typeface="Consolas" pitchFamily="34" charset="0"/>
                <a:ea typeface="Consolas" pitchFamily="34" charset="-122"/>
                <a:cs typeface="Consolas" pitchFamily="34" charset="-120"/>
              </a:rPr>
              <a:t>}</a:t>
            </a:r>
            <a:endParaRPr lang="en-US" sz="950" dirty="0"/>
          </a:p>
        </p:txBody>
      </p:sp>
      <p:sp>
        <p:nvSpPr>
          <p:cNvPr id="18" name="Shape 16"/>
          <p:cNvSpPr/>
          <p:nvPr/>
        </p:nvSpPr>
        <p:spPr>
          <a:xfrm>
            <a:off x="5943600" y="960120"/>
            <a:ext cx="2834640" cy="2880360"/>
          </a:xfrm>
          <a:prstGeom prst="rect">
            <a:avLst/>
          </a:prstGeom>
          <a:solidFill>
            <a:srgbClr val="FFFFFF"/>
          </a:solidFill>
          <a:ln w="6350">
            <a:solidFill>
              <a:srgbClr val="D0D8E4"/>
            </a:solidFill>
            <a:prstDash val="solid"/>
          </a:ln>
          <a:effectLst>
            <a:outerShdw blurRad="50800" dist="12700" dir="8100000" algn="bl" rotWithShape="0">
              <a:srgbClr val="000000">
                <a:alpha val="8000"/>
              </a:srgbClr>
            </a:outerShdw>
          </a:effectLst>
        </p:spPr>
        <p:txBody>
          <a:bodyPr/>
          <a:lstStyle/>
          <a:p>
            <a:endParaRPr lang="en-GB"/>
          </a:p>
        </p:txBody>
      </p:sp>
      <p:sp>
        <p:nvSpPr>
          <p:cNvPr id="19" name="Shape 17"/>
          <p:cNvSpPr/>
          <p:nvPr/>
        </p:nvSpPr>
        <p:spPr>
          <a:xfrm>
            <a:off x="5943600" y="960120"/>
            <a:ext cx="64008" cy="2880360"/>
          </a:xfrm>
          <a:prstGeom prst="rect">
            <a:avLst/>
          </a:prstGeom>
          <a:solidFill>
            <a:srgbClr val="C0392B"/>
          </a:solidFill>
          <a:ln w="12700">
            <a:solidFill>
              <a:srgbClr val="C0392B"/>
            </a:solidFill>
            <a:prstDash val="solid"/>
          </a:ln>
        </p:spPr>
        <p:txBody>
          <a:bodyPr/>
          <a:lstStyle/>
          <a:p>
            <a:endParaRPr lang="en-GB"/>
          </a:p>
        </p:txBody>
      </p:sp>
      <p:sp>
        <p:nvSpPr>
          <p:cNvPr id="20" name="Text 18"/>
          <p:cNvSpPr/>
          <p:nvPr/>
        </p:nvSpPr>
        <p:spPr>
          <a:xfrm>
            <a:off x="6144768" y="1005840"/>
            <a:ext cx="2423160" cy="347472"/>
          </a:xfrm>
          <a:prstGeom prst="rect">
            <a:avLst/>
          </a:prstGeom>
          <a:noFill/>
          <a:ln/>
        </p:spPr>
        <p:txBody>
          <a:bodyPr wrap="square" lIns="0" tIns="0" rIns="0" bIns="0" rtlCol="0" anchor="ctr"/>
          <a:lstStyle/>
          <a:p>
            <a:pPr marL="0" indent="0">
              <a:buNone/>
            </a:pPr>
            <a:r>
              <a:rPr lang="en-US" sz="1500" b="1" dirty="0">
                <a:solidFill>
                  <a:srgbClr val="1B3A5C"/>
                </a:solidFill>
                <a:latin typeface="Georgia" pitchFamily="34" charset="0"/>
                <a:ea typeface="Georgia" pitchFamily="34" charset="-122"/>
                <a:cs typeface="Georgia" pitchFamily="34" charset="-120"/>
              </a:rPr>
              <a:t>Tile.java</a:t>
            </a:r>
            <a:endParaRPr lang="en-US" sz="1500" dirty="0"/>
          </a:p>
        </p:txBody>
      </p:sp>
      <p:sp>
        <p:nvSpPr>
          <p:cNvPr id="21" name="Shape 19"/>
          <p:cNvSpPr/>
          <p:nvPr/>
        </p:nvSpPr>
        <p:spPr>
          <a:xfrm>
            <a:off x="6144768" y="1371600"/>
            <a:ext cx="1426464" cy="256032"/>
          </a:xfrm>
          <a:prstGeom prst="roundRect">
            <a:avLst>
              <a:gd name="adj" fmla="val 17857"/>
            </a:avLst>
          </a:prstGeom>
          <a:solidFill>
            <a:srgbClr val="C0392B"/>
          </a:solidFill>
          <a:ln w="12700">
            <a:solidFill>
              <a:srgbClr val="C0392B"/>
            </a:solidFill>
            <a:prstDash val="solid"/>
          </a:ln>
        </p:spPr>
        <p:txBody>
          <a:bodyPr/>
          <a:lstStyle/>
          <a:p>
            <a:endParaRPr lang="en-GB"/>
          </a:p>
        </p:txBody>
      </p:sp>
      <p:sp>
        <p:nvSpPr>
          <p:cNvPr id="22" name="Text 20"/>
          <p:cNvSpPr/>
          <p:nvPr/>
        </p:nvSpPr>
        <p:spPr>
          <a:xfrm>
            <a:off x="6144768" y="1371600"/>
            <a:ext cx="1426464"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VALUE OBJECT</a:t>
            </a:r>
            <a:endParaRPr lang="en-US" sz="900" dirty="0"/>
          </a:p>
        </p:txBody>
      </p:sp>
      <p:sp>
        <p:nvSpPr>
          <p:cNvPr id="23" name="Text 21"/>
          <p:cNvSpPr/>
          <p:nvPr/>
        </p:nvSpPr>
        <p:spPr>
          <a:xfrm>
            <a:off x="6144768" y="1719072"/>
            <a:ext cx="2423160" cy="1965960"/>
          </a:xfrm>
          <a:prstGeom prst="rect">
            <a:avLst/>
          </a:prstGeom>
          <a:noFill/>
          <a:ln/>
        </p:spPr>
        <p:txBody>
          <a:bodyPr wrap="square" rtlCol="0" anchor="t"/>
          <a:lstStyle/>
          <a:p>
            <a:pPr marL="0" indent="0">
              <a:buNone/>
            </a:pPr>
            <a:r>
              <a:rPr lang="en-US" sz="1100" b="1" dirty="0">
                <a:solidFill>
                  <a:srgbClr val="4A5568"/>
                </a:solidFill>
                <a:latin typeface="Calibri" pitchFamily="34" charset="0"/>
                <a:ea typeface="Calibri" pitchFamily="34" charset="-122"/>
                <a:cs typeface="Calibri" pitchFamily="34" charset="-120"/>
              </a:rPr>
              <a:t>Flyweight Pattern</a:t>
            </a:r>
            <a:endParaRPr lang="en-US" sz="1100" dirty="0"/>
          </a:p>
          <a:p>
            <a:pPr marL="0" indent="0">
              <a:buNone/>
            </a:pPr>
            <a:r>
              <a:rPr lang="en-US" sz="1100" dirty="0">
                <a:solidFill>
                  <a:srgbClr val="4A5568"/>
                </a:solidFill>
                <a:latin typeface="Calibri" pitchFamily="34" charset="0"/>
                <a:ea typeface="Calibri" pitchFamily="34" charset="-122"/>
                <a:cs typeface="Calibri" pitchFamily="34" charset="-120"/>
              </a:rPr>
              <a:t>Tile[] of 6 entries shared by a 20×15 int[][] map — 300 cells → 6 objects.
</a:t>
            </a:r>
            <a:endParaRPr lang="en-US" sz="1100" dirty="0"/>
          </a:p>
          <a:p>
            <a:pPr marL="0" indent="0">
              <a:buNone/>
            </a:pPr>
            <a:r>
              <a:rPr lang="en-US" sz="1100" b="1" dirty="0">
                <a:solidFill>
                  <a:srgbClr val="4A5568"/>
                </a:solidFill>
                <a:latin typeface="Calibri" pitchFamily="34" charset="0"/>
                <a:ea typeface="Calibri" pitchFamily="34" charset="-122"/>
                <a:cs typeface="Calibri" pitchFamily="34" charset="-120"/>
              </a:rPr>
              <a:t>Null-Safe Rendering</a:t>
            </a:r>
            <a:endParaRPr lang="en-US" sz="1100" dirty="0"/>
          </a:p>
          <a:p>
            <a:pPr marL="0" indent="0">
              <a:buNone/>
            </a:pPr>
            <a:r>
              <a:rPr lang="en-US" sz="1100" dirty="0">
                <a:solidFill>
                  <a:srgbClr val="4A5568"/>
                </a:solidFill>
                <a:latin typeface="Calibri" pitchFamily="34" charset="0"/>
                <a:ea typeface="Calibri" pitchFamily="34" charset="-122"/>
                <a:cs typeface="Calibri" pitchFamily="34" charset="-120"/>
              </a:rPr>
              <a:t>image != null ? drawImage : fillRect(color). Every tile has a colour fallback.</a:t>
            </a:r>
            <a:endParaRPr lang="en-US" sz="1100" dirty="0"/>
          </a:p>
        </p:txBody>
      </p:sp>
      <p:sp>
        <p:nvSpPr>
          <p:cNvPr id="24" name="Shape 22"/>
          <p:cNvSpPr/>
          <p:nvPr/>
        </p:nvSpPr>
        <p:spPr>
          <a:xfrm>
            <a:off x="5943600" y="3749040"/>
            <a:ext cx="2834640" cy="1051560"/>
          </a:xfrm>
          <a:prstGeom prst="rect">
            <a:avLst/>
          </a:prstGeom>
          <a:solidFill>
            <a:srgbClr val="0D1B2A"/>
          </a:solidFill>
          <a:ln w="6350">
            <a:solidFill>
              <a:srgbClr val="2A4A6B"/>
            </a:solidFill>
            <a:prstDash val="solid"/>
          </a:ln>
        </p:spPr>
        <p:txBody>
          <a:bodyPr/>
          <a:lstStyle/>
          <a:p>
            <a:endParaRPr lang="en-GB"/>
          </a:p>
        </p:txBody>
      </p:sp>
      <p:sp>
        <p:nvSpPr>
          <p:cNvPr id="25" name="Shape 23"/>
          <p:cNvSpPr/>
          <p:nvPr/>
        </p:nvSpPr>
        <p:spPr>
          <a:xfrm>
            <a:off x="6053328" y="3840480"/>
            <a:ext cx="109728" cy="109728"/>
          </a:xfrm>
          <a:prstGeom prst="line">
            <a:avLst/>
          </a:prstGeom>
          <a:solidFill>
            <a:srgbClr val="FF5F57"/>
          </a:solidFill>
          <a:ln w="12700">
            <a:solidFill>
              <a:srgbClr val="FF5F57"/>
            </a:solidFill>
            <a:prstDash val="solid"/>
          </a:ln>
        </p:spPr>
        <p:txBody>
          <a:bodyPr/>
          <a:lstStyle/>
          <a:p>
            <a:endParaRPr lang="en-GB"/>
          </a:p>
        </p:txBody>
      </p:sp>
      <p:sp>
        <p:nvSpPr>
          <p:cNvPr id="26" name="Shape 24"/>
          <p:cNvSpPr/>
          <p:nvPr/>
        </p:nvSpPr>
        <p:spPr>
          <a:xfrm>
            <a:off x="6254496" y="3840480"/>
            <a:ext cx="109728" cy="109728"/>
          </a:xfrm>
          <a:prstGeom prst="line">
            <a:avLst/>
          </a:prstGeom>
          <a:solidFill>
            <a:srgbClr val="FFBD2E"/>
          </a:solidFill>
          <a:ln w="12700">
            <a:solidFill>
              <a:srgbClr val="FFBD2E"/>
            </a:solidFill>
            <a:prstDash val="solid"/>
          </a:ln>
        </p:spPr>
        <p:txBody>
          <a:bodyPr/>
          <a:lstStyle/>
          <a:p>
            <a:endParaRPr lang="en-GB"/>
          </a:p>
        </p:txBody>
      </p:sp>
      <p:sp>
        <p:nvSpPr>
          <p:cNvPr id="27" name="Shape 25"/>
          <p:cNvSpPr/>
          <p:nvPr/>
        </p:nvSpPr>
        <p:spPr>
          <a:xfrm>
            <a:off x="6455664" y="3840480"/>
            <a:ext cx="109728" cy="109728"/>
          </a:xfrm>
          <a:prstGeom prst="line">
            <a:avLst/>
          </a:prstGeom>
          <a:solidFill>
            <a:srgbClr val="28C840"/>
          </a:solidFill>
          <a:ln w="12700">
            <a:solidFill>
              <a:srgbClr val="28C840"/>
            </a:solidFill>
            <a:prstDash val="solid"/>
          </a:ln>
        </p:spPr>
        <p:txBody>
          <a:bodyPr/>
          <a:lstStyle/>
          <a:p>
            <a:endParaRPr lang="en-GB"/>
          </a:p>
        </p:txBody>
      </p:sp>
      <p:sp>
        <p:nvSpPr>
          <p:cNvPr id="28" name="Text 26"/>
          <p:cNvSpPr/>
          <p:nvPr/>
        </p:nvSpPr>
        <p:spPr>
          <a:xfrm>
            <a:off x="6053328" y="4005072"/>
            <a:ext cx="2615184" cy="758952"/>
          </a:xfrm>
          <a:prstGeom prst="rect">
            <a:avLst/>
          </a:prstGeom>
          <a:noFill/>
          <a:ln/>
        </p:spPr>
        <p:txBody>
          <a:bodyPr wrap="square" rtlCol="0" anchor="t"/>
          <a:lstStyle/>
          <a:p>
            <a:pPr marL="0" indent="0">
              <a:buNone/>
            </a:pPr>
            <a:r>
              <a:rPr lang="en-US" sz="950" dirty="0">
                <a:solidFill>
                  <a:srgbClr val="A8D8FF"/>
                </a:solidFill>
                <a:latin typeface="Consolas" pitchFamily="34" charset="0"/>
                <a:ea typeface="Consolas" pitchFamily="34" charset="-122"/>
                <a:cs typeface="Consolas" pitchFamily="34" charset="-120"/>
              </a:rPr>
              <a:t>public BufferedImage image;</a:t>
            </a:r>
            <a:endParaRPr lang="en-US" sz="950" dirty="0"/>
          </a:p>
          <a:p>
            <a:pPr marL="0" indent="0">
              <a:buNone/>
            </a:pPr>
            <a:r>
              <a:rPr lang="en-US" sz="950" dirty="0">
                <a:solidFill>
                  <a:srgbClr val="A8D8FF"/>
                </a:solidFill>
                <a:latin typeface="Consolas" pitchFamily="34" charset="0"/>
                <a:ea typeface="Consolas" pitchFamily="34" charset="-122"/>
                <a:cs typeface="Consolas" pitchFamily="34" charset="-120"/>
              </a:rPr>
              <a:t>public Color color;</a:t>
            </a:r>
            <a:endParaRPr lang="en-US" sz="950" dirty="0"/>
          </a:p>
          <a:p>
            <a:pPr marL="0" indent="0">
              <a:buNone/>
            </a:pPr>
            <a:r>
              <a:rPr lang="en-US" sz="950" dirty="0">
                <a:solidFill>
                  <a:srgbClr val="A8D8FF"/>
                </a:solidFill>
                <a:latin typeface="Consolas" pitchFamily="34" charset="0"/>
                <a:ea typeface="Consolas" pitchFamily="34" charset="-122"/>
                <a:cs typeface="Consolas" pitchFamily="34" charset="-120"/>
              </a:rPr>
              <a:t>public boolean collision;</a:t>
            </a:r>
            <a:endParaRPr lang="en-US" sz="9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5">
    <p:bg>
      <p:bgPr>
        <a:solidFill>
          <a:srgbClr val="0D1B2A"/>
        </a:solidFill>
        <a:effectLst/>
      </p:bgPr>
    </p:bg>
    <p:spTree>
      <p:nvGrpSpPr>
        <p:cNvPr id="1" name=""/>
        <p:cNvGrpSpPr/>
        <p:nvPr/>
      </p:nvGrpSpPr>
      <p:grpSpPr>
        <a:xfrm>
          <a:off x="0" y="0"/>
          <a:ext cx="0" cy="0"/>
          <a:chOff x="0" y="0"/>
          <a:chExt cx="0" cy="0"/>
        </a:xfrm>
      </p:grpSpPr>
      <p:sp>
        <p:nvSpPr>
          <p:cNvPr id="2" name="Text 0"/>
          <p:cNvSpPr/>
          <p:nvPr/>
        </p:nvSpPr>
        <p:spPr>
          <a:xfrm>
            <a:off x="640080" y="1645920"/>
            <a:ext cx="7863840" cy="1280160"/>
          </a:xfrm>
          <a:prstGeom prst="rect">
            <a:avLst/>
          </a:prstGeom>
          <a:noFill/>
          <a:ln/>
        </p:spPr>
        <p:txBody>
          <a:bodyPr wrap="square" rtlCol="0" anchor="ctr"/>
          <a:lstStyle/>
          <a:p>
            <a:pPr marL="0" indent="0" algn="ctr">
              <a:buNone/>
            </a:pPr>
            <a:r>
              <a:rPr lang="en-US" sz="4600" b="1" dirty="0">
                <a:solidFill>
                  <a:srgbClr val="FFFFFF"/>
                </a:solidFill>
                <a:latin typeface="Georgia" pitchFamily="34" charset="0"/>
                <a:ea typeface="Georgia" pitchFamily="34" charset="-122"/>
                <a:cs typeface="Georgia" pitchFamily="34" charset="-120"/>
              </a:rPr>
              <a:t>ArcherBoss &amp; GamePanel</a:t>
            </a:r>
            <a:endParaRPr lang="en-US" sz="4600" dirty="0"/>
          </a:p>
        </p:txBody>
      </p:sp>
      <p:sp>
        <p:nvSpPr>
          <p:cNvPr id="3" name="Text 1"/>
          <p:cNvSpPr/>
          <p:nvPr/>
        </p:nvSpPr>
        <p:spPr>
          <a:xfrm>
            <a:off x="640080" y="3017520"/>
            <a:ext cx="7863840" cy="640080"/>
          </a:xfrm>
          <a:prstGeom prst="rect">
            <a:avLst/>
          </a:prstGeom>
          <a:noFill/>
          <a:ln/>
        </p:spPr>
        <p:txBody>
          <a:bodyPr wrap="square" rtlCol="0" anchor="ctr"/>
          <a:lstStyle/>
          <a:p>
            <a:pPr marL="0" indent="0" algn="ctr">
              <a:buNone/>
            </a:pPr>
            <a:r>
              <a:rPr lang="en-US" sz="1800" dirty="0">
                <a:solidFill>
                  <a:srgbClr val="D6E4F7"/>
                </a:solidFill>
                <a:latin typeface="Calibri" pitchFamily="34" charset="0"/>
                <a:ea typeface="Calibri" pitchFamily="34" charset="-122"/>
                <a:cs typeface="Calibri" pitchFamily="34" charset="-120"/>
              </a:rPr>
              <a:t>Boss AI, Attacks &amp; Game Loop Orchestration</a:t>
            </a:r>
            <a:endParaRPr lang="en-US" sz="1800" dirty="0"/>
          </a:p>
        </p:txBody>
      </p:sp>
      <p:sp>
        <p:nvSpPr>
          <p:cNvPr id="4" name="Shape 2"/>
          <p:cNvSpPr/>
          <p:nvPr/>
        </p:nvSpPr>
        <p:spPr>
          <a:xfrm>
            <a:off x="3840480" y="4297680"/>
            <a:ext cx="1234440" cy="256032"/>
          </a:xfrm>
          <a:prstGeom prst="roundRect">
            <a:avLst>
              <a:gd name="adj" fmla="val 17857"/>
            </a:avLst>
          </a:prstGeom>
          <a:solidFill>
            <a:srgbClr val="C0392B"/>
          </a:solidFill>
          <a:ln w="12700">
            <a:solidFill>
              <a:srgbClr val="C0392B"/>
            </a:solidFill>
            <a:prstDash val="solid"/>
          </a:ln>
        </p:spPr>
        <p:txBody>
          <a:bodyPr/>
          <a:lstStyle/>
          <a:p>
            <a:endParaRPr lang="en-GB"/>
          </a:p>
        </p:txBody>
      </p:sp>
      <p:sp>
        <p:nvSpPr>
          <p:cNvPr id="5" name="Text 3"/>
          <p:cNvSpPr/>
          <p:nvPr/>
        </p:nvSpPr>
        <p:spPr>
          <a:xfrm>
            <a:off x="3840480" y="4297680"/>
            <a:ext cx="1234440"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SECTION 06</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6">
    <p:bg>
      <p:bgPr>
        <a:solidFill>
          <a:srgbClr val="E8EDF2"/>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1B3A5C"/>
          </a:solidFill>
          <a:ln w="12700">
            <a:solidFill>
              <a:srgbClr val="1B3A5C"/>
            </a:solidFill>
            <a:prstDash val="solid"/>
          </a:ln>
        </p:spPr>
        <p:txBody>
          <a:bodyPr/>
          <a:lstStyle/>
          <a:p>
            <a:endParaRPr lang="en-GB"/>
          </a:p>
        </p:txBody>
      </p:sp>
      <p:sp>
        <p:nvSpPr>
          <p:cNvPr id="3" name="Text 1"/>
          <p:cNvSpPr/>
          <p:nvPr/>
        </p:nvSpPr>
        <p:spPr>
          <a:xfrm>
            <a:off x="365760" y="182880"/>
            <a:ext cx="8503920" cy="594360"/>
          </a:xfrm>
          <a:prstGeom prst="rect">
            <a:avLst/>
          </a:prstGeom>
          <a:noFill/>
          <a:ln/>
        </p:spPr>
        <p:txBody>
          <a:bodyPr wrap="square" lIns="0" tIns="0" rIns="0" bIns="0" rtlCol="0" anchor="ctr"/>
          <a:lstStyle/>
          <a:p>
            <a:pPr marL="0" indent="0" algn="l">
              <a:buNone/>
            </a:pPr>
            <a:r>
              <a:rPr lang="en-US" sz="2400" b="1" dirty="0">
                <a:solidFill>
                  <a:srgbClr val="1B3A5C"/>
                </a:solidFill>
                <a:latin typeface="Georgia" pitchFamily="34" charset="0"/>
                <a:ea typeface="Georgia" pitchFamily="34" charset="-122"/>
                <a:cs typeface="Georgia" pitchFamily="34" charset="-120"/>
              </a:rPr>
              <a:t>ArcherBoss.java — Attack Phases &amp; Boss AI</a:t>
            </a:r>
            <a:endParaRPr lang="en-US" sz="2400" dirty="0"/>
          </a:p>
        </p:txBody>
      </p:sp>
      <p:sp>
        <p:nvSpPr>
          <p:cNvPr id="4" name="Shape 2"/>
          <p:cNvSpPr/>
          <p:nvPr/>
        </p:nvSpPr>
        <p:spPr>
          <a:xfrm>
            <a:off x="365760" y="804672"/>
            <a:ext cx="8412480" cy="36576"/>
          </a:xfrm>
          <a:prstGeom prst="rect">
            <a:avLst/>
          </a:prstGeom>
          <a:solidFill>
            <a:srgbClr val="C0392B"/>
          </a:solidFill>
          <a:ln w="12700">
            <a:solidFill>
              <a:srgbClr val="C0392B"/>
            </a:solidFill>
            <a:prstDash val="solid"/>
          </a:ln>
        </p:spPr>
        <p:txBody>
          <a:bodyPr/>
          <a:lstStyle/>
          <a:p>
            <a:endParaRPr lang="en-GB"/>
          </a:p>
        </p:txBody>
      </p:sp>
      <p:sp>
        <p:nvSpPr>
          <p:cNvPr id="5" name="Shape 3"/>
          <p:cNvSpPr/>
          <p:nvPr/>
        </p:nvSpPr>
        <p:spPr>
          <a:xfrm>
            <a:off x="365760" y="960120"/>
            <a:ext cx="2697480" cy="2331720"/>
          </a:xfrm>
          <a:prstGeom prst="rect">
            <a:avLst/>
          </a:prstGeom>
          <a:solidFill>
            <a:srgbClr val="FFFFFF"/>
          </a:solidFill>
          <a:ln w="6350">
            <a:solidFill>
              <a:srgbClr val="D0D8E4"/>
            </a:solidFill>
            <a:prstDash val="solid"/>
          </a:ln>
          <a:effectLst>
            <a:outerShdw blurRad="50800" dist="12700" dir="8100000" algn="bl" rotWithShape="0">
              <a:srgbClr val="000000">
                <a:alpha val="8000"/>
              </a:srgbClr>
            </a:outerShdw>
          </a:effectLst>
        </p:spPr>
        <p:txBody>
          <a:bodyPr/>
          <a:lstStyle/>
          <a:p>
            <a:endParaRPr lang="en-GB"/>
          </a:p>
        </p:txBody>
      </p:sp>
      <p:sp>
        <p:nvSpPr>
          <p:cNvPr id="6" name="Shape 4"/>
          <p:cNvSpPr/>
          <p:nvPr/>
        </p:nvSpPr>
        <p:spPr>
          <a:xfrm>
            <a:off x="365760" y="960120"/>
            <a:ext cx="64008" cy="2331720"/>
          </a:xfrm>
          <a:prstGeom prst="rect">
            <a:avLst/>
          </a:prstGeom>
          <a:solidFill>
            <a:srgbClr val="1B3A5C"/>
          </a:solidFill>
          <a:ln w="12700">
            <a:solidFill>
              <a:srgbClr val="1B3A5C"/>
            </a:solidFill>
            <a:prstDash val="solid"/>
          </a:ln>
        </p:spPr>
        <p:txBody>
          <a:bodyPr/>
          <a:lstStyle/>
          <a:p>
            <a:endParaRPr lang="en-GB"/>
          </a:p>
        </p:txBody>
      </p:sp>
      <p:sp>
        <p:nvSpPr>
          <p:cNvPr id="7" name="Text 5"/>
          <p:cNvSpPr/>
          <p:nvPr/>
        </p:nvSpPr>
        <p:spPr>
          <a:xfrm>
            <a:off x="548640" y="1005840"/>
            <a:ext cx="2377440" cy="347472"/>
          </a:xfrm>
          <a:prstGeom prst="rect">
            <a:avLst/>
          </a:prstGeom>
          <a:noFill/>
          <a:ln/>
        </p:spPr>
        <p:txBody>
          <a:bodyPr wrap="square" lIns="0" tIns="0" rIns="0" bIns="0" rtlCol="0" anchor="ctr"/>
          <a:lstStyle/>
          <a:p>
            <a:pPr marL="0" indent="0">
              <a:buNone/>
            </a:pPr>
            <a:r>
              <a:rPr lang="en-US" sz="1300" b="1" dirty="0">
                <a:solidFill>
                  <a:srgbClr val="1B3A5C"/>
                </a:solidFill>
                <a:latin typeface="Georgia" pitchFamily="34" charset="0"/>
                <a:ea typeface="Georgia" pitchFamily="34" charset="-122"/>
                <a:cs typeface="Georgia" pitchFamily="34" charset="-120"/>
              </a:rPr>
              <a:t>Shotgun Spread</a:t>
            </a:r>
            <a:endParaRPr lang="en-US" sz="1300" dirty="0"/>
          </a:p>
        </p:txBody>
      </p:sp>
      <p:sp>
        <p:nvSpPr>
          <p:cNvPr id="8" name="Text 6"/>
          <p:cNvSpPr/>
          <p:nvPr/>
        </p:nvSpPr>
        <p:spPr>
          <a:xfrm>
            <a:off x="548640" y="1389888"/>
            <a:ext cx="2377440" cy="1783080"/>
          </a:xfrm>
          <a:prstGeom prst="rect">
            <a:avLst/>
          </a:prstGeom>
          <a:noFill/>
          <a:ln/>
        </p:spPr>
        <p:txBody>
          <a:bodyPr wrap="square" rtlCol="0" anchor="t"/>
          <a:lstStyle/>
          <a:p>
            <a:pPr marL="0" indent="0">
              <a:buNone/>
            </a:pPr>
            <a:r>
              <a:rPr lang="en-US" sz="1100" dirty="0">
                <a:solidFill>
                  <a:srgbClr val="4A5568"/>
                </a:solidFill>
                <a:latin typeface="Calibri" pitchFamily="34" charset="0"/>
                <a:ea typeface="Calibri" pitchFamily="34" charset="-122"/>
                <a:cs typeface="Calibri" pitchFamily="34" charset="-120"/>
              </a:rPr>
              <a:t>Default attack: 3 arrows fired at −15°, 0°, +15° around the player. Speed 8.5. Cooldown 36 frames (lvl 5) or 100 frames (lvl 10).</a:t>
            </a:r>
            <a:endParaRPr lang="en-US" sz="1100" dirty="0"/>
          </a:p>
        </p:txBody>
      </p:sp>
      <p:sp>
        <p:nvSpPr>
          <p:cNvPr id="9" name="Shape 7"/>
          <p:cNvSpPr/>
          <p:nvPr/>
        </p:nvSpPr>
        <p:spPr>
          <a:xfrm>
            <a:off x="3227832" y="960120"/>
            <a:ext cx="2697480" cy="2331720"/>
          </a:xfrm>
          <a:prstGeom prst="rect">
            <a:avLst/>
          </a:prstGeom>
          <a:solidFill>
            <a:srgbClr val="FFFFFF"/>
          </a:solidFill>
          <a:ln w="6350">
            <a:solidFill>
              <a:srgbClr val="D0D8E4"/>
            </a:solidFill>
            <a:prstDash val="solid"/>
          </a:ln>
          <a:effectLst>
            <a:outerShdw blurRad="50800" dist="12700" dir="8100000" algn="bl" rotWithShape="0">
              <a:srgbClr val="000000">
                <a:alpha val="8000"/>
              </a:srgbClr>
            </a:outerShdw>
          </a:effectLst>
        </p:spPr>
        <p:txBody>
          <a:bodyPr/>
          <a:lstStyle/>
          <a:p>
            <a:endParaRPr lang="en-GB"/>
          </a:p>
        </p:txBody>
      </p:sp>
      <p:sp>
        <p:nvSpPr>
          <p:cNvPr id="10" name="Shape 8"/>
          <p:cNvSpPr/>
          <p:nvPr/>
        </p:nvSpPr>
        <p:spPr>
          <a:xfrm>
            <a:off x="3227832" y="960120"/>
            <a:ext cx="64008" cy="2331720"/>
          </a:xfrm>
          <a:prstGeom prst="rect">
            <a:avLst/>
          </a:prstGeom>
          <a:solidFill>
            <a:srgbClr val="C0392B"/>
          </a:solidFill>
          <a:ln w="12700">
            <a:solidFill>
              <a:srgbClr val="C0392B"/>
            </a:solidFill>
            <a:prstDash val="solid"/>
          </a:ln>
        </p:spPr>
        <p:txBody>
          <a:bodyPr/>
          <a:lstStyle/>
          <a:p>
            <a:endParaRPr lang="en-GB"/>
          </a:p>
        </p:txBody>
      </p:sp>
      <p:sp>
        <p:nvSpPr>
          <p:cNvPr id="11" name="Text 9"/>
          <p:cNvSpPr/>
          <p:nvPr/>
        </p:nvSpPr>
        <p:spPr>
          <a:xfrm>
            <a:off x="3410712" y="1005840"/>
            <a:ext cx="2377440" cy="347472"/>
          </a:xfrm>
          <a:prstGeom prst="rect">
            <a:avLst/>
          </a:prstGeom>
          <a:noFill/>
          <a:ln/>
        </p:spPr>
        <p:txBody>
          <a:bodyPr wrap="square" lIns="0" tIns="0" rIns="0" bIns="0" rtlCol="0" anchor="ctr"/>
          <a:lstStyle/>
          <a:p>
            <a:pPr marL="0" indent="0">
              <a:buNone/>
            </a:pPr>
            <a:r>
              <a:rPr lang="en-US" sz="1300" b="1" dirty="0">
                <a:solidFill>
                  <a:srgbClr val="1B3A5C"/>
                </a:solidFill>
                <a:latin typeface="Georgia" pitchFamily="34" charset="0"/>
                <a:ea typeface="Georgia" pitchFamily="34" charset="-122"/>
                <a:cs typeface="Georgia" pitchFamily="34" charset="-120"/>
              </a:rPr>
              <a:t>Frenzy State</a:t>
            </a:r>
            <a:endParaRPr lang="en-US" sz="1300" dirty="0"/>
          </a:p>
        </p:txBody>
      </p:sp>
      <p:sp>
        <p:nvSpPr>
          <p:cNvPr id="12" name="Text 10"/>
          <p:cNvSpPr/>
          <p:nvPr/>
        </p:nvSpPr>
        <p:spPr>
          <a:xfrm>
            <a:off x="3410712" y="1389888"/>
            <a:ext cx="2377440" cy="1783080"/>
          </a:xfrm>
          <a:prstGeom prst="rect">
            <a:avLst/>
          </a:prstGeom>
          <a:noFill/>
          <a:ln/>
        </p:spPr>
        <p:txBody>
          <a:bodyPr wrap="square" rtlCol="0" anchor="t"/>
          <a:lstStyle/>
          <a:p>
            <a:pPr marL="0" indent="0">
              <a:buNone/>
            </a:pPr>
            <a:r>
              <a:rPr lang="en-US" sz="1100" dirty="0">
                <a:solidFill>
                  <a:srgbClr val="4A5568"/>
                </a:solidFill>
                <a:latin typeface="Calibri" pitchFamily="34" charset="0"/>
                <a:ea typeface="Calibri" pitchFamily="34" charset="-122"/>
                <a:cs typeface="Calibri" pitchFamily="34" charset="-120"/>
              </a:rPr>
              <a:t>Triggered on crystal hit. 5s bullet-hell sprinkler: 4 arrows per frame at 90° offsets, rotating 10°/frame. Boss holds still.</a:t>
            </a:r>
            <a:endParaRPr lang="en-US" sz="1100" dirty="0"/>
          </a:p>
        </p:txBody>
      </p:sp>
      <p:sp>
        <p:nvSpPr>
          <p:cNvPr id="13" name="Shape 11"/>
          <p:cNvSpPr/>
          <p:nvPr/>
        </p:nvSpPr>
        <p:spPr>
          <a:xfrm>
            <a:off x="6089904" y="960120"/>
            <a:ext cx="2697480" cy="2331720"/>
          </a:xfrm>
          <a:prstGeom prst="rect">
            <a:avLst/>
          </a:prstGeom>
          <a:solidFill>
            <a:srgbClr val="FFFFFF"/>
          </a:solidFill>
          <a:ln w="6350">
            <a:solidFill>
              <a:srgbClr val="D0D8E4"/>
            </a:solidFill>
            <a:prstDash val="solid"/>
          </a:ln>
          <a:effectLst>
            <a:outerShdw blurRad="50800" dist="12700" dir="8100000" algn="bl" rotWithShape="0">
              <a:srgbClr val="000000">
                <a:alpha val="8000"/>
              </a:srgbClr>
            </a:outerShdw>
          </a:effectLst>
        </p:spPr>
        <p:txBody>
          <a:bodyPr/>
          <a:lstStyle/>
          <a:p>
            <a:endParaRPr lang="en-GB"/>
          </a:p>
        </p:txBody>
      </p:sp>
      <p:sp>
        <p:nvSpPr>
          <p:cNvPr id="14" name="Shape 12"/>
          <p:cNvSpPr/>
          <p:nvPr/>
        </p:nvSpPr>
        <p:spPr>
          <a:xfrm>
            <a:off x="6089904" y="960120"/>
            <a:ext cx="64008" cy="2331720"/>
          </a:xfrm>
          <a:prstGeom prst="rect">
            <a:avLst/>
          </a:prstGeom>
          <a:solidFill>
            <a:srgbClr val="2563A8"/>
          </a:solidFill>
          <a:ln w="12700">
            <a:solidFill>
              <a:srgbClr val="2563A8"/>
            </a:solidFill>
            <a:prstDash val="solid"/>
          </a:ln>
        </p:spPr>
        <p:txBody>
          <a:bodyPr/>
          <a:lstStyle/>
          <a:p>
            <a:endParaRPr lang="en-GB"/>
          </a:p>
        </p:txBody>
      </p:sp>
      <p:sp>
        <p:nvSpPr>
          <p:cNvPr id="15" name="Text 13"/>
          <p:cNvSpPr/>
          <p:nvPr/>
        </p:nvSpPr>
        <p:spPr>
          <a:xfrm>
            <a:off x="6272784" y="1005840"/>
            <a:ext cx="2377440" cy="347472"/>
          </a:xfrm>
          <a:prstGeom prst="rect">
            <a:avLst/>
          </a:prstGeom>
          <a:noFill/>
          <a:ln/>
        </p:spPr>
        <p:txBody>
          <a:bodyPr wrap="square" lIns="0" tIns="0" rIns="0" bIns="0" rtlCol="0" anchor="ctr"/>
          <a:lstStyle/>
          <a:p>
            <a:pPr marL="0" indent="0">
              <a:buNone/>
            </a:pPr>
            <a:r>
              <a:rPr lang="en-US" sz="1300" b="1" dirty="0">
                <a:solidFill>
                  <a:srgbClr val="1B3A5C"/>
                </a:solidFill>
                <a:latin typeface="Georgia" pitchFamily="34" charset="0"/>
                <a:ea typeface="Georgia" pitchFamily="34" charset="-122"/>
                <a:cs typeface="Georgia" pitchFamily="34" charset="-120"/>
              </a:rPr>
              <a:t>Machine-Gun Burst</a:t>
            </a:r>
            <a:endParaRPr lang="en-US" sz="1300" dirty="0"/>
          </a:p>
        </p:txBody>
      </p:sp>
      <p:sp>
        <p:nvSpPr>
          <p:cNvPr id="16" name="Text 14"/>
          <p:cNvSpPr/>
          <p:nvPr/>
        </p:nvSpPr>
        <p:spPr>
          <a:xfrm>
            <a:off x="6272784" y="1389888"/>
            <a:ext cx="2377440" cy="1783080"/>
          </a:xfrm>
          <a:prstGeom prst="rect">
            <a:avLst/>
          </a:prstGeom>
          <a:noFill/>
          <a:ln/>
        </p:spPr>
        <p:txBody>
          <a:bodyPr wrap="square" rtlCol="0" anchor="t"/>
          <a:lstStyle/>
          <a:p>
            <a:pPr marL="0" indent="0">
              <a:buNone/>
            </a:pPr>
            <a:r>
              <a:rPr lang="en-US" sz="1100" dirty="0">
                <a:solidFill>
                  <a:srgbClr val="4A5568"/>
                </a:solidFill>
                <a:latin typeface="Calibri" pitchFamily="34" charset="0"/>
                <a:ea typeface="Calibri" pitchFamily="34" charset="-122"/>
                <a:cs typeface="Calibri" pitchFamily="34" charset="-120"/>
              </a:rPr>
              <a:t>10% chance per cooldown cycle. Phase 1: wind-up 2–4s. Phase 2: rapid-fire volleys for 3s. 8s cooldown after. Sprite vibrates during fire.</a:t>
            </a:r>
            <a:endParaRPr lang="en-US" sz="1100" dirty="0"/>
          </a:p>
        </p:txBody>
      </p:sp>
      <p:sp>
        <p:nvSpPr>
          <p:cNvPr id="17" name="Shape 15"/>
          <p:cNvSpPr/>
          <p:nvPr/>
        </p:nvSpPr>
        <p:spPr>
          <a:xfrm>
            <a:off x="365760" y="3383280"/>
            <a:ext cx="5029200" cy="1417320"/>
          </a:xfrm>
          <a:prstGeom prst="rect">
            <a:avLst/>
          </a:prstGeom>
          <a:solidFill>
            <a:srgbClr val="0D1B2A"/>
          </a:solidFill>
          <a:ln w="6350">
            <a:solidFill>
              <a:srgbClr val="2A4A6B"/>
            </a:solidFill>
            <a:prstDash val="solid"/>
          </a:ln>
        </p:spPr>
        <p:txBody>
          <a:bodyPr/>
          <a:lstStyle/>
          <a:p>
            <a:endParaRPr lang="en-GB"/>
          </a:p>
        </p:txBody>
      </p:sp>
      <p:sp>
        <p:nvSpPr>
          <p:cNvPr id="18" name="Shape 16"/>
          <p:cNvSpPr/>
          <p:nvPr/>
        </p:nvSpPr>
        <p:spPr>
          <a:xfrm>
            <a:off x="475488" y="3474720"/>
            <a:ext cx="109728" cy="109728"/>
          </a:xfrm>
          <a:prstGeom prst="line">
            <a:avLst/>
          </a:prstGeom>
          <a:solidFill>
            <a:srgbClr val="FF5F57"/>
          </a:solidFill>
          <a:ln w="12700">
            <a:solidFill>
              <a:srgbClr val="FF5F57"/>
            </a:solidFill>
            <a:prstDash val="solid"/>
          </a:ln>
        </p:spPr>
        <p:txBody>
          <a:bodyPr/>
          <a:lstStyle/>
          <a:p>
            <a:endParaRPr lang="en-GB"/>
          </a:p>
        </p:txBody>
      </p:sp>
      <p:sp>
        <p:nvSpPr>
          <p:cNvPr id="19" name="Shape 17"/>
          <p:cNvSpPr/>
          <p:nvPr/>
        </p:nvSpPr>
        <p:spPr>
          <a:xfrm>
            <a:off x="676656" y="3474720"/>
            <a:ext cx="109728" cy="109728"/>
          </a:xfrm>
          <a:prstGeom prst="line">
            <a:avLst/>
          </a:prstGeom>
          <a:solidFill>
            <a:srgbClr val="FFBD2E"/>
          </a:solidFill>
          <a:ln w="12700">
            <a:solidFill>
              <a:srgbClr val="FFBD2E"/>
            </a:solidFill>
            <a:prstDash val="solid"/>
          </a:ln>
        </p:spPr>
        <p:txBody>
          <a:bodyPr/>
          <a:lstStyle/>
          <a:p>
            <a:endParaRPr lang="en-GB"/>
          </a:p>
        </p:txBody>
      </p:sp>
      <p:sp>
        <p:nvSpPr>
          <p:cNvPr id="20" name="Shape 18"/>
          <p:cNvSpPr/>
          <p:nvPr/>
        </p:nvSpPr>
        <p:spPr>
          <a:xfrm>
            <a:off x="877824" y="3474720"/>
            <a:ext cx="109728" cy="109728"/>
          </a:xfrm>
          <a:prstGeom prst="line">
            <a:avLst/>
          </a:prstGeom>
          <a:solidFill>
            <a:srgbClr val="28C840"/>
          </a:solidFill>
          <a:ln w="12700">
            <a:solidFill>
              <a:srgbClr val="28C840"/>
            </a:solidFill>
            <a:prstDash val="solid"/>
          </a:ln>
        </p:spPr>
        <p:txBody>
          <a:bodyPr/>
          <a:lstStyle/>
          <a:p>
            <a:endParaRPr lang="en-GB"/>
          </a:p>
        </p:txBody>
      </p:sp>
      <p:sp>
        <p:nvSpPr>
          <p:cNvPr id="21" name="Text 19"/>
          <p:cNvSpPr/>
          <p:nvPr/>
        </p:nvSpPr>
        <p:spPr>
          <a:xfrm>
            <a:off x="475488" y="3639312"/>
            <a:ext cx="4809744" cy="1124712"/>
          </a:xfrm>
          <a:prstGeom prst="rect">
            <a:avLst/>
          </a:prstGeom>
          <a:noFill/>
          <a:ln/>
        </p:spPr>
        <p:txBody>
          <a:bodyPr wrap="square" rtlCol="0" anchor="t"/>
          <a:lstStyle/>
          <a:p>
            <a:pPr marL="0" indent="0">
              <a:buNone/>
            </a:pPr>
            <a:r>
              <a:rPr lang="en-US" sz="950" dirty="0">
                <a:solidFill>
                  <a:srgbClr val="A8D8FF"/>
                </a:solidFill>
                <a:latin typeface="Consolas" pitchFamily="34" charset="0"/>
                <a:ea typeface="Consolas" pitchFamily="34" charset="-122"/>
                <a:cs typeface="Consolas" pitchFamily="34" charset="-120"/>
              </a:rPr>
              <a:t>for (int i = 0; i &lt; 4; i++) {</a:t>
            </a:r>
            <a:endParaRPr lang="en-US" sz="950" dirty="0"/>
          </a:p>
          <a:p>
            <a:pPr marL="0" indent="0">
              <a:buNone/>
            </a:pPr>
            <a:r>
              <a:rPr lang="en-US" sz="950" dirty="0">
                <a:solidFill>
                  <a:srgbClr val="A8D8FF"/>
                </a:solidFill>
                <a:latin typeface="Consolas" pitchFamily="34" charset="0"/>
                <a:ea typeface="Consolas" pitchFamily="34" charset="-122"/>
                <a:cs typeface="Consolas" pitchFamily="34" charset="-120"/>
              </a:rPr>
              <a:t>  double angle = frenzyAngle + (i * 90);</a:t>
            </a:r>
            <a:endParaRPr lang="en-US" sz="950" dirty="0"/>
          </a:p>
          <a:p>
            <a:pPr marL="0" indent="0">
              <a:buNone/>
            </a:pPr>
            <a:r>
              <a:rPr lang="en-US" sz="950" dirty="0">
                <a:solidFill>
                  <a:srgbClr val="A8D8FF"/>
                </a:solidFill>
                <a:latin typeface="Consolas" pitchFamily="34" charset="0"/>
                <a:ea typeface="Consolas" pitchFamily="34" charset="-122"/>
                <a:cs typeface="Consolas" pitchFamily="34" charset="-120"/>
              </a:rPr>
              <a:t>  double rad = Math.toRadians(angle);</a:t>
            </a:r>
            <a:endParaRPr lang="en-US" sz="950" dirty="0"/>
          </a:p>
          <a:p>
            <a:pPr marL="0" indent="0">
              <a:buNone/>
            </a:pPr>
            <a:r>
              <a:rPr lang="en-US" sz="950" dirty="0">
                <a:solidFill>
                  <a:srgbClr val="A8D8FF"/>
                </a:solidFill>
                <a:latin typeface="Consolas" pitchFamily="34" charset="0"/>
                <a:ea typeface="Consolas" pitchFamily="34" charset="-122"/>
                <a:cs typeface="Consolas" pitchFamily="34" charset="-120"/>
              </a:rPr>
              <a:t>  gp.arrows.add(new Arrow(gp,spawnX,spawnY,</a:t>
            </a:r>
            <a:endParaRPr lang="en-US" sz="950" dirty="0"/>
          </a:p>
          <a:p>
            <a:pPr marL="0" indent="0">
              <a:buNone/>
            </a:pPr>
            <a:r>
              <a:rPr lang="en-US" sz="950" dirty="0">
                <a:solidFill>
                  <a:srgbClr val="A8D8FF"/>
                </a:solidFill>
                <a:latin typeface="Consolas" pitchFamily="34" charset="0"/>
                <a:ea typeface="Consolas" pitchFamily="34" charset="-122"/>
                <a:cs typeface="Consolas" pitchFamily="34" charset="-120"/>
              </a:rPr>
              <a:t>    Math.cos(rad)*8.5, Math.sin(rad)*8.5)); }</a:t>
            </a:r>
            <a:endParaRPr lang="en-US" sz="950" dirty="0"/>
          </a:p>
        </p:txBody>
      </p:sp>
      <p:sp>
        <p:nvSpPr>
          <p:cNvPr id="22" name="Shape 20"/>
          <p:cNvSpPr/>
          <p:nvPr/>
        </p:nvSpPr>
        <p:spPr>
          <a:xfrm>
            <a:off x="5532120" y="3383280"/>
            <a:ext cx="3246120" cy="1417320"/>
          </a:xfrm>
          <a:prstGeom prst="rect">
            <a:avLst/>
          </a:prstGeom>
          <a:solidFill>
            <a:srgbClr val="1A2E44"/>
          </a:solidFill>
          <a:ln w="12700">
            <a:solidFill>
              <a:srgbClr val="3A7BD5"/>
            </a:solidFill>
            <a:prstDash val="solid"/>
          </a:ln>
        </p:spPr>
        <p:txBody>
          <a:bodyPr/>
          <a:lstStyle/>
          <a:p>
            <a:endParaRPr lang="en-GB"/>
          </a:p>
        </p:txBody>
      </p:sp>
      <p:sp>
        <p:nvSpPr>
          <p:cNvPr id="23" name="Shape 21"/>
          <p:cNvSpPr/>
          <p:nvPr/>
        </p:nvSpPr>
        <p:spPr>
          <a:xfrm>
            <a:off x="6954012" y="3771900"/>
            <a:ext cx="402336" cy="402336"/>
          </a:xfrm>
          <a:prstGeom prst="line">
            <a:avLst/>
          </a:prstGeom>
          <a:solidFill>
            <a:srgbClr val="2A4A6B"/>
          </a:solidFill>
          <a:ln w="6350">
            <a:solidFill>
              <a:srgbClr val="3A7BD5"/>
            </a:solidFill>
            <a:prstDash val="solid"/>
          </a:ln>
        </p:spPr>
        <p:txBody>
          <a:bodyPr/>
          <a:lstStyle/>
          <a:p>
            <a:endParaRPr lang="en-GB"/>
          </a:p>
        </p:txBody>
      </p:sp>
      <p:sp>
        <p:nvSpPr>
          <p:cNvPr id="24" name="Text 22"/>
          <p:cNvSpPr/>
          <p:nvPr/>
        </p:nvSpPr>
        <p:spPr>
          <a:xfrm>
            <a:off x="6954012" y="3771900"/>
            <a:ext cx="402336" cy="402336"/>
          </a:xfrm>
          <a:prstGeom prst="rect">
            <a:avLst/>
          </a:prstGeom>
          <a:noFill/>
          <a:ln/>
        </p:spPr>
        <p:txBody>
          <a:bodyPr wrap="square" rtlCol="0" anchor="ctr"/>
          <a:lstStyle/>
          <a:p>
            <a:pPr marL="0" indent="0" algn="ctr">
              <a:buNone/>
            </a:pPr>
            <a:r>
              <a:rPr lang="en-US" sz="1600" dirty="0">
                <a:solidFill>
                  <a:srgbClr val="000000"/>
                </a:solidFill>
              </a:rPr>
              <a:t>📷</a:t>
            </a:r>
            <a:endParaRPr lang="en-US" sz="1600" dirty="0"/>
          </a:p>
        </p:txBody>
      </p:sp>
      <p:sp>
        <p:nvSpPr>
          <p:cNvPr id="25" name="Text 23"/>
          <p:cNvSpPr/>
          <p:nvPr/>
        </p:nvSpPr>
        <p:spPr>
          <a:xfrm>
            <a:off x="5532120" y="4229100"/>
            <a:ext cx="3246120" cy="274320"/>
          </a:xfrm>
          <a:prstGeom prst="rect">
            <a:avLst/>
          </a:prstGeom>
          <a:noFill/>
          <a:ln/>
        </p:spPr>
        <p:txBody>
          <a:bodyPr wrap="square" rtlCol="0" anchor="ctr"/>
          <a:lstStyle/>
          <a:p>
            <a:pPr marL="0" indent="0" algn="ctr">
              <a:buNone/>
            </a:pPr>
            <a:r>
              <a:rPr lang="en-US" sz="1000" b="1" dirty="0">
                <a:solidFill>
                  <a:srgbClr val="D6E4F7"/>
                </a:solidFill>
                <a:latin typeface="Calibri" pitchFamily="34" charset="0"/>
                <a:ea typeface="Calibri" pitchFamily="34" charset="-122"/>
                <a:cs typeface="Calibri" pitchFamily="34" charset="-120"/>
              </a:rPr>
              <a:t>[ SCREENSHOT ]</a:t>
            </a:r>
            <a:endParaRPr lang="en-US" sz="1000" dirty="0"/>
          </a:p>
        </p:txBody>
      </p:sp>
      <p:sp>
        <p:nvSpPr>
          <p:cNvPr id="26" name="Text 24"/>
          <p:cNvSpPr/>
          <p:nvPr/>
        </p:nvSpPr>
        <p:spPr>
          <a:xfrm>
            <a:off x="5532120" y="4544568"/>
            <a:ext cx="3246120" cy="228600"/>
          </a:xfrm>
          <a:prstGeom prst="rect">
            <a:avLst/>
          </a:prstGeom>
          <a:noFill/>
          <a:ln/>
        </p:spPr>
        <p:txBody>
          <a:bodyPr wrap="square" rtlCol="0" anchor="ctr"/>
          <a:lstStyle/>
          <a:p>
            <a:pPr marL="0" indent="0" algn="ctr">
              <a:buNone/>
            </a:pPr>
            <a:r>
              <a:rPr lang="en-US" sz="850" dirty="0">
                <a:solidFill>
                  <a:srgbClr val="8C9CB0"/>
                </a:solidFill>
                <a:latin typeface="Calibri" pitchFamily="34" charset="0"/>
                <a:ea typeface="Calibri" pitchFamily="34" charset="-122"/>
                <a:cs typeface="Calibri" pitchFamily="34" charset="-120"/>
              </a:rPr>
              <a:t>Boss frenzy state: bullet-hell sprinkler + red trail/particle effect</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7">
    <p:bg>
      <p:bgPr>
        <a:solidFill>
          <a:srgbClr val="E8EDF2"/>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1B3A5C"/>
          </a:solidFill>
          <a:ln w="12700">
            <a:solidFill>
              <a:srgbClr val="1B3A5C"/>
            </a:solidFill>
            <a:prstDash val="solid"/>
          </a:ln>
        </p:spPr>
        <p:txBody>
          <a:bodyPr/>
          <a:lstStyle/>
          <a:p>
            <a:endParaRPr lang="en-GB"/>
          </a:p>
        </p:txBody>
      </p:sp>
      <p:sp>
        <p:nvSpPr>
          <p:cNvPr id="3" name="Text 1"/>
          <p:cNvSpPr/>
          <p:nvPr/>
        </p:nvSpPr>
        <p:spPr>
          <a:xfrm>
            <a:off x="365760" y="182880"/>
            <a:ext cx="8503920" cy="594360"/>
          </a:xfrm>
          <a:prstGeom prst="rect">
            <a:avLst/>
          </a:prstGeom>
          <a:noFill/>
          <a:ln/>
        </p:spPr>
        <p:txBody>
          <a:bodyPr wrap="square" lIns="0" tIns="0" rIns="0" bIns="0" rtlCol="0" anchor="ctr"/>
          <a:lstStyle/>
          <a:p>
            <a:pPr marL="0" indent="0" algn="l">
              <a:buNone/>
            </a:pPr>
            <a:r>
              <a:rPr lang="en-US" sz="2400" b="1" dirty="0">
                <a:solidFill>
                  <a:srgbClr val="1B3A5C"/>
                </a:solidFill>
                <a:latin typeface="Georgia" pitchFamily="34" charset="0"/>
                <a:ea typeface="Georgia" pitchFamily="34" charset="-122"/>
                <a:cs typeface="Georgia" pitchFamily="34" charset="-120"/>
              </a:rPr>
              <a:t>ArcherBoss.java — Advanced Mechanics</a:t>
            </a:r>
            <a:endParaRPr lang="en-US" sz="2400" dirty="0"/>
          </a:p>
        </p:txBody>
      </p:sp>
      <p:sp>
        <p:nvSpPr>
          <p:cNvPr id="4" name="Shape 2"/>
          <p:cNvSpPr/>
          <p:nvPr/>
        </p:nvSpPr>
        <p:spPr>
          <a:xfrm>
            <a:off x="365760" y="804672"/>
            <a:ext cx="8412480" cy="36576"/>
          </a:xfrm>
          <a:prstGeom prst="rect">
            <a:avLst/>
          </a:prstGeom>
          <a:solidFill>
            <a:srgbClr val="C0392B"/>
          </a:solidFill>
          <a:ln w="12700">
            <a:solidFill>
              <a:srgbClr val="C0392B"/>
            </a:solidFill>
            <a:prstDash val="solid"/>
          </a:ln>
        </p:spPr>
        <p:txBody>
          <a:bodyPr/>
          <a:lstStyle/>
          <a:p>
            <a:endParaRPr lang="en-GB"/>
          </a:p>
        </p:txBody>
      </p:sp>
      <p:sp>
        <p:nvSpPr>
          <p:cNvPr id="5" name="Shape 3"/>
          <p:cNvSpPr/>
          <p:nvPr/>
        </p:nvSpPr>
        <p:spPr>
          <a:xfrm>
            <a:off x="365760" y="960120"/>
            <a:ext cx="4069080" cy="1600200"/>
          </a:xfrm>
          <a:prstGeom prst="rect">
            <a:avLst/>
          </a:prstGeom>
          <a:solidFill>
            <a:srgbClr val="FFFFFF"/>
          </a:solidFill>
          <a:ln w="6350">
            <a:solidFill>
              <a:srgbClr val="D0D8E4"/>
            </a:solidFill>
            <a:prstDash val="solid"/>
          </a:ln>
          <a:effectLst>
            <a:outerShdw blurRad="50800" dist="12700" dir="8100000" algn="bl" rotWithShape="0">
              <a:srgbClr val="000000">
                <a:alpha val="8000"/>
              </a:srgbClr>
            </a:outerShdw>
          </a:effectLst>
        </p:spPr>
        <p:txBody>
          <a:bodyPr/>
          <a:lstStyle/>
          <a:p>
            <a:endParaRPr lang="en-GB"/>
          </a:p>
        </p:txBody>
      </p:sp>
      <p:sp>
        <p:nvSpPr>
          <p:cNvPr id="6" name="Shape 4"/>
          <p:cNvSpPr/>
          <p:nvPr/>
        </p:nvSpPr>
        <p:spPr>
          <a:xfrm>
            <a:off x="365760" y="960120"/>
            <a:ext cx="64008" cy="1600200"/>
          </a:xfrm>
          <a:prstGeom prst="rect">
            <a:avLst/>
          </a:prstGeom>
          <a:solidFill>
            <a:srgbClr val="1B3A5C"/>
          </a:solidFill>
          <a:ln w="12700">
            <a:solidFill>
              <a:srgbClr val="1B3A5C"/>
            </a:solidFill>
            <a:prstDash val="solid"/>
          </a:ln>
        </p:spPr>
        <p:txBody>
          <a:bodyPr/>
          <a:lstStyle/>
          <a:p>
            <a:endParaRPr lang="en-GB"/>
          </a:p>
        </p:txBody>
      </p:sp>
      <p:sp>
        <p:nvSpPr>
          <p:cNvPr id="7" name="Text 5"/>
          <p:cNvSpPr/>
          <p:nvPr/>
        </p:nvSpPr>
        <p:spPr>
          <a:xfrm>
            <a:off x="548640" y="1033272"/>
            <a:ext cx="3657600" cy="347472"/>
          </a:xfrm>
          <a:prstGeom prst="rect">
            <a:avLst/>
          </a:prstGeom>
          <a:noFill/>
          <a:ln/>
        </p:spPr>
        <p:txBody>
          <a:bodyPr wrap="square" lIns="0" tIns="0" rIns="0" bIns="0" rtlCol="0" anchor="ctr"/>
          <a:lstStyle/>
          <a:p>
            <a:pPr marL="0" indent="0">
              <a:buNone/>
            </a:pPr>
            <a:r>
              <a:rPr lang="en-US" sz="1300" b="1" dirty="0">
                <a:solidFill>
                  <a:srgbClr val="1B3A5C"/>
                </a:solidFill>
                <a:latin typeface="Georgia" pitchFamily="34" charset="0"/>
                <a:ea typeface="Georgia" pitchFamily="34" charset="-122"/>
                <a:cs typeface="Georgia" pitchFamily="34" charset="-120"/>
              </a:rPr>
              <a:t>A* Movement</a:t>
            </a:r>
            <a:endParaRPr lang="en-US" sz="1300" dirty="0"/>
          </a:p>
        </p:txBody>
      </p:sp>
      <p:sp>
        <p:nvSpPr>
          <p:cNvPr id="8" name="Text 6"/>
          <p:cNvSpPr/>
          <p:nvPr/>
        </p:nvSpPr>
        <p:spPr>
          <a:xfrm>
            <a:off x="548640" y="1417320"/>
            <a:ext cx="3657600" cy="1051560"/>
          </a:xfrm>
          <a:prstGeom prst="rect">
            <a:avLst/>
          </a:prstGeom>
          <a:noFill/>
          <a:ln/>
        </p:spPr>
        <p:txBody>
          <a:bodyPr wrap="square" rtlCol="0" anchor="t"/>
          <a:lstStyle/>
          <a:p>
            <a:pPr marL="0" indent="0">
              <a:buNone/>
            </a:pPr>
            <a:r>
              <a:rPr lang="en-US" sz="1100" dirty="0">
                <a:solidFill>
                  <a:srgbClr val="4A5568"/>
                </a:solidFill>
                <a:latin typeface="Calibri" pitchFamily="34" charset="0"/>
                <a:ea typeface="Calibri" pitchFamily="34" charset="-122"/>
                <a:cs typeface="Calibri" pitchFamily="34" charset="-120"/>
              </a:rPr>
              <a:t>Boss uses own A* pathfinding to chase player. Retreats fluently if player closes within 3 tiles. Clamped within screen bounds.</a:t>
            </a:r>
            <a:endParaRPr lang="en-US" sz="1100" dirty="0"/>
          </a:p>
        </p:txBody>
      </p:sp>
      <p:sp>
        <p:nvSpPr>
          <p:cNvPr id="9" name="Shape 7"/>
          <p:cNvSpPr/>
          <p:nvPr/>
        </p:nvSpPr>
        <p:spPr>
          <a:xfrm>
            <a:off x="4709160" y="960120"/>
            <a:ext cx="4069080" cy="1600200"/>
          </a:xfrm>
          <a:prstGeom prst="rect">
            <a:avLst/>
          </a:prstGeom>
          <a:solidFill>
            <a:srgbClr val="FFFFFF"/>
          </a:solidFill>
          <a:ln w="6350">
            <a:solidFill>
              <a:srgbClr val="D0D8E4"/>
            </a:solidFill>
            <a:prstDash val="solid"/>
          </a:ln>
          <a:effectLst>
            <a:outerShdw blurRad="50800" dist="12700" dir="8100000" algn="bl" rotWithShape="0">
              <a:srgbClr val="000000">
                <a:alpha val="8000"/>
              </a:srgbClr>
            </a:outerShdw>
          </a:effectLst>
        </p:spPr>
        <p:txBody>
          <a:bodyPr/>
          <a:lstStyle/>
          <a:p>
            <a:endParaRPr lang="en-GB"/>
          </a:p>
        </p:txBody>
      </p:sp>
      <p:sp>
        <p:nvSpPr>
          <p:cNvPr id="10" name="Shape 8"/>
          <p:cNvSpPr/>
          <p:nvPr/>
        </p:nvSpPr>
        <p:spPr>
          <a:xfrm>
            <a:off x="4709160" y="960120"/>
            <a:ext cx="64008" cy="1600200"/>
          </a:xfrm>
          <a:prstGeom prst="rect">
            <a:avLst/>
          </a:prstGeom>
          <a:solidFill>
            <a:srgbClr val="C0392B"/>
          </a:solidFill>
          <a:ln w="12700">
            <a:solidFill>
              <a:srgbClr val="C0392B"/>
            </a:solidFill>
            <a:prstDash val="solid"/>
          </a:ln>
        </p:spPr>
        <p:txBody>
          <a:bodyPr/>
          <a:lstStyle/>
          <a:p>
            <a:endParaRPr lang="en-GB"/>
          </a:p>
        </p:txBody>
      </p:sp>
      <p:sp>
        <p:nvSpPr>
          <p:cNvPr id="11" name="Text 9"/>
          <p:cNvSpPr/>
          <p:nvPr/>
        </p:nvSpPr>
        <p:spPr>
          <a:xfrm>
            <a:off x="4892040" y="1033272"/>
            <a:ext cx="3657600" cy="347472"/>
          </a:xfrm>
          <a:prstGeom prst="rect">
            <a:avLst/>
          </a:prstGeom>
          <a:noFill/>
          <a:ln/>
        </p:spPr>
        <p:txBody>
          <a:bodyPr wrap="square" lIns="0" tIns="0" rIns="0" bIns="0" rtlCol="0" anchor="ctr"/>
          <a:lstStyle/>
          <a:p>
            <a:pPr marL="0" indent="0">
              <a:buNone/>
            </a:pPr>
            <a:r>
              <a:rPr lang="en-US" sz="1300" b="1" dirty="0">
                <a:solidFill>
                  <a:srgbClr val="1B3A5C"/>
                </a:solidFill>
                <a:latin typeface="Georgia" pitchFamily="34" charset="0"/>
                <a:ea typeface="Georgia" pitchFamily="34" charset="-122"/>
                <a:cs typeface="Georgia" pitchFamily="34" charset="-120"/>
              </a:rPr>
              <a:t>Taunts</a:t>
            </a:r>
            <a:endParaRPr lang="en-US" sz="1300" dirty="0"/>
          </a:p>
        </p:txBody>
      </p:sp>
      <p:sp>
        <p:nvSpPr>
          <p:cNvPr id="12" name="Text 10"/>
          <p:cNvSpPr/>
          <p:nvPr/>
        </p:nvSpPr>
        <p:spPr>
          <a:xfrm>
            <a:off x="4892040" y="1417320"/>
            <a:ext cx="3657600" cy="1051560"/>
          </a:xfrm>
          <a:prstGeom prst="rect">
            <a:avLst/>
          </a:prstGeom>
          <a:noFill/>
          <a:ln/>
        </p:spPr>
        <p:txBody>
          <a:bodyPr wrap="square" rtlCol="0" anchor="t"/>
          <a:lstStyle/>
          <a:p>
            <a:pPr marL="0" indent="0">
              <a:buNone/>
            </a:pPr>
            <a:r>
              <a:rPr lang="en-US" sz="1100" dirty="0">
                <a:solidFill>
                  <a:srgbClr val="4A5568"/>
                </a:solidFill>
                <a:latin typeface="Calibri" pitchFamily="34" charset="0"/>
                <a:ea typeface="Calibri" pitchFamily="34" charset="-122"/>
                <a:cs typeface="Calibri" pitchFamily="34" charset="-120"/>
              </a:rPr>
              <a:t>Random taunts every 5s displayed in a speech bubble above the boss. Shown for 2s. 5 lines cycle randomly.</a:t>
            </a:r>
            <a:endParaRPr lang="en-US" sz="1100" dirty="0"/>
          </a:p>
        </p:txBody>
      </p:sp>
      <p:sp>
        <p:nvSpPr>
          <p:cNvPr id="13" name="Shape 11"/>
          <p:cNvSpPr/>
          <p:nvPr/>
        </p:nvSpPr>
        <p:spPr>
          <a:xfrm>
            <a:off x="365760" y="2834640"/>
            <a:ext cx="4069080" cy="1600200"/>
          </a:xfrm>
          <a:prstGeom prst="rect">
            <a:avLst/>
          </a:prstGeom>
          <a:solidFill>
            <a:srgbClr val="FFFFFF"/>
          </a:solidFill>
          <a:ln w="6350">
            <a:solidFill>
              <a:srgbClr val="D0D8E4"/>
            </a:solidFill>
            <a:prstDash val="solid"/>
          </a:ln>
          <a:effectLst>
            <a:outerShdw blurRad="50800" dist="12700" dir="8100000" algn="bl" rotWithShape="0">
              <a:srgbClr val="000000">
                <a:alpha val="8000"/>
              </a:srgbClr>
            </a:outerShdw>
          </a:effectLst>
        </p:spPr>
        <p:txBody>
          <a:bodyPr/>
          <a:lstStyle/>
          <a:p>
            <a:endParaRPr lang="en-GB"/>
          </a:p>
        </p:txBody>
      </p:sp>
      <p:sp>
        <p:nvSpPr>
          <p:cNvPr id="14" name="Shape 12"/>
          <p:cNvSpPr/>
          <p:nvPr/>
        </p:nvSpPr>
        <p:spPr>
          <a:xfrm>
            <a:off x="365760" y="2834640"/>
            <a:ext cx="64008" cy="1600200"/>
          </a:xfrm>
          <a:prstGeom prst="rect">
            <a:avLst/>
          </a:prstGeom>
          <a:solidFill>
            <a:srgbClr val="2563A8"/>
          </a:solidFill>
          <a:ln w="12700">
            <a:solidFill>
              <a:srgbClr val="2563A8"/>
            </a:solidFill>
            <a:prstDash val="solid"/>
          </a:ln>
        </p:spPr>
        <p:txBody>
          <a:bodyPr/>
          <a:lstStyle/>
          <a:p>
            <a:endParaRPr lang="en-GB"/>
          </a:p>
        </p:txBody>
      </p:sp>
      <p:sp>
        <p:nvSpPr>
          <p:cNvPr id="15" name="Text 13"/>
          <p:cNvSpPr/>
          <p:nvPr/>
        </p:nvSpPr>
        <p:spPr>
          <a:xfrm>
            <a:off x="548640" y="2907792"/>
            <a:ext cx="3657600" cy="347472"/>
          </a:xfrm>
          <a:prstGeom prst="rect">
            <a:avLst/>
          </a:prstGeom>
          <a:noFill/>
          <a:ln/>
        </p:spPr>
        <p:txBody>
          <a:bodyPr wrap="square" lIns="0" tIns="0" rIns="0" bIns="0" rtlCol="0" anchor="ctr"/>
          <a:lstStyle/>
          <a:p>
            <a:pPr marL="0" indent="0">
              <a:buNone/>
            </a:pPr>
            <a:r>
              <a:rPr lang="en-US" sz="1300" b="1" dirty="0">
                <a:solidFill>
                  <a:srgbClr val="1B3A5C"/>
                </a:solidFill>
                <a:latin typeface="Georgia" pitchFamily="34" charset="0"/>
                <a:ea typeface="Georgia" pitchFamily="34" charset="-122"/>
                <a:cs typeface="Georgia" pitchFamily="34" charset="-120"/>
              </a:rPr>
              <a:t>Level 10 Twin Bosses</a:t>
            </a:r>
            <a:endParaRPr lang="en-US" sz="1300" dirty="0"/>
          </a:p>
        </p:txBody>
      </p:sp>
      <p:sp>
        <p:nvSpPr>
          <p:cNvPr id="16" name="Text 14"/>
          <p:cNvSpPr/>
          <p:nvPr/>
        </p:nvSpPr>
        <p:spPr>
          <a:xfrm>
            <a:off x="548640" y="3291840"/>
            <a:ext cx="3657600" cy="1051560"/>
          </a:xfrm>
          <a:prstGeom prst="rect">
            <a:avLst/>
          </a:prstGeom>
          <a:noFill/>
          <a:ln/>
        </p:spPr>
        <p:txBody>
          <a:bodyPr wrap="square" rtlCol="0" anchor="t"/>
          <a:lstStyle/>
          <a:p>
            <a:pPr marL="0" indent="0">
              <a:buNone/>
            </a:pPr>
            <a:r>
              <a:rPr lang="en-US" sz="1100" dirty="0">
                <a:solidFill>
                  <a:srgbClr val="4A5568"/>
                </a:solidFill>
                <a:latin typeface="Calibri" pitchFamily="34" charset="0"/>
                <a:ea typeface="Calibri" pitchFamily="34" charset="-122"/>
                <a:cs typeface="Calibri" pitchFamily="34" charset="-120"/>
              </a:rPr>
              <a:t>At level 10, 2 bosses spawn. applySeparation() triggers every 3s — repels twins apart if within 2 tiles for 2s.</a:t>
            </a:r>
            <a:endParaRPr lang="en-US" sz="1100" dirty="0"/>
          </a:p>
        </p:txBody>
      </p:sp>
      <p:sp>
        <p:nvSpPr>
          <p:cNvPr id="17" name="Shape 15"/>
          <p:cNvSpPr/>
          <p:nvPr/>
        </p:nvSpPr>
        <p:spPr>
          <a:xfrm>
            <a:off x="4709160" y="2834640"/>
            <a:ext cx="4069080" cy="1600200"/>
          </a:xfrm>
          <a:prstGeom prst="rect">
            <a:avLst/>
          </a:prstGeom>
          <a:solidFill>
            <a:srgbClr val="FFFFFF"/>
          </a:solidFill>
          <a:ln w="6350">
            <a:solidFill>
              <a:srgbClr val="D0D8E4"/>
            </a:solidFill>
            <a:prstDash val="solid"/>
          </a:ln>
          <a:effectLst>
            <a:outerShdw blurRad="50800" dist="12700" dir="8100000" algn="bl" rotWithShape="0">
              <a:srgbClr val="000000">
                <a:alpha val="8000"/>
              </a:srgbClr>
            </a:outerShdw>
          </a:effectLst>
        </p:spPr>
        <p:txBody>
          <a:bodyPr/>
          <a:lstStyle/>
          <a:p>
            <a:endParaRPr lang="en-GB"/>
          </a:p>
        </p:txBody>
      </p:sp>
      <p:sp>
        <p:nvSpPr>
          <p:cNvPr id="18" name="Shape 16"/>
          <p:cNvSpPr/>
          <p:nvPr/>
        </p:nvSpPr>
        <p:spPr>
          <a:xfrm>
            <a:off x="4709160" y="2834640"/>
            <a:ext cx="64008" cy="1600200"/>
          </a:xfrm>
          <a:prstGeom prst="rect">
            <a:avLst/>
          </a:prstGeom>
          <a:solidFill>
            <a:srgbClr val="1B3A5C"/>
          </a:solidFill>
          <a:ln w="12700">
            <a:solidFill>
              <a:srgbClr val="1B3A5C"/>
            </a:solidFill>
            <a:prstDash val="solid"/>
          </a:ln>
        </p:spPr>
        <p:txBody>
          <a:bodyPr/>
          <a:lstStyle/>
          <a:p>
            <a:endParaRPr lang="en-GB"/>
          </a:p>
        </p:txBody>
      </p:sp>
      <p:sp>
        <p:nvSpPr>
          <p:cNvPr id="19" name="Text 17"/>
          <p:cNvSpPr/>
          <p:nvPr/>
        </p:nvSpPr>
        <p:spPr>
          <a:xfrm>
            <a:off x="4892040" y="2907792"/>
            <a:ext cx="3657600" cy="347472"/>
          </a:xfrm>
          <a:prstGeom prst="rect">
            <a:avLst/>
          </a:prstGeom>
          <a:noFill/>
          <a:ln/>
        </p:spPr>
        <p:txBody>
          <a:bodyPr wrap="square" lIns="0" tIns="0" rIns="0" bIns="0" rtlCol="0" anchor="ctr"/>
          <a:lstStyle/>
          <a:p>
            <a:pPr marL="0" indent="0">
              <a:buNone/>
            </a:pPr>
            <a:r>
              <a:rPr lang="en-US" sz="1300" b="1" dirty="0">
                <a:solidFill>
                  <a:srgbClr val="1B3A5C"/>
                </a:solidFill>
                <a:latin typeface="Georgia" pitchFamily="34" charset="0"/>
                <a:ea typeface="Georgia" pitchFamily="34" charset="-122"/>
                <a:cs typeface="Georgia" pitchFamily="34" charset="-120"/>
              </a:rPr>
              <a:t>Visual Effects</a:t>
            </a:r>
            <a:endParaRPr lang="en-US" sz="1300" dirty="0"/>
          </a:p>
        </p:txBody>
      </p:sp>
      <p:sp>
        <p:nvSpPr>
          <p:cNvPr id="20" name="Text 18"/>
          <p:cNvSpPr/>
          <p:nvPr/>
        </p:nvSpPr>
        <p:spPr>
          <a:xfrm>
            <a:off x="4892040" y="3291840"/>
            <a:ext cx="3657600" cy="1051560"/>
          </a:xfrm>
          <a:prstGeom prst="rect">
            <a:avLst/>
          </a:prstGeom>
          <a:noFill/>
          <a:ln/>
        </p:spPr>
        <p:txBody>
          <a:bodyPr wrap="square" rtlCol="0" anchor="t"/>
          <a:lstStyle/>
          <a:p>
            <a:pPr marL="0" indent="0">
              <a:buNone/>
            </a:pPr>
            <a:r>
              <a:rPr lang="en-US" sz="1100" dirty="0">
                <a:solidFill>
                  <a:srgbClr val="4A5568"/>
                </a:solidFill>
                <a:latin typeface="Calibri" pitchFamily="34" charset="0"/>
                <a:ea typeface="Calibri" pitchFamily="34" charset="-122"/>
                <a:cs typeface="Calibri" pitchFamily="34" charset="-120"/>
              </a:rPr>
              <a:t>Damage flash (white overlay 10 frames). Frenzy: alpha-faded trail of 5 ghost images + red particles. Burst: yellow particles swarm.</a:t>
            </a:r>
            <a:endParaRPr lang="en-US" sz="1100" dirty="0"/>
          </a:p>
        </p:txBody>
      </p:sp>
      <p:sp>
        <p:nvSpPr>
          <p:cNvPr id="21" name="Shape 19"/>
          <p:cNvSpPr/>
          <p:nvPr/>
        </p:nvSpPr>
        <p:spPr>
          <a:xfrm>
            <a:off x="365760" y="4480560"/>
            <a:ext cx="8412480" cy="411480"/>
          </a:xfrm>
          <a:prstGeom prst="rect">
            <a:avLst/>
          </a:prstGeom>
          <a:solidFill>
            <a:srgbClr val="0D1B2A"/>
          </a:solidFill>
          <a:ln w="6350">
            <a:solidFill>
              <a:srgbClr val="2A4A6B"/>
            </a:solidFill>
            <a:prstDash val="solid"/>
          </a:ln>
        </p:spPr>
        <p:txBody>
          <a:bodyPr/>
          <a:lstStyle/>
          <a:p>
            <a:endParaRPr lang="en-GB"/>
          </a:p>
        </p:txBody>
      </p:sp>
      <p:sp>
        <p:nvSpPr>
          <p:cNvPr id="22" name="Shape 20"/>
          <p:cNvSpPr/>
          <p:nvPr/>
        </p:nvSpPr>
        <p:spPr>
          <a:xfrm>
            <a:off x="475488" y="4572000"/>
            <a:ext cx="109728" cy="109728"/>
          </a:xfrm>
          <a:prstGeom prst="line">
            <a:avLst/>
          </a:prstGeom>
          <a:solidFill>
            <a:srgbClr val="FF5F57"/>
          </a:solidFill>
          <a:ln w="12700">
            <a:solidFill>
              <a:srgbClr val="FF5F57"/>
            </a:solidFill>
            <a:prstDash val="solid"/>
          </a:ln>
        </p:spPr>
        <p:txBody>
          <a:bodyPr/>
          <a:lstStyle/>
          <a:p>
            <a:endParaRPr lang="en-GB"/>
          </a:p>
        </p:txBody>
      </p:sp>
      <p:sp>
        <p:nvSpPr>
          <p:cNvPr id="23" name="Shape 21"/>
          <p:cNvSpPr/>
          <p:nvPr/>
        </p:nvSpPr>
        <p:spPr>
          <a:xfrm>
            <a:off x="676656" y="4572000"/>
            <a:ext cx="109728" cy="109728"/>
          </a:xfrm>
          <a:prstGeom prst="line">
            <a:avLst/>
          </a:prstGeom>
          <a:solidFill>
            <a:srgbClr val="FFBD2E"/>
          </a:solidFill>
          <a:ln w="12700">
            <a:solidFill>
              <a:srgbClr val="FFBD2E"/>
            </a:solidFill>
            <a:prstDash val="solid"/>
          </a:ln>
        </p:spPr>
        <p:txBody>
          <a:bodyPr/>
          <a:lstStyle/>
          <a:p>
            <a:endParaRPr lang="en-GB"/>
          </a:p>
        </p:txBody>
      </p:sp>
      <p:sp>
        <p:nvSpPr>
          <p:cNvPr id="24" name="Shape 22"/>
          <p:cNvSpPr/>
          <p:nvPr/>
        </p:nvSpPr>
        <p:spPr>
          <a:xfrm>
            <a:off x="877824" y="4572000"/>
            <a:ext cx="109728" cy="109728"/>
          </a:xfrm>
          <a:prstGeom prst="line">
            <a:avLst/>
          </a:prstGeom>
          <a:solidFill>
            <a:srgbClr val="28C840"/>
          </a:solidFill>
          <a:ln w="12700">
            <a:solidFill>
              <a:srgbClr val="28C840"/>
            </a:solidFill>
            <a:prstDash val="solid"/>
          </a:ln>
        </p:spPr>
        <p:txBody>
          <a:bodyPr/>
          <a:lstStyle/>
          <a:p>
            <a:endParaRPr lang="en-GB"/>
          </a:p>
        </p:txBody>
      </p:sp>
      <p:sp>
        <p:nvSpPr>
          <p:cNvPr id="25" name="Text 23"/>
          <p:cNvSpPr/>
          <p:nvPr/>
        </p:nvSpPr>
        <p:spPr>
          <a:xfrm>
            <a:off x="1078992" y="4507992"/>
            <a:ext cx="7589520" cy="347472"/>
          </a:xfrm>
          <a:prstGeom prst="rect">
            <a:avLst/>
          </a:prstGeom>
          <a:noFill/>
          <a:ln/>
        </p:spPr>
        <p:txBody>
          <a:bodyPr wrap="square" rtlCol="0" anchor="t"/>
          <a:lstStyle/>
          <a:p>
            <a:pPr marL="0" indent="0">
              <a:buNone/>
            </a:pPr>
            <a:r>
              <a:rPr lang="en-US" sz="950" dirty="0">
                <a:solidFill>
                  <a:srgbClr val="A8D8FF"/>
                </a:solidFill>
                <a:latin typeface="Consolas" pitchFamily="34" charset="0"/>
                <a:ea typeface="Consolas" pitchFamily="34" charset="-122"/>
                <a:cs typeface="Consolas" pitchFamily="34" charset="-120"/>
              </a:rPr>
              <a:t>if(frameCount%300==0) currentTaunt=taunts[rand.nextInt(taunts.length)];  tauntTimer=120;</a:t>
            </a:r>
            <a:endParaRPr lang="en-US" sz="950" dirty="0"/>
          </a:p>
          <a:p>
            <a:pPr marL="0" indent="0">
              <a:buNone/>
            </a:pPr>
            <a:r>
              <a:rPr lang="en-US" sz="950" dirty="0">
                <a:solidFill>
                  <a:srgbClr val="A8D8FF"/>
                </a:solidFill>
                <a:latin typeface="Consolas" pitchFamily="34" charset="0"/>
                <a:ea typeface="Consolas" pitchFamily="34" charset="-122"/>
                <a:cs typeface="Consolas" pitchFamily="34" charset="-120"/>
              </a:rPr>
              <a:t>// Level 10: applySeparation() repelTimer=120 when twin dist &lt; tileSize*2</a:t>
            </a:r>
            <a:endParaRPr lang="en-US" sz="9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8">
    <p:bg>
      <p:bgPr>
        <a:solidFill>
          <a:srgbClr val="E8EDF2"/>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1B3A5C"/>
          </a:solidFill>
          <a:ln w="12700">
            <a:solidFill>
              <a:srgbClr val="1B3A5C"/>
            </a:solidFill>
            <a:prstDash val="solid"/>
          </a:ln>
        </p:spPr>
        <p:txBody>
          <a:bodyPr/>
          <a:lstStyle/>
          <a:p>
            <a:endParaRPr lang="en-GB"/>
          </a:p>
        </p:txBody>
      </p:sp>
      <p:sp>
        <p:nvSpPr>
          <p:cNvPr id="3" name="Text 1"/>
          <p:cNvSpPr/>
          <p:nvPr/>
        </p:nvSpPr>
        <p:spPr>
          <a:xfrm>
            <a:off x="365760" y="182880"/>
            <a:ext cx="8503920" cy="594360"/>
          </a:xfrm>
          <a:prstGeom prst="rect">
            <a:avLst/>
          </a:prstGeom>
          <a:noFill/>
          <a:ln/>
        </p:spPr>
        <p:txBody>
          <a:bodyPr wrap="square" lIns="0" tIns="0" rIns="0" bIns="0" rtlCol="0" anchor="ctr"/>
          <a:lstStyle/>
          <a:p>
            <a:pPr marL="0" indent="0" algn="l">
              <a:buNone/>
            </a:pPr>
            <a:r>
              <a:rPr lang="en-US" sz="2400" b="1" dirty="0">
                <a:solidFill>
                  <a:srgbClr val="1B3A5C"/>
                </a:solidFill>
                <a:latin typeface="Georgia" pitchFamily="34" charset="0"/>
                <a:ea typeface="Georgia" pitchFamily="34" charset="-122"/>
                <a:cs typeface="Georgia" pitchFamily="34" charset="-120"/>
              </a:rPr>
              <a:t>GamePanel.java — Game Loop, Timers &amp; State</a:t>
            </a:r>
            <a:endParaRPr lang="en-US" sz="2400" dirty="0"/>
          </a:p>
        </p:txBody>
      </p:sp>
      <p:sp>
        <p:nvSpPr>
          <p:cNvPr id="4" name="Shape 2"/>
          <p:cNvSpPr/>
          <p:nvPr/>
        </p:nvSpPr>
        <p:spPr>
          <a:xfrm>
            <a:off x="365760" y="804672"/>
            <a:ext cx="8412480" cy="36576"/>
          </a:xfrm>
          <a:prstGeom prst="rect">
            <a:avLst/>
          </a:prstGeom>
          <a:solidFill>
            <a:srgbClr val="C0392B"/>
          </a:solidFill>
          <a:ln w="12700">
            <a:solidFill>
              <a:srgbClr val="C0392B"/>
            </a:solidFill>
            <a:prstDash val="solid"/>
          </a:ln>
        </p:spPr>
        <p:txBody>
          <a:bodyPr/>
          <a:lstStyle/>
          <a:p>
            <a:endParaRPr lang="en-GB"/>
          </a:p>
        </p:txBody>
      </p:sp>
      <p:sp>
        <p:nvSpPr>
          <p:cNvPr id="5" name="Shape 3"/>
          <p:cNvSpPr/>
          <p:nvPr/>
        </p:nvSpPr>
        <p:spPr>
          <a:xfrm>
            <a:off x="365760" y="960120"/>
            <a:ext cx="8412480" cy="658368"/>
          </a:xfrm>
          <a:prstGeom prst="rect">
            <a:avLst/>
          </a:prstGeom>
          <a:solidFill>
            <a:srgbClr val="FFFFFF"/>
          </a:solidFill>
          <a:ln w="6350">
            <a:solidFill>
              <a:srgbClr val="D0D8E4"/>
            </a:solidFill>
            <a:prstDash val="solid"/>
          </a:ln>
          <a:effectLst>
            <a:outerShdw blurRad="50800" dist="12700" dir="8100000" algn="bl" rotWithShape="0">
              <a:srgbClr val="000000">
                <a:alpha val="8000"/>
              </a:srgbClr>
            </a:outerShdw>
          </a:effectLst>
        </p:spPr>
        <p:txBody>
          <a:bodyPr/>
          <a:lstStyle/>
          <a:p>
            <a:endParaRPr lang="en-GB"/>
          </a:p>
        </p:txBody>
      </p:sp>
      <p:sp>
        <p:nvSpPr>
          <p:cNvPr id="6" name="Shape 4"/>
          <p:cNvSpPr/>
          <p:nvPr/>
        </p:nvSpPr>
        <p:spPr>
          <a:xfrm>
            <a:off x="365760" y="960120"/>
            <a:ext cx="64008" cy="658368"/>
          </a:xfrm>
          <a:prstGeom prst="rect">
            <a:avLst/>
          </a:prstGeom>
          <a:solidFill>
            <a:srgbClr val="1B3A5C"/>
          </a:solidFill>
          <a:ln w="12700">
            <a:solidFill>
              <a:srgbClr val="1B3A5C"/>
            </a:solidFill>
            <a:prstDash val="solid"/>
          </a:ln>
        </p:spPr>
        <p:txBody>
          <a:bodyPr/>
          <a:lstStyle/>
          <a:p>
            <a:endParaRPr lang="en-GB"/>
          </a:p>
        </p:txBody>
      </p:sp>
      <p:sp>
        <p:nvSpPr>
          <p:cNvPr id="7" name="Text 5"/>
          <p:cNvSpPr/>
          <p:nvPr/>
        </p:nvSpPr>
        <p:spPr>
          <a:xfrm>
            <a:off x="594360" y="1005840"/>
            <a:ext cx="8046720" cy="566928"/>
          </a:xfrm>
          <a:prstGeom prst="rect">
            <a:avLst/>
          </a:prstGeom>
          <a:noFill/>
          <a:ln/>
        </p:spPr>
        <p:txBody>
          <a:bodyPr wrap="square" rtlCol="0" anchor="ctr"/>
          <a:lstStyle/>
          <a:p>
            <a:pPr marL="0" indent="0">
              <a:buNone/>
            </a:pPr>
            <a:r>
              <a:rPr lang="en-US" sz="1200" dirty="0">
                <a:solidFill>
                  <a:srgbClr val="4A5568"/>
                </a:solidFill>
                <a:latin typeface="Calibri" pitchFamily="34" charset="0"/>
                <a:ea typeface="Calibri" pitchFamily="34" charset="-122"/>
                <a:cs typeface="Calibri" pitchFamily="34" charset="-120"/>
              </a:rPr>
              <a:t>GamePanel is the central game loop controller. It owns every entity collection, manages game state transitions, drives all timers, and coordinates rendering — making it the spine of the entire architecture.</a:t>
            </a:r>
            <a:endParaRPr lang="en-US" sz="1200" dirty="0"/>
          </a:p>
        </p:txBody>
      </p:sp>
      <p:sp>
        <p:nvSpPr>
          <p:cNvPr id="8" name="Shape 6"/>
          <p:cNvSpPr/>
          <p:nvPr/>
        </p:nvSpPr>
        <p:spPr>
          <a:xfrm>
            <a:off x="365760" y="1828800"/>
            <a:ext cx="4206240" cy="1097280"/>
          </a:xfrm>
          <a:prstGeom prst="rect">
            <a:avLst/>
          </a:prstGeom>
          <a:solidFill>
            <a:srgbClr val="FFFFFF"/>
          </a:solidFill>
          <a:ln w="6350">
            <a:solidFill>
              <a:srgbClr val="D0D8E4"/>
            </a:solidFill>
            <a:prstDash val="solid"/>
          </a:ln>
          <a:effectLst>
            <a:outerShdw blurRad="50800" dist="12700" dir="8100000" algn="bl" rotWithShape="0">
              <a:srgbClr val="000000">
                <a:alpha val="8000"/>
              </a:srgbClr>
            </a:outerShdw>
          </a:effectLst>
        </p:spPr>
        <p:txBody>
          <a:bodyPr/>
          <a:lstStyle/>
          <a:p>
            <a:endParaRPr lang="en-GB"/>
          </a:p>
        </p:txBody>
      </p:sp>
      <p:sp>
        <p:nvSpPr>
          <p:cNvPr id="9" name="Shape 7"/>
          <p:cNvSpPr/>
          <p:nvPr/>
        </p:nvSpPr>
        <p:spPr>
          <a:xfrm>
            <a:off x="365760" y="1828800"/>
            <a:ext cx="64008" cy="1097280"/>
          </a:xfrm>
          <a:prstGeom prst="rect">
            <a:avLst/>
          </a:prstGeom>
          <a:solidFill>
            <a:srgbClr val="1B3A5C"/>
          </a:solidFill>
          <a:ln w="12700">
            <a:solidFill>
              <a:srgbClr val="1B3A5C"/>
            </a:solidFill>
            <a:prstDash val="solid"/>
          </a:ln>
        </p:spPr>
        <p:txBody>
          <a:bodyPr/>
          <a:lstStyle/>
          <a:p>
            <a:endParaRPr lang="en-GB"/>
          </a:p>
        </p:txBody>
      </p:sp>
      <p:sp>
        <p:nvSpPr>
          <p:cNvPr id="10" name="Text 8"/>
          <p:cNvSpPr/>
          <p:nvPr/>
        </p:nvSpPr>
        <p:spPr>
          <a:xfrm>
            <a:off x="548640" y="1901952"/>
            <a:ext cx="3840480" cy="347472"/>
          </a:xfrm>
          <a:prstGeom prst="rect">
            <a:avLst/>
          </a:prstGeom>
          <a:noFill/>
          <a:ln/>
        </p:spPr>
        <p:txBody>
          <a:bodyPr wrap="square" lIns="0" tIns="0" rIns="0" bIns="0" rtlCol="0" anchor="ctr"/>
          <a:lstStyle/>
          <a:p>
            <a:pPr marL="0" indent="0">
              <a:buNone/>
            </a:pPr>
            <a:r>
              <a:rPr lang="en-US" sz="1300" b="1" dirty="0">
                <a:solidFill>
                  <a:srgbClr val="1B3A5C"/>
                </a:solidFill>
                <a:latin typeface="Georgia" pitchFamily="34" charset="0"/>
                <a:ea typeface="Georgia" pitchFamily="34" charset="-122"/>
                <a:cs typeface="Georgia" pitchFamily="34" charset="-120"/>
              </a:rPr>
              <a:t>slowTimer</a:t>
            </a:r>
            <a:endParaRPr lang="en-US" sz="1300" dirty="0"/>
          </a:p>
        </p:txBody>
      </p:sp>
      <p:sp>
        <p:nvSpPr>
          <p:cNvPr id="11" name="Text 9"/>
          <p:cNvSpPr/>
          <p:nvPr/>
        </p:nvSpPr>
        <p:spPr>
          <a:xfrm>
            <a:off x="548640" y="2286000"/>
            <a:ext cx="3840480" cy="566928"/>
          </a:xfrm>
          <a:prstGeom prst="rect">
            <a:avLst/>
          </a:prstGeom>
          <a:noFill/>
          <a:ln/>
        </p:spPr>
        <p:txBody>
          <a:bodyPr wrap="square" rtlCol="0" anchor="t"/>
          <a:lstStyle/>
          <a:p>
            <a:pPr marL="0" indent="0">
              <a:buNone/>
            </a:pPr>
            <a:r>
              <a:rPr lang="en-US" sz="1100" dirty="0">
                <a:solidFill>
                  <a:srgbClr val="4A5568"/>
                </a:solidFill>
                <a:latin typeface="Calibri" pitchFamily="34" charset="0"/>
                <a:ea typeface="Calibri" pitchFamily="34" charset="-122"/>
                <a:cs typeface="Calibri" pitchFamily="34" charset="-120"/>
              </a:rPr>
              <a:t>long — counts down frames of slow-motion. Enemy.update() skips every 3rd frame when &gt; 0.</a:t>
            </a:r>
            <a:endParaRPr lang="en-US" sz="1100" dirty="0"/>
          </a:p>
        </p:txBody>
      </p:sp>
      <p:sp>
        <p:nvSpPr>
          <p:cNvPr id="12" name="Shape 10"/>
          <p:cNvSpPr/>
          <p:nvPr/>
        </p:nvSpPr>
        <p:spPr>
          <a:xfrm>
            <a:off x="4846320" y="1828800"/>
            <a:ext cx="4206240" cy="1097280"/>
          </a:xfrm>
          <a:prstGeom prst="rect">
            <a:avLst/>
          </a:prstGeom>
          <a:solidFill>
            <a:srgbClr val="FFFFFF"/>
          </a:solidFill>
          <a:ln w="6350">
            <a:solidFill>
              <a:srgbClr val="D0D8E4"/>
            </a:solidFill>
            <a:prstDash val="solid"/>
          </a:ln>
          <a:effectLst>
            <a:outerShdw blurRad="50800" dist="12700" dir="8100000" algn="bl" rotWithShape="0">
              <a:srgbClr val="000000">
                <a:alpha val="8000"/>
              </a:srgbClr>
            </a:outerShdw>
          </a:effectLst>
        </p:spPr>
        <p:txBody>
          <a:bodyPr/>
          <a:lstStyle/>
          <a:p>
            <a:endParaRPr lang="en-GB"/>
          </a:p>
        </p:txBody>
      </p:sp>
      <p:sp>
        <p:nvSpPr>
          <p:cNvPr id="13" name="Shape 11"/>
          <p:cNvSpPr/>
          <p:nvPr/>
        </p:nvSpPr>
        <p:spPr>
          <a:xfrm>
            <a:off x="4846320" y="1828800"/>
            <a:ext cx="64008" cy="1097280"/>
          </a:xfrm>
          <a:prstGeom prst="rect">
            <a:avLst/>
          </a:prstGeom>
          <a:solidFill>
            <a:srgbClr val="2563A8"/>
          </a:solidFill>
          <a:ln w="12700">
            <a:solidFill>
              <a:srgbClr val="2563A8"/>
            </a:solidFill>
            <a:prstDash val="solid"/>
          </a:ln>
        </p:spPr>
        <p:txBody>
          <a:bodyPr/>
          <a:lstStyle/>
          <a:p>
            <a:endParaRPr lang="en-GB"/>
          </a:p>
        </p:txBody>
      </p:sp>
      <p:sp>
        <p:nvSpPr>
          <p:cNvPr id="14" name="Text 12"/>
          <p:cNvSpPr/>
          <p:nvPr/>
        </p:nvSpPr>
        <p:spPr>
          <a:xfrm>
            <a:off x="5029200" y="1901952"/>
            <a:ext cx="3840480" cy="347472"/>
          </a:xfrm>
          <a:prstGeom prst="rect">
            <a:avLst/>
          </a:prstGeom>
          <a:noFill/>
          <a:ln/>
        </p:spPr>
        <p:txBody>
          <a:bodyPr wrap="square" lIns="0" tIns="0" rIns="0" bIns="0" rtlCol="0" anchor="ctr"/>
          <a:lstStyle/>
          <a:p>
            <a:pPr marL="0" indent="0">
              <a:buNone/>
            </a:pPr>
            <a:r>
              <a:rPr lang="en-US" sz="1300" b="1" dirty="0">
                <a:solidFill>
                  <a:srgbClr val="1B3A5C"/>
                </a:solidFill>
                <a:latin typeface="Georgia" pitchFamily="34" charset="0"/>
                <a:ea typeface="Georgia" pitchFamily="34" charset="-122"/>
                <a:cs typeface="Georgia" pitchFamily="34" charset="-120"/>
              </a:rPr>
              <a:t>ghostFreezeTimer</a:t>
            </a:r>
            <a:endParaRPr lang="en-US" sz="1300" dirty="0"/>
          </a:p>
        </p:txBody>
      </p:sp>
      <p:sp>
        <p:nvSpPr>
          <p:cNvPr id="15" name="Text 13"/>
          <p:cNvSpPr/>
          <p:nvPr/>
        </p:nvSpPr>
        <p:spPr>
          <a:xfrm>
            <a:off x="5029200" y="2286000"/>
            <a:ext cx="3840480" cy="566928"/>
          </a:xfrm>
          <a:prstGeom prst="rect">
            <a:avLst/>
          </a:prstGeom>
          <a:noFill/>
          <a:ln/>
        </p:spPr>
        <p:txBody>
          <a:bodyPr wrap="square" rtlCol="0" anchor="t"/>
          <a:lstStyle/>
          <a:p>
            <a:pPr marL="0" indent="0">
              <a:buNone/>
            </a:pPr>
            <a:r>
              <a:rPr lang="en-US" sz="1100" dirty="0">
                <a:solidFill>
                  <a:srgbClr val="4A5568"/>
                </a:solidFill>
                <a:latin typeface="Calibri" pitchFamily="34" charset="0"/>
                <a:ea typeface="Calibri" pitchFamily="34" charset="-122"/>
                <a:cs typeface="Calibri" pitchFamily="34" charset="-120"/>
              </a:rPr>
              <a:t>int — Breathe ability freeze. Enemy.update() returns immediately while &gt; 0.</a:t>
            </a:r>
            <a:endParaRPr lang="en-US" sz="1100" dirty="0"/>
          </a:p>
        </p:txBody>
      </p:sp>
      <p:sp>
        <p:nvSpPr>
          <p:cNvPr id="16" name="Shape 14"/>
          <p:cNvSpPr/>
          <p:nvPr/>
        </p:nvSpPr>
        <p:spPr>
          <a:xfrm>
            <a:off x="365760" y="3108960"/>
            <a:ext cx="4206240" cy="1097280"/>
          </a:xfrm>
          <a:prstGeom prst="rect">
            <a:avLst/>
          </a:prstGeom>
          <a:solidFill>
            <a:srgbClr val="FFFFFF"/>
          </a:solidFill>
          <a:ln w="6350">
            <a:solidFill>
              <a:srgbClr val="D0D8E4"/>
            </a:solidFill>
            <a:prstDash val="solid"/>
          </a:ln>
          <a:effectLst>
            <a:outerShdw blurRad="50800" dist="12700" dir="8100000" algn="bl" rotWithShape="0">
              <a:srgbClr val="000000">
                <a:alpha val="8000"/>
              </a:srgbClr>
            </a:outerShdw>
          </a:effectLst>
        </p:spPr>
        <p:txBody>
          <a:bodyPr/>
          <a:lstStyle/>
          <a:p>
            <a:endParaRPr lang="en-GB"/>
          </a:p>
        </p:txBody>
      </p:sp>
      <p:sp>
        <p:nvSpPr>
          <p:cNvPr id="17" name="Shape 15"/>
          <p:cNvSpPr/>
          <p:nvPr/>
        </p:nvSpPr>
        <p:spPr>
          <a:xfrm>
            <a:off x="365760" y="3108960"/>
            <a:ext cx="64008" cy="1097280"/>
          </a:xfrm>
          <a:prstGeom prst="rect">
            <a:avLst/>
          </a:prstGeom>
          <a:solidFill>
            <a:srgbClr val="C0392B"/>
          </a:solidFill>
          <a:ln w="12700">
            <a:solidFill>
              <a:srgbClr val="C0392B"/>
            </a:solidFill>
            <a:prstDash val="solid"/>
          </a:ln>
        </p:spPr>
        <p:txBody>
          <a:bodyPr/>
          <a:lstStyle/>
          <a:p>
            <a:endParaRPr lang="en-GB"/>
          </a:p>
        </p:txBody>
      </p:sp>
      <p:sp>
        <p:nvSpPr>
          <p:cNvPr id="18" name="Text 16"/>
          <p:cNvSpPr/>
          <p:nvPr/>
        </p:nvSpPr>
        <p:spPr>
          <a:xfrm>
            <a:off x="548640" y="3182112"/>
            <a:ext cx="3840480" cy="347472"/>
          </a:xfrm>
          <a:prstGeom prst="rect">
            <a:avLst/>
          </a:prstGeom>
          <a:noFill/>
          <a:ln/>
        </p:spPr>
        <p:txBody>
          <a:bodyPr wrap="square" lIns="0" tIns="0" rIns="0" bIns="0" rtlCol="0" anchor="ctr"/>
          <a:lstStyle/>
          <a:p>
            <a:pPr marL="0" indent="0">
              <a:buNone/>
            </a:pPr>
            <a:r>
              <a:rPr lang="en-US" sz="1300" b="1" dirty="0">
                <a:solidFill>
                  <a:srgbClr val="1B3A5C"/>
                </a:solidFill>
                <a:latin typeface="Georgia" pitchFamily="34" charset="0"/>
                <a:ea typeface="Georgia" pitchFamily="34" charset="-122"/>
                <a:cs typeface="Georgia" pitchFamily="34" charset="-120"/>
              </a:rPr>
              <a:t>staggerTimer</a:t>
            </a:r>
            <a:endParaRPr lang="en-US" sz="1300" dirty="0"/>
          </a:p>
        </p:txBody>
      </p:sp>
      <p:sp>
        <p:nvSpPr>
          <p:cNvPr id="19" name="Text 17"/>
          <p:cNvSpPr/>
          <p:nvPr/>
        </p:nvSpPr>
        <p:spPr>
          <a:xfrm>
            <a:off x="548640" y="3566160"/>
            <a:ext cx="3840480" cy="566928"/>
          </a:xfrm>
          <a:prstGeom prst="rect">
            <a:avLst/>
          </a:prstGeom>
          <a:noFill/>
          <a:ln/>
        </p:spPr>
        <p:txBody>
          <a:bodyPr wrap="square" rtlCol="0" anchor="t"/>
          <a:lstStyle/>
          <a:p>
            <a:pPr marL="0" indent="0">
              <a:buNone/>
            </a:pPr>
            <a:r>
              <a:rPr lang="en-US" sz="1100" dirty="0">
                <a:solidFill>
                  <a:srgbClr val="4A5568"/>
                </a:solidFill>
                <a:latin typeface="Calibri" pitchFamily="34" charset="0"/>
                <a:ea typeface="Calibri" pitchFamily="34" charset="-122"/>
                <a:cs typeface="Calibri" pitchFamily="34" charset="-120"/>
              </a:rPr>
              <a:t>int — Rubble tile effect. Reduces Player moveSpeed to 40% for 2s (120 frames).</a:t>
            </a:r>
            <a:endParaRPr lang="en-US" sz="1100" dirty="0"/>
          </a:p>
        </p:txBody>
      </p:sp>
      <p:sp>
        <p:nvSpPr>
          <p:cNvPr id="20" name="Shape 18"/>
          <p:cNvSpPr/>
          <p:nvPr/>
        </p:nvSpPr>
        <p:spPr>
          <a:xfrm>
            <a:off x="4846320" y="3108960"/>
            <a:ext cx="4206240" cy="1097280"/>
          </a:xfrm>
          <a:prstGeom prst="rect">
            <a:avLst/>
          </a:prstGeom>
          <a:solidFill>
            <a:srgbClr val="FFFFFF"/>
          </a:solidFill>
          <a:ln w="6350">
            <a:solidFill>
              <a:srgbClr val="D0D8E4"/>
            </a:solidFill>
            <a:prstDash val="solid"/>
          </a:ln>
          <a:effectLst>
            <a:outerShdw blurRad="50800" dist="12700" dir="8100000" algn="bl" rotWithShape="0">
              <a:srgbClr val="000000">
                <a:alpha val="8000"/>
              </a:srgbClr>
            </a:outerShdw>
          </a:effectLst>
        </p:spPr>
        <p:txBody>
          <a:bodyPr/>
          <a:lstStyle/>
          <a:p>
            <a:endParaRPr lang="en-GB"/>
          </a:p>
        </p:txBody>
      </p:sp>
      <p:sp>
        <p:nvSpPr>
          <p:cNvPr id="21" name="Shape 19"/>
          <p:cNvSpPr/>
          <p:nvPr/>
        </p:nvSpPr>
        <p:spPr>
          <a:xfrm>
            <a:off x="4846320" y="3108960"/>
            <a:ext cx="64008" cy="1097280"/>
          </a:xfrm>
          <a:prstGeom prst="rect">
            <a:avLst/>
          </a:prstGeom>
          <a:solidFill>
            <a:srgbClr val="1B3A5C"/>
          </a:solidFill>
          <a:ln w="12700">
            <a:solidFill>
              <a:srgbClr val="1B3A5C"/>
            </a:solidFill>
            <a:prstDash val="solid"/>
          </a:ln>
        </p:spPr>
        <p:txBody>
          <a:bodyPr/>
          <a:lstStyle/>
          <a:p>
            <a:endParaRPr lang="en-GB"/>
          </a:p>
        </p:txBody>
      </p:sp>
      <p:sp>
        <p:nvSpPr>
          <p:cNvPr id="22" name="Text 20"/>
          <p:cNvSpPr/>
          <p:nvPr/>
        </p:nvSpPr>
        <p:spPr>
          <a:xfrm>
            <a:off x="5029200" y="3182112"/>
            <a:ext cx="3840480" cy="347472"/>
          </a:xfrm>
          <a:prstGeom prst="rect">
            <a:avLst/>
          </a:prstGeom>
          <a:noFill/>
          <a:ln/>
        </p:spPr>
        <p:txBody>
          <a:bodyPr wrap="square" lIns="0" tIns="0" rIns="0" bIns="0" rtlCol="0" anchor="ctr"/>
          <a:lstStyle/>
          <a:p>
            <a:pPr marL="0" indent="0">
              <a:buNone/>
            </a:pPr>
            <a:r>
              <a:rPr lang="en-US" sz="1300" b="1" dirty="0">
                <a:solidFill>
                  <a:srgbClr val="1B3A5C"/>
                </a:solidFill>
                <a:latin typeface="Georgia" pitchFamily="34" charset="0"/>
                <a:ea typeface="Georgia" pitchFamily="34" charset="-122"/>
                <a:cs typeface="Georgia" pitchFamily="34" charset="-120"/>
              </a:rPr>
              <a:t>GameMode enum</a:t>
            </a:r>
            <a:endParaRPr lang="en-US" sz="1300" dirty="0"/>
          </a:p>
        </p:txBody>
      </p:sp>
      <p:sp>
        <p:nvSpPr>
          <p:cNvPr id="23" name="Text 21"/>
          <p:cNvSpPr/>
          <p:nvPr/>
        </p:nvSpPr>
        <p:spPr>
          <a:xfrm>
            <a:off x="5029200" y="3566160"/>
            <a:ext cx="3840480" cy="566928"/>
          </a:xfrm>
          <a:prstGeom prst="rect">
            <a:avLst/>
          </a:prstGeom>
          <a:noFill/>
          <a:ln/>
        </p:spPr>
        <p:txBody>
          <a:bodyPr wrap="square" rtlCol="0" anchor="t"/>
          <a:lstStyle/>
          <a:p>
            <a:pPr marL="0" indent="0">
              <a:buNone/>
            </a:pPr>
            <a:r>
              <a:rPr lang="en-US" sz="1100" dirty="0">
                <a:solidFill>
                  <a:srgbClr val="4A5568"/>
                </a:solidFill>
                <a:latin typeface="Calibri" pitchFamily="34" charset="0"/>
                <a:ea typeface="Calibri" pitchFamily="34" charset="-122"/>
                <a:cs typeface="Calibri" pitchFamily="34" charset="-120"/>
              </a:rPr>
              <a:t>CASUAL: enemies chase, exits open.</a:t>
            </a:r>
            <a:endParaRPr lang="en-US" sz="1100" dirty="0"/>
          </a:p>
          <a:p>
            <a:pPr marL="0" indent="0">
              <a:buNone/>
            </a:pPr>
            <a:r>
              <a:rPr lang="en-US" sz="1100" dirty="0">
                <a:solidFill>
                  <a:srgbClr val="4A5568"/>
                </a:solidFill>
                <a:latin typeface="Calibri" pitchFamily="34" charset="0"/>
                <a:ea typeface="Calibri" pitchFamily="34" charset="-122"/>
                <a:cs typeface="Calibri" pitchFamily="34" charset="-120"/>
              </a:rPr>
              <a:t>ESCAPE: boss levels every 5 levels, exit locked until crystals collected.</a:t>
            </a:r>
            <a:endParaRPr lang="en-US" sz="1100" dirty="0"/>
          </a:p>
        </p:txBody>
      </p:sp>
      <p:sp>
        <p:nvSpPr>
          <p:cNvPr id="24" name="Shape 22"/>
          <p:cNvSpPr/>
          <p:nvPr/>
        </p:nvSpPr>
        <p:spPr>
          <a:xfrm>
            <a:off x="365760" y="4526280"/>
            <a:ext cx="8412480" cy="411480"/>
          </a:xfrm>
          <a:prstGeom prst="rect">
            <a:avLst/>
          </a:prstGeom>
          <a:solidFill>
            <a:srgbClr val="0D1B2A"/>
          </a:solidFill>
          <a:ln w="6350">
            <a:solidFill>
              <a:srgbClr val="2A4A6B"/>
            </a:solidFill>
            <a:prstDash val="solid"/>
          </a:ln>
        </p:spPr>
        <p:txBody>
          <a:bodyPr/>
          <a:lstStyle/>
          <a:p>
            <a:endParaRPr lang="en-GB"/>
          </a:p>
        </p:txBody>
      </p:sp>
      <p:sp>
        <p:nvSpPr>
          <p:cNvPr id="25" name="Shape 23"/>
          <p:cNvSpPr/>
          <p:nvPr/>
        </p:nvSpPr>
        <p:spPr>
          <a:xfrm>
            <a:off x="475488" y="4617720"/>
            <a:ext cx="109728" cy="109728"/>
          </a:xfrm>
          <a:prstGeom prst="line">
            <a:avLst/>
          </a:prstGeom>
          <a:solidFill>
            <a:srgbClr val="FF5F57"/>
          </a:solidFill>
          <a:ln w="12700">
            <a:solidFill>
              <a:srgbClr val="FF5F57"/>
            </a:solidFill>
            <a:prstDash val="solid"/>
          </a:ln>
        </p:spPr>
        <p:txBody>
          <a:bodyPr/>
          <a:lstStyle/>
          <a:p>
            <a:endParaRPr lang="en-GB"/>
          </a:p>
        </p:txBody>
      </p:sp>
      <p:sp>
        <p:nvSpPr>
          <p:cNvPr id="26" name="Shape 24"/>
          <p:cNvSpPr/>
          <p:nvPr/>
        </p:nvSpPr>
        <p:spPr>
          <a:xfrm>
            <a:off x="676656" y="4617720"/>
            <a:ext cx="109728" cy="109728"/>
          </a:xfrm>
          <a:prstGeom prst="line">
            <a:avLst/>
          </a:prstGeom>
          <a:solidFill>
            <a:srgbClr val="FFBD2E"/>
          </a:solidFill>
          <a:ln w="12700">
            <a:solidFill>
              <a:srgbClr val="FFBD2E"/>
            </a:solidFill>
            <a:prstDash val="solid"/>
          </a:ln>
        </p:spPr>
        <p:txBody>
          <a:bodyPr/>
          <a:lstStyle/>
          <a:p>
            <a:endParaRPr lang="en-GB"/>
          </a:p>
        </p:txBody>
      </p:sp>
      <p:sp>
        <p:nvSpPr>
          <p:cNvPr id="27" name="Shape 25"/>
          <p:cNvSpPr/>
          <p:nvPr/>
        </p:nvSpPr>
        <p:spPr>
          <a:xfrm>
            <a:off x="877824" y="4617720"/>
            <a:ext cx="109728" cy="109728"/>
          </a:xfrm>
          <a:prstGeom prst="line">
            <a:avLst/>
          </a:prstGeom>
          <a:solidFill>
            <a:srgbClr val="28C840"/>
          </a:solidFill>
          <a:ln w="12700">
            <a:solidFill>
              <a:srgbClr val="28C840"/>
            </a:solidFill>
            <a:prstDash val="solid"/>
          </a:ln>
        </p:spPr>
        <p:txBody>
          <a:bodyPr/>
          <a:lstStyle/>
          <a:p>
            <a:endParaRPr lang="en-GB"/>
          </a:p>
        </p:txBody>
      </p:sp>
      <p:sp>
        <p:nvSpPr>
          <p:cNvPr id="28" name="Text 26"/>
          <p:cNvSpPr/>
          <p:nvPr/>
        </p:nvSpPr>
        <p:spPr>
          <a:xfrm>
            <a:off x="1078992" y="4526280"/>
            <a:ext cx="7589520" cy="374904"/>
          </a:xfrm>
          <a:prstGeom prst="rect">
            <a:avLst/>
          </a:prstGeom>
          <a:noFill/>
          <a:ln/>
        </p:spPr>
        <p:txBody>
          <a:bodyPr wrap="square" rtlCol="0" anchor="t"/>
          <a:lstStyle/>
          <a:p>
            <a:pPr marL="0" indent="0">
              <a:buNone/>
            </a:pPr>
            <a:r>
              <a:rPr lang="en-US" sz="950" dirty="0">
                <a:solidFill>
                  <a:srgbClr val="A8D8FF"/>
                </a:solidFill>
                <a:latin typeface="Consolas" pitchFamily="34" charset="0"/>
                <a:ea typeface="Consolas" pitchFamily="34" charset="-122"/>
                <a:cs typeface="Consolas" pitchFamily="34" charset="-120"/>
              </a:rPr>
              <a:t>if(slowTimer&gt;0) slowTimer--;  if(ghostFreezeTimer&gt;0) ghostFreezeTimer--;</a:t>
            </a:r>
            <a:endParaRPr lang="en-US" sz="950" dirty="0"/>
          </a:p>
          <a:p>
            <a:pPr marL="0" indent="0">
              <a:buNone/>
            </a:pPr>
            <a:r>
              <a:rPr lang="en-US" sz="950" dirty="0">
                <a:solidFill>
                  <a:srgbClr val="A8D8FF"/>
                </a:solidFill>
                <a:latin typeface="Consolas" pitchFamily="34" charset="0"/>
                <a:ea typeface="Consolas" pitchFamily="34" charset="-122"/>
                <a:cs typeface="Consolas" pitchFamily="34" charset="-120"/>
              </a:rPr>
              <a:t>exitLocked = (currentMode==GameMode.ESCAPE); // locked until all crystals</a:t>
            </a:r>
            <a:endParaRPr lang="en-US" sz="9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9">
    <p:bg>
      <p:bgPr>
        <a:solidFill>
          <a:srgbClr val="E8EDF2"/>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1B3A5C"/>
          </a:solidFill>
          <a:ln w="12700">
            <a:solidFill>
              <a:srgbClr val="1B3A5C"/>
            </a:solidFill>
            <a:prstDash val="solid"/>
          </a:ln>
        </p:spPr>
        <p:txBody>
          <a:bodyPr/>
          <a:lstStyle/>
          <a:p>
            <a:endParaRPr lang="en-GB"/>
          </a:p>
        </p:txBody>
      </p:sp>
      <p:sp>
        <p:nvSpPr>
          <p:cNvPr id="3" name="Text 1"/>
          <p:cNvSpPr/>
          <p:nvPr/>
        </p:nvSpPr>
        <p:spPr>
          <a:xfrm>
            <a:off x="365760" y="182880"/>
            <a:ext cx="8503920" cy="594360"/>
          </a:xfrm>
          <a:prstGeom prst="rect">
            <a:avLst/>
          </a:prstGeom>
          <a:noFill/>
          <a:ln/>
        </p:spPr>
        <p:txBody>
          <a:bodyPr wrap="square" lIns="0" tIns="0" rIns="0" bIns="0" rtlCol="0" anchor="ctr"/>
          <a:lstStyle/>
          <a:p>
            <a:pPr marL="0" indent="0" algn="l">
              <a:buNone/>
            </a:pPr>
            <a:r>
              <a:rPr lang="en-US" sz="2400" b="1" dirty="0">
                <a:solidFill>
                  <a:srgbClr val="1B3A5C"/>
                </a:solidFill>
                <a:latin typeface="Georgia" pitchFamily="34" charset="0"/>
                <a:ea typeface="Georgia" pitchFamily="34" charset="-122"/>
                <a:cs typeface="Georgia" pitchFamily="34" charset="-120"/>
              </a:rPr>
              <a:t>System Architecture — Component Overview</a:t>
            </a:r>
            <a:endParaRPr lang="en-US" sz="2400" dirty="0"/>
          </a:p>
        </p:txBody>
      </p:sp>
      <p:sp>
        <p:nvSpPr>
          <p:cNvPr id="4" name="Shape 2"/>
          <p:cNvSpPr/>
          <p:nvPr/>
        </p:nvSpPr>
        <p:spPr>
          <a:xfrm>
            <a:off x="365760" y="804672"/>
            <a:ext cx="8412480" cy="36576"/>
          </a:xfrm>
          <a:prstGeom prst="rect">
            <a:avLst/>
          </a:prstGeom>
          <a:solidFill>
            <a:srgbClr val="C0392B"/>
          </a:solidFill>
          <a:ln w="12700">
            <a:solidFill>
              <a:srgbClr val="C0392B"/>
            </a:solidFill>
            <a:prstDash val="solid"/>
          </a:ln>
        </p:spPr>
        <p:txBody>
          <a:bodyPr/>
          <a:lstStyle/>
          <a:p>
            <a:endParaRPr lang="en-GB"/>
          </a:p>
        </p:txBody>
      </p:sp>
      <p:sp>
        <p:nvSpPr>
          <p:cNvPr id="5" name="Shape 3"/>
          <p:cNvSpPr/>
          <p:nvPr/>
        </p:nvSpPr>
        <p:spPr>
          <a:xfrm>
            <a:off x="365760" y="960120"/>
            <a:ext cx="8412480" cy="420624"/>
          </a:xfrm>
          <a:prstGeom prst="rect">
            <a:avLst/>
          </a:prstGeom>
          <a:solidFill>
            <a:srgbClr val="1B3A5C"/>
          </a:solidFill>
          <a:ln w="12700">
            <a:solidFill>
              <a:srgbClr val="1B3A5C"/>
            </a:solidFill>
            <a:prstDash val="solid"/>
          </a:ln>
        </p:spPr>
        <p:txBody>
          <a:bodyPr/>
          <a:lstStyle/>
          <a:p>
            <a:endParaRPr lang="en-GB"/>
          </a:p>
        </p:txBody>
      </p:sp>
      <p:sp>
        <p:nvSpPr>
          <p:cNvPr id="6" name="Text 4"/>
          <p:cNvSpPr/>
          <p:nvPr/>
        </p:nvSpPr>
        <p:spPr>
          <a:xfrm>
            <a:off x="457200" y="987552"/>
            <a:ext cx="2011680" cy="347472"/>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Component</a:t>
            </a:r>
            <a:endParaRPr lang="en-US" sz="1200" dirty="0"/>
          </a:p>
        </p:txBody>
      </p:sp>
      <p:sp>
        <p:nvSpPr>
          <p:cNvPr id="7" name="Text 5"/>
          <p:cNvSpPr/>
          <p:nvPr/>
        </p:nvSpPr>
        <p:spPr>
          <a:xfrm>
            <a:off x="2651760" y="987552"/>
            <a:ext cx="5943600" cy="347472"/>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Responsibility</a:t>
            </a:r>
            <a:endParaRPr lang="en-US" sz="1200" dirty="0"/>
          </a:p>
        </p:txBody>
      </p:sp>
      <p:sp>
        <p:nvSpPr>
          <p:cNvPr id="8" name="Shape 6"/>
          <p:cNvSpPr/>
          <p:nvPr/>
        </p:nvSpPr>
        <p:spPr>
          <a:xfrm>
            <a:off x="365760" y="1380744"/>
            <a:ext cx="8412480" cy="461772"/>
          </a:xfrm>
          <a:prstGeom prst="rect">
            <a:avLst/>
          </a:prstGeom>
          <a:solidFill>
            <a:srgbClr val="EBF1FA"/>
          </a:solidFill>
          <a:ln w="6350">
            <a:solidFill>
              <a:srgbClr val="C8D4E3"/>
            </a:solidFill>
            <a:prstDash val="solid"/>
          </a:ln>
        </p:spPr>
        <p:txBody>
          <a:bodyPr/>
          <a:lstStyle/>
          <a:p>
            <a:endParaRPr lang="en-GB"/>
          </a:p>
        </p:txBody>
      </p:sp>
      <p:sp>
        <p:nvSpPr>
          <p:cNvPr id="9" name="Text 7"/>
          <p:cNvSpPr/>
          <p:nvPr/>
        </p:nvSpPr>
        <p:spPr>
          <a:xfrm>
            <a:off x="457200" y="1426464"/>
            <a:ext cx="2057400" cy="347472"/>
          </a:xfrm>
          <a:prstGeom prst="rect">
            <a:avLst/>
          </a:prstGeom>
          <a:noFill/>
          <a:ln/>
        </p:spPr>
        <p:txBody>
          <a:bodyPr wrap="square" lIns="0" tIns="0" rIns="0" bIns="0" rtlCol="0" anchor="ctr"/>
          <a:lstStyle/>
          <a:p>
            <a:pPr marL="0" indent="0">
              <a:buNone/>
            </a:pPr>
            <a:r>
              <a:rPr lang="en-US" sz="1100" b="1" dirty="0">
                <a:solidFill>
                  <a:srgbClr val="1B3A5C"/>
                </a:solidFill>
                <a:latin typeface="Calibri" pitchFamily="34" charset="0"/>
                <a:ea typeface="Calibri" pitchFamily="34" charset="-122"/>
                <a:cs typeface="Calibri" pitchFamily="34" charset="-120"/>
              </a:rPr>
              <a:t>Main / GamePanel</a:t>
            </a:r>
            <a:endParaRPr lang="en-US" sz="1100" dirty="0"/>
          </a:p>
        </p:txBody>
      </p:sp>
      <p:sp>
        <p:nvSpPr>
          <p:cNvPr id="10" name="Text 8"/>
          <p:cNvSpPr/>
          <p:nvPr/>
        </p:nvSpPr>
        <p:spPr>
          <a:xfrm>
            <a:off x="2651760" y="1426464"/>
            <a:ext cx="5989320" cy="347472"/>
          </a:xfrm>
          <a:prstGeom prst="rect">
            <a:avLst/>
          </a:prstGeom>
          <a:noFill/>
          <a:ln/>
        </p:spPr>
        <p:txBody>
          <a:bodyPr wrap="square" lIns="0" tIns="0" rIns="0" bIns="0" rtlCol="0" anchor="ctr"/>
          <a:lstStyle/>
          <a:p>
            <a:pPr marL="0" indent="0">
              <a:buNone/>
            </a:pPr>
            <a:r>
              <a:rPr lang="en-US" sz="1100" dirty="0">
                <a:solidFill>
                  <a:srgbClr val="4A5568"/>
                </a:solidFill>
                <a:latin typeface="Calibri" pitchFamily="34" charset="0"/>
                <a:ea typeface="Calibri" pitchFamily="34" charset="-122"/>
                <a:cs typeface="Calibri" pitchFamily="34" charset="-120"/>
              </a:rPr>
              <a:t>Entry point &amp; game loop. Bootstraps JFrame, manages update/draw cycle, timers (slow/freeze/stagger), entity collections.</a:t>
            </a:r>
            <a:endParaRPr lang="en-US" sz="1100" dirty="0"/>
          </a:p>
        </p:txBody>
      </p:sp>
      <p:sp>
        <p:nvSpPr>
          <p:cNvPr id="11" name="Shape 9"/>
          <p:cNvSpPr/>
          <p:nvPr/>
        </p:nvSpPr>
        <p:spPr>
          <a:xfrm>
            <a:off x="365760" y="1842516"/>
            <a:ext cx="8412480" cy="461772"/>
          </a:xfrm>
          <a:prstGeom prst="rect">
            <a:avLst/>
          </a:prstGeom>
          <a:solidFill>
            <a:srgbClr val="FFFFFF"/>
          </a:solidFill>
          <a:ln w="6350">
            <a:solidFill>
              <a:srgbClr val="C8D4E3"/>
            </a:solidFill>
            <a:prstDash val="solid"/>
          </a:ln>
        </p:spPr>
        <p:txBody>
          <a:bodyPr/>
          <a:lstStyle/>
          <a:p>
            <a:endParaRPr lang="en-GB"/>
          </a:p>
        </p:txBody>
      </p:sp>
      <p:sp>
        <p:nvSpPr>
          <p:cNvPr id="12" name="Text 10"/>
          <p:cNvSpPr/>
          <p:nvPr/>
        </p:nvSpPr>
        <p:spPr>
          <a:xfrm>
            <a:off x="457200" y="1888236"/>
            <a:ext cx="2057400" cy="347472"/>
          </a:xfrm>
          <a:prstGeom prst="rect">
            <a:avLst/>
          </a:prstGeom>
          <a:noFill/>
          <a:ln/>
        </p:spPr>
        <p:txBody>
          <a:bodyPr wrap="square" lIns="0" tIns="0" rIns="0" bIns="0" rtlCol="0" anchor="ctr"/>
          <a:lstStyle/>
          <a:p>
            <a:pPr marL="0" indent="0">
              <a:buNone/>
            </a:pPr>
            <a:r>
              <a:rPr lang="en-US" sz="1100" b="1" dirty="0">
                <a:solidFill>
                  <a:srgbClr val="1B3A5C"/>
                </a:solidFill>
                <a:latin typeface="Calibri" pitchFamily="34" charset="0"/>
                <a:ea typeface="Calibri" pitchFamily="34" charset="-122"/>
                <a:cs typeface="Calibri" pitchFamily="34" charset="-120"/>
              </a:rPr>
              <a:t>GameMenu</a:t>
            </a:r>
            <a:endParaRPr lang="en-US" sz="1100" dirty="0"/>
          </a:p>
        </p:txBody>
      </p:sp>
      <p:sp>
        <p:nvSpPr>
          <p:cNvPr id="13" name="Text 11"/>
          <p:cNvSpPr/>
          <p:nvPr/>
        </p:nvSpPr>
        <p:spPr>
          <a:xfrm>
            <a:off x="2651760" y="1888236"/>
            <a:ext cx="5989320" cy="347472"/>
          </a:xfrm>
          <a:prstGeom prst="rect">
            <a:avLst/>
          </a:prstGeom>
          <a:noFill/>
          <a:ln/>
        </p:spPr>
        <p:txBody>
          <a:bodyPr wrap="square" lIns="0" tIns="0" rIns="0" bIns="0" rtlCol="0" anchor="ctr"/>
          <a:lstStyle/>
          <a:p>
            <a:pPr marL="0" indent="0">
              <a:buNone/>
            </a:pPr>
            <a:r>
              <a:rPr lang="en-US" sz="1100" dirty="0">
                <a:solidFill>
                  <a:srgbClr val="4A5568"/>
                </a:solidFill>
                <a:latin typeface="Calibri" pitchFamily="34" charset="0"/>
                <a:ea typeface="Calibri" pitchFamily="34" charset="-122"/>
                <a:cs typeface="Calibri" pitchFamily="34" charset="-120"/>
              </a:rPr>
              <a:t>JavaFX front-end: menus, mode selection, scoreboard, FadeTransition animations.</a:t>
            </a:r>
            <a:endParaRPr lang="en-US" sz="1100" dirty="0"/>
          </a:p>
        </p:txBody>
      </p:sp>
      <p:sp>
        <p:nvSpPr>
          <p:cNvPr id="14" name="Shape 12"/>
          <p:cNvSpPr/>
          <p:nvPr/>
        </p:nvSpPr>
        <p:spPr>
          <a:xfrm>
            <a:off x="365760" y="2304288"/>
            <a:ext cx="8412480" cy="461772"/>
          </a:xfrm>
          <a:prstGeom prst="rect">
            <a:avLst/>
          </a:prstGeom>
          <a:solidFill>
            <a:srgbClr val="EBF1FA"/>
          </a:solidFill>
          <a:ln w="6350">
            <a:solidFill>
              <a:srgbClr val="C8D4E3"/>
            </a:solidFill>
            <a:prstDash val="solid"/>
          </a:ln>
        </p:spPr>
        <p:txBody>
          <a:bodyPr/>
          <a:lstStyle/>
          <a:p>
            <a:endParaRPr lang="en-GB"/>
          </a:p>
        </p:txBody>
      </p:sp>
      <p:sp>
        <p:nvSpPr>
          <p:cNvPr id="15" name="Text 13"/>
          <p:cNvSpPr/>
          <p:nvPr/>
        </p:nvSpPr>
        <p:spPr>
          <a:xfrm>
            <a:off x="457200" y="2350008"/>
            <a:ext cx="2057400" cy="347472"/>
          </a:xfrm>
          <a:prstGeom prst="rect">
            <a:avLst/>
          </a:prstGeom>
          <a:noFill/>
          <a:ln/>
        </p:spPr>
        <p:txBody>
          <a:bodyPr wrap="square" lIns="0" tIns="0" rIns="0" bIns="0" rtlCol="0" anchor="ctr"/>
          <a:lstStyle/>
          <a:p>
            <a:pPr marL="0" indent="0">
              <a:buNone/>
            </a:pPr>
            <a:r>
              <a:rPr lang="en-US" sz="1100" b="1" dirty="0">
                <a:solidFill>
                  <a:srgbClr val="1B3A5C"/>
                </a:solidFill>
                <a:latin typeface="Calibri" pitchFamily="34" charset="0"/>
                <a:ea typeface="Calibri" pitchFamily="34" charset="-122"/>
                <a:cs typeface="Calibri" pitchFamily="34" charset="-120"/>
              </a:rPr>
              <a:t>Player / KeyHandler</a:t>
            </a:r>
            <a:endParaRPr lang="en-US" sz="1100" dirty="0"/>
          </a:p>
        </p:txBody>
      </p:sp>
      <p:sp>
        <p:nvSpPr>
          <p:cNvPr id="16" name="Text 14"/>
          <p:cNvSpPr/>
          <p:nvPr/>
        </p:nvSpPr>
        <p:spPr>
          <a:xfrm>
            <a:off x="2651760" y="2350008"/>
            <a:ext cx="5989320" cy="347472"/>
          </a:xfrm>
          <a:prstGeom prst="rect">
            <a:avLst/>
          </a:prstGeom>
          <a:noFill/>
          <a:ln/>
        </p:spPr>
        <p:txBody>
          <a:bodyPr wrap="square" lIns="0" tIns="0" rIns="0" bIns="0" rtlCol="0" anchor="ctr"/>
          <a:lstStyle/>
          <a:p>
            <a:pPr marL="0" indent="0">
              <a:buNone/>
            </a:pPr>
            <a:r>
              <a:rPr lang="en-US" sz="1100" dirty="0">
                <a:solidFill>
                  <a:srgbClr val="4A5568"/>
                </a:solidFill>
                <a:latin typeface="Calibri" pitchFamily="34" charset="0"/>
                <a:ea typeface="Calibri" pitchFamily="34" charset="-122"/>
                <a:cs typeface="Calibri" pitchFamily="34" charset="-120"/>
              </a:rPr>
              <a:t>Input polling via KeyListener; axis-independent collision; sprite rendering with fallback.</a:t>
            </a:r>
            <a:endParaRPr lang="en-US" sz="1100" dirty="0"/>
          </a:p>
        </p:txBody>
      </p:sp>
      <p:sp>
        <p:nvSpPr>
          <p:cNvPr id="17" name="Shape 15"/>
          <p:cNvSpPr/>
          <p:nvPr/>
        </p:nvSpPr>
        <p:spPr>
          <a:xfrm>
            <a:off x="365760" y="2766060"/>
            <a:ext cx="8412480" cy="461772"/>
          </a:xfrm>
          <a:prstGeom prst="rect">
            <a:avLst/>
          </a:prstGeom>
          <a:solidFill>
            <a:srgbClr val="FFFFFF"/>
          </a:solidFill>
          <a:ln w="6350">
            <a:solidFill>
              <a:srgbClr val="C8D4E3"/>
            </a:solidFill>
            <a:prstDash val="solid"/>
          </a:ln>
        </p:spPr>
        <p:txBody>
          <a:bodyPr/>
          <a:lstStyle/>
          <a:p>
            <a:endParaRPr lang="en-GB"/>
          </a:p>
        </p:txBody>
      </p:sp>
      <p:sp>
        <p:nvSpPr>
          <p:cNvPr id="18" name="Text 16"/>
          <p:cNvSpPr/>
          <p:nvPr/>
        </p:nvSpPr>
        <p:spPr>
          <a:xfrm>
            <a:off x="457200" y="2811780"/>
            <a:ext cx="2057400" cy="347472"/>
          </a:xfrm>
          <a:prstGeom prst="rect">
            <a:avLst/>
          </a:prstGeom>
          <a:noFill/>
          <a:ln/>
        </p:spPr>
        <p:txBody>
          <a:bodyPr wrap="square" lIns="0" tIns="0" rIns="0" bIns="0" rtlCol="0" anchor="ctr"/>
          <a:lstStyle/>
          <a:p>
            <a:pPr marL="0" indent="0">
              <a:buNone/>
            </a:pPr>
            <a:r>
              <a:rPr lang="en-US" sz="1100" b="1" dirty="0">
                <a:solidFill>
                  <a:srgbClr val="1B3A5C"/>
                </a:solidFill>
                <a:latin typeface="Calibri" pitchFamily="34" charset="0"/>
                <a:ea typeface="Calibri" pitchFamily="34" charset="-122"/>
                <a:cs typeface="Calibri" pitchFamily="34" charset="-120"/>
              </a:rPr>
              <a:t>Enemy / Node</a:t>
            </a:r>
            <a:endParaRPr lang="en-US" sz="1100" dirty="0"/>
          </a:p>
        </p:txBody>
      </p:sp>
      <p:sp>
        <p:nvSpPr>
          <p:cNvPr id="19" name="Text 17"/>
          <p:cNvSpPr/>
          <p:nvPr/>
        </p:nvSpPr>
        <p:spPr>
          <a:xfrm>
            <a:off x="2651760" y="2811780"/>
            <a:ext cx="5989320" cy="347472"/>
          </a:xfrm>
          <a:prstGeom prst="rect">
            <a:avLst/>
          </a:prstGeom>
          <a:noFill/>
          <a:ln/>
        </p:spPr>
        <p:txBody>
          <a:bodyPr wrap="square" lIns="0" tIns="0" rIns="0" bIns="0" rtlCol="0" anchor="ctr"/>
          <a:lstStyle/>
          <a:p>
            <a:pPr marL="0" indent="0">
              <a:buNone/>
            </a:pPr>
            <a:r>
              <a:rPr lang="en-US" sz="1100" dirty="0">
                <a:solidFill>
                  <a:srgbClr val="4A5568"/>
                </a:solidFill>
                <a:latin typeface="Calibri" pitchFamily="34" charset="0"/>
                <a:ea typeface="Calibri" pitchFamily="34" charset="-122"/>
                <a:cs typeface="Calibri" pitchFamily="34" charset="-120"/>
              </a:rPr>
              <a:t>A* pathfinding with CHASE/WANDER FSM. ESCAPE mode forces WANDER. Node is the POJO data model.</a:t>
            </a:r>
            <a:endParaRPr lang="en-US" sz="1100" dirty="0"/>
          </a:p>
        </p:txBody>
      </p:sp>
      <p:sp>
        <p:nvSpPr>
          <p:cNvPr id="20" name="Shape 18"/>
          <p:cNvSpPr/>
          <p:nvPr/>
        </p:nvSpPr>
        <p:spPr>
          <a:xfrm>
            <a:off x="365760" y="3227832"/>
            <a:ext cx="8412480" cy="461772"/>
          </a:xfrm>
          <a:prstGeom prst="rect">
            <a:avLst/>
          </a:prstGeom>
          <a:solidFill>
            <a:srgbClr val="EBF1FA"/>
          </a:solidFill>
          <a:ln w="6350">
            <a:solidFill>
              <a:srgbClr val="C8D4E3"/>
            </a:solidFill>
            <a:prstDash val="solid"/>
          </a:ln>
        </p:spPr>
        <p:txBody>
          <a:bodyPr/>
          <a:lstStyle/>
          <a:p>
            <a:endParaRPr lang="en-GB"/>
          </a:p>
        </p:txBody>
      </p:sp>
      <p:sp>
        <p:nvSpPr>
          <p:cNvPr id="21" name="Text 19"/>
          <p:cNvSpPr/>
          <p:nvPr/>
        </p:nvSpPr>
        <p:spPr>
          <a:xfrm>
            <a:off x="457200" y="3273552"/>
            <a:ext cx="2057400" cy="347472"/>
          </a:xfrm>
          <a:prstGeom prst="rect">
            <a:avLst/>
          </a:prstGeom>
          <a:noFill/>
          <a:ln/>
        </p:spPr>
        <p:txBody>
          <a:bodyPr wrap="square" lIns="0" tIns="0" rIns="0" bIns="0" rtlCol="0" anchor="ctr"/>
          <a:lstStyle/>
          <a:p>
            <a:pPr marL="0" indent="0">
              <a:buNone/>
            </a:pPr>
            <a:r>
              <a:rPr lang="en-US" sz="1100" b="1" dirty="0">
                <a:solidFill>
                  <a:srgbClr val="1B3A5C"/>
                </a:solidFill>
                <a:latin typeface="Calibri" pitchFamily="34" charset="0"/>
                <a:ea typeface="Calibri" pitchFamily="34" charset="-122"/>
                <a:cs typeface="Calibri" pitchFamily="34" charset="-120"/>
              </a:rPr>
              <a:t>ArcherBoss / Arrow</a:t>
            </a:r>
            <a:endParaRPr lang="en-US" sz="1100" dirty="0"/>
          </a:p>
        </p:txBody>
      </p:sp>
      <p:sp>
        <p:nvSpPr>
          <p:cNvPr id="22" name="Text 20"/>
          <p:cNvSpPr/>
          <p:nvPr/>
        </p:nvSpPr>
        <p:spPr>
          <a:xfrm>
            <a:off x="2651760" y="3273552"/>
            <a:ext cx="5989320" cy="347472"/>
          </a:xfrm>
          <a:prstGeom prst="rect">
            <a:avLst/>
          </a:prstGeom>
          <a:noFill/>
          <a:ln/>
        </p:spPr>
        <p:txBody>
          <a:bodyPr wrap="square" lIns="0" tIns="0" rIns="0" bIns="0" rtlCol="0" anchor="ctr"/>
          <a:lstStyle/>
          <a:p>
            <a:pPr marL="0" indent="0">
              <a:buNone/>
            </a:pPr>
            <a:r>
              <a:rPr lang="en-US" sz="1100" dirty="0">
                <a:solidFill>
                  <a:srgbClr val="4A5568"/>
                </a:solidFill>
                <a:latin typeface="Calibri" pitchFamily="34" charset="0"/>
                <a:ea typeface="Calibri" pitchFamily="34" charset="-122"/>
                <a:cs typeface="Calibri" pitchFamily="34" charset="-120"/>
              </a:rPr>
              <a:t>Shotgun + Frenzy + Machine-Gun burst attack phases. Arrow: vector movement, wall-tile deactivation.</a:t>
            </a:r>
            <a:endParaRPr lang="en-US" sz="1100" dirty="0"/>
          </a:p>
        </p:txBody>
      </p:sp>
      <p:sp>
        <p:nvSpPr>
          <p:cNvPr id="23" name="Shape 21"/>
          <p:cNvSpPr/>
          <p:nvPr/>
        </p:nvSpPr>
        <p:spPr>
          <a:xfrm>
            <a:off x="365760" y="3689604"/>
            <a:ext cx="8412480" cy="461772"/>
          </a:xfrm>
          <a:prstGeom prst="rect">
            <a:avLst/>
          </a:prstGeom>
          <a:solidFill>
            <a:srgbClr val="FFFFFF"/>
          </a:solidFill>
          <a:ln w="6350">
            <a:solidFill>
              <a:srgbClr val="C8D4E3"/>
            </a:solidFill>
            <a:prstDash val="solid"/>
          </a:ln>
        </p:spPr>
        <p:txBody>
          <a:bodyPr/>
          <a:lstStyle/>
          <a:p>
            <a:endParaRPr lang="en-GB"/>
          </a:p>
        </p:txBody>
      </p:sp>
      <p:sp>
        <p:nvSpPr>
          <p:cNvPr id="24" name="Text 22"/>
          <p:cNvSpPr/>
          <p:nvPr/>
        </p:nvSpPr>
        <p:spPr>
          <a:xfrm>
            <a:off x="457200" y="3735324"/>
            <a:ext cx="2057400" cy="347472"/>
          </a:xfrm>
          <a:prstGeom prst="rect">
            <a:avLst/>
          </a:prstGeom>
          <a:noFill/>
          <a:ln/>
        </p:spPr>
        <p:txBody>
          <a:bodyPr wrap="square" lIns="0" tIns="0" rIns="0" bIns="0" rtlCol="0" anchor="ctr"/>
          <a:lstStyle/>
          <a:p>
            <a:pPr marL="0" indent="0">
              <a:buNone/>
            </a:pPr>
            <a:r>
              <a:rPr lang="en-US" sz="1100" b="1" dirty="0">
                <a:solidFill>
                  <a:srgbClr val="1B3A5C"/>
                </a:solidFill>
                <a:latin typeface="Calibri" pitchFamily="34" charset="0"/>
                <a:ea typeface="Calibri" pitchFamily="34" charset="-122"/>
                <a:cs typeface="Calibri" pitchFamily="34" charset="-120"/>
              </a:rPr>
              <a:t>ExplosionTracker / Crystal</a:t>
            </a:r>
            <a:endParaRPr lang="en-US" sz="1100" dirty="0"/>
          </a:p>
        </p:txBody>
      </p:sp>
      <p:sp>
        <p:nvSpPr>
          <p:cNvPr id="25" name="Text 23"/>
          <p:cNvSpPr/>
          <p:nvPr/>
        </p:nvSpPr>
        <p:spPr>
          <a:xfrm>
            <a:off x="2651760" y="3735324"/>
            <a:ext cx="5989320" cy="347472"/>
          </a:xfrm>
          <a:prstGeom prst="rect">
            <a:avLst/>
          </a:prstGeom>
          <a:noFill/>
          <a:ln/>
        </p:spPr>
        <p:txBody>
          <a:bodyPr wrap="square" lIns="0" tIns="0" rIns="0" bIns="0" rtlCol="0" anchor="ctr"/>
          <a:lstStyle/>
          <a:p>
            <a:pPr marL="0" indent="0">
              <a:buNone/>
            </a:pPr>
            <a:r>
              <a:rPr lang="en-US" sz="1100" dirty="0">
                <a:solidFill>
                  <a:srgbClr val="4A5568"/>
                </a:solidFill>
                <a:latin typeface="Calibri" pitchFamily="34" charset="0"/>
                <a:ea typeface="Calibri" pitchFamily="34" charset="-122"/>
                <a:cs typeface="Calibri" pitchFamily="34" charset="-120"/>
              </a:rPr>
              <a:t>4-phase lerp-to-detonate mechanic. Crystal: boolean lifecycle, 18px expanded AABB bounds.</a:t>
            </a:r>
            <a:endParaRPr lang="en-US" sz="1100" dirty="0"/>
          </a:p>
        </p:txBody>
      </p:sp>
      <p:sp>
        <p:nvSpPr>
          <p:cNvPr id="26" name="Shape 24"/>
          <p:cNvSpPr/>
          <p:nvPr/>
        </p:nvSpPr>
        <p:spPr>
          <a:xfrm>
            <a:off x="365760" y="4151376"/>
            <a:ext cx="8412480" cy="461772"/>
          </a:xfrm>
          <a:prstGeom prst="rect">
            <a:avLst/>
          </a:prstGeom>
          <a:solidFill>
            <a:srgbClr val="EBF1FA"/>
          </a:solidFill>
          <a:ln w="6350">
            <a:solidFill>
              <a:srgbClr val="C8D4E3"/>
            </a:solidFill>
            <a:prstDash val="solid"/>
          </a:ln>
        </p:spPr>
        <p:txBody>
          <a:bodyPr/>
          <a:lstStyle/>
          <a:p>
            <a:endParaRPr lang="en-GB"/>
          </a:p>
        </p:txBody>
      </p:sp>
      <p:sp>
        <p:nvSpPr>
          <p:cNvPr id="27" name="Text 25"/>
          <p:cNvSpPr/>
          <p:nvPr/>
        </p:nvSpPr>
        <p:spPr>
          <a:xfrm>
            <a:off x="457200" y="4197096"/>
            <a:ext cx="2057400" cy="347472"/>
          </a:xfrm>
          <a:prstGeom prst="rect">
            <a:avLst/>
          </a:prstGeom>
          <a:noFill/>
          <a:ln/>
        </p:spPr>
        <p:txBody>
          <a:bodyPr wrap="square" lIns="0" tIns="0" rIns="0" bIns="0" rtlCol="0" anchor="ctr"/>
          <a:lstStyle/>
          <a:p>
            <a:pPr marL="0" indent="0">
              <a:buNone/>
            </a:pPr>
            <a:r>
              <a:rPr lang="en-US" sz="1100" b="1" dirty="0">
                <a:solidFill>
                  <a:srgbClr val="1B3A5C"/>
                </a:solidFill>
                <a:latin typeface="Calibri" pitchFamily="34" charset="0"/>
                <a:ea typeface="Calibri" pitchFamily="34" charset="-122"/>
                <a:cs typeface="Calibri" pitchFamily="34" charset="-120"/>
              </a:rPr>
              <a:t>Map / Tile</a:t>
            </a:r>
            <a:endParaRPr lang="en-US" sz="1100" dirty="0"/>
          </a:p>
        </p:txBody>
      </p:sp>
      <p:sp>
        <p:nvSpPr>
          <p:cNvPr id="28" name="Text 26"/>
          <p:cNvSpPr/>
          <p:nvPr/>
        </p:nvSpPr>
        <p:spPr>
          <a:xfrm>
            <a:off x="2651760" y="4197096"/>
            <a:ext cx="5989320" cy="347472"/>
          </a:xfrm>
          <a:prstGeom prst="rect">
            <a:avLst/>
          </a:prstGeom>
          <a:noFill/>
          <a:ln/>
        </p:spPr>
        <p:txBody>
          <a:bodyPr wrap="square" lIns="0" tIns="0" rIns="0" bIns="0" rtlCol="0" anchor="ctr"/>
          <a:lstStyle/>
          <a:p>
            <a:pPr marL="0" indent="0">
              <a:buNone/>
            </a:pPr>
            <a:r>
              <a:rPr lang="en-US" sz="1100" dirty="0">
                <a:solidFill>
                  <a:srgbClr val="4A5568"/>
                </a:solidFill>
                <a:latin typeface="Calibri" pitchFamily="34" charset="0"/>
                <a:ea typeface="Calibri" pitchFamily="34" charset="-122"/>
                <a:cs typeface="Calibri" pitchFamily="34" charset="-120"/>
              </a:rPr>
              <a:t>Procedural int[][] world. 3 layouts: normal/arena/chase. Tile is a 6-entry Flyweight.</a:t>
            </a:r>
            <a:endParaRPr lang="en-US" sz="1100" dirty="0"/>
          </a:p>
        </p:txBody>
      </p:sp>
      <p:sp>
        <p:nvSpPr>
          <p:cNvPr id="29" name="Shape 27"/>
          <p:cNvSpPr/>
          <p:nvPr/>
        </p:nvSpPr>
        <p:spPr>
          <a:xfrm>
            <a:off x="365760" y="4613148"/>
            <a:ext cx="8412480" cy="461772"/>
          </a:xfrm>
          <a:prstGeom prst="rect">
            <a:avLst/>
          </a:prstGeom>
          <a:solidFill>
            <a:srgbClr val="FFFFFF"/>
          </a:solidFill>
          <a:ln w="6350">
            <a:solidFill>
              <a:srgbClr val="C8D4E3"/>
            </a:solidFill>
            <a:prstDash val="solid"/>
          </a:ln>
        </p:spPr>
        <p:txBody>
          <a:bodyPr/>
          <a:lstStyle/>
          <a:p>
            <a:endParaRPr lang="en-GB"/>
          </a:p>
        </p:txBody>
      </p:sp>
      <p:sp>
        <p:nvSpPr>
          <p:cNvPr id="30" name="Text 28"/>
          <p:cNvSpPr/>
          <p:nvPr/>
        </p:nvSpPr>
        <p:spPr>
          <a:xfrm>
            <a:off x="457200" y="4658868"/>
            <a:ext cx="2057400" cy="347472"/>
          </a:xfrm>
          <a:prstGeom prst="rect">
            <a:avLst/>
          </a:prstGeom>
          <a:noFill/>
          <a:ln/>
        </p:spPr>
        <p:txBody>
          <a:bodyPr wrap="square" lIns="0" tIns="0" rIns="0" bIns="0" rtlCol="0" anchor="ctr"/>
          <a:lstStyle/>
          <a:p>
            <a:pPr marL="0" indent="0">
              <a:buNone/>
            </a:pPr>
            <a:r>
              <a:rPr lang="en-US" sz="1100" b="1" dirty="0">
                <a:solidFill>
                  <a:srgbClr val="1B3A5C"/>
                </a:solidFill>
                <a:latin typeface="Calibri" pitchFamily="34" charset="0"/>
                <a:ea typeface="Calibri" pitchFamily="34" charset="-122"/>
                <a:cs typeface="Calibri" pitchFamily="34" charset="-120"/>
              </a:rPr>
              <a:t>ScoreEntry / ScoreManager</a:t>
            </a:r>
            <a:endParaRPr lang="en-US" sz="1100" dirty="0"/>
          </a:p>
        </p:txBody>
      </p:sp>
      <p:sp>
        <p:nvSpPr>
          <p:cNvPr id="31" name="Text 29"/>
          <p:cNvSpPr/>
          <p:nvPr/>
        </p:nvSpPr>
        <p:spPr>
          <a:xfrm>
            <a:off x="2651760" y="4658868"/>
            <a:ext cx="5989320" cy="347472"/>
          </a:xfrm>
          <a:prstGeom prst="rect">
            <a:avLst/>
          </a:prstGeom>
          <a:noFill/>
          <a:ln/>
        </p:spPr>
        <p:txBody>
          <a:bodyPr wrap="square" lIns="0" tIns="0" rIns="0" bIns="0" rtlCol="0" anchor="ctr"/>
          <a:lstStyle/>
          <a:p>
            <a:pPr marL="0" indent="0">
              <a:buNone/>
            </a:pPr>
            <a:r>
              <a:rPr lang="en-US" sz="1100" dirty="0">
                <a:solidFill>
                  <a:srgbClr val="4A5568"/>
                </a:solidFill>
                <a:latin typeface="Calibri" pitchFamily="34" charset="0"/>
                <a:ea typeface="Calibri" pitchFamily="34" charset="-122"/>
                <a:cs typeface="Calibri" pitchFamily="34" charset="-120"/>
              </a:rPr>
              <a:t>CSV serialisation, BufferedWriter append, defensive parsing, lambda Comparator sort.</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0">
    <p:bg>
      <p:bgPr>
        <a:solidFill>
          <a:srgbClr val="E8EDF2"/>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1B3A5C"/>
          </a:solidFill>
          <a:ln w="12700">
            <a:solidFill>
              <a:srgbClr val="1B3A5C"/>
            </a:solidFill>
            <a:prstDash val="solid"/>
          </a:ln>
        </p:spPr>
        <p:txBody>
          <a:bodyPr/>
          <a:lstStyle/>
          <a:p>
            <a:endParaRPr lang="en-GB"/>
          </a:p>
        </p:txBody>
      </p:sp>
      <p:sp>
        <p:nvSpPr>
          <p:cNvPr id="3" name="Text 1"/>
          <p:cNvSpPr/>
          <p:nvPr/>
        </p:nvSpPr>
        <p:spPr>
          <a:xfrm>
            <a:off x="365760" y="182880"/>
            <a:ext cx="8503920" cy="594360"/>
          </a:xfrm>
          <a:prstGeom prst="rect">
            <a:avLst/>
          </a:prstGeom>
          <a:noFill/>
          <a:ln/>
        </p:spPr>
        <p:txBody>
          <a:bodyPr wrap="square" lIns="0" tIns="0" rIns="0" bIns="0" rtlCol="0" anchor="ctr"/>
          <a:lstStyle/>
          <a:p>
            <a:pPr marL="0" indent="0" algn="l">
              <a:buNone/>
            </a:pPr>
            <a:r>
              <a:rPr lang="en-US" sz="2400" b="1" dirty="0">
                <a:solidFill>
                  <a:srgbClr val="1B3A5C"/>
                </a:solidFill>
                <a:latin typeface="Georgia" pitchFamily="34" charset="0"/>
                <a:ea typeface="Georgia" pitchFamily="34" charset="-122"/>
                <a:cs typeface="Georgia" pitchFamily="34" charset="-120"/>
              </a:rPr>
              <a:t>System Workflow</a:t>
            </a:r>
            <a:endParaRPr lang="en-US" sz="2400" dirty="0"/>
          </a:p>
        </p:txBody>
      </p:sp>
      <p:sp>
        <p:nvSpPr>
          <p:cNvPr id="4" name="Shape 2"/>
          <p:cNvSpPr/>
          <p:nvPr/>
        </p:nvSpPr>
        <p:spPr>
          <a:xfrm>
            <a:off x="365760" y="804672"/>
            <a:ext cx="8412480" cy="36576"/>
          </a:xfrm>
          <a:prstGeom prst="rect">
            <a:avLst/>
          </a:prstGeom>
          <a:solidFill>
            <a:srgbClr val="C0392B"/>
          </a:solidFill>
          <a:ln w="12700">
            <a:solidFill>
              <a:srgbClr val="C0392B"/>
            </a:solidFill>
            <a:prstDash val="solid"/>
          </a:ln>
        </p:spPr>
        <p:txBody>
          <a:bodyPr/>
          <a:lstStyle/>
          <a:p>
            <a:endParaRPr lang="en-GB"/>
          </a:p>
        </p:txBody>
      </p:sp>
      <p:sp>
        <p:nvSpPr>
          <p:cNvPr id="5" name="Shape 3"/>
          <p:cNvSpPr/>
          <p:nvPr/>
        </p:nvSpPr>
        <p:spPr>
          <a:xfrm>
            <a:off x="365760" y="1058322"/>
            <a:ext cx="1536192" cy="1691640"/>
          </a:xfrm>
          <a:prstGeom prst="rect">
            <a:avLst/>
          </a:prstGeom>
          <a:solidFill>
            <a:srgbClr val="1B3A5C"/>
          </a:solidFill>
          <a:ln w="6350">
            <a:solidFill>
              <a:srgbClr val="D0D8E4"/>
            </a:solidFill>
            <a:prstDash val="solid"/>
          </a:ln>
          <a:effectLst>
            <a:outerShdw blurRad="50800" dist="12700" dir="8100000" algn="bl" rotWithShape="0">
              <a:srgbClr val="000000">
                <a:alpha val="8000"/>
              </a:srgbClr>
            </a:outerShdw>
          </a:effectLst>
        </p:spPr>
        <p:txBody>
          <a:bodyPr/>
          <a:lstStyle/>
          <a:p>
            <a:endParaRPr lang="en-GB"/>
          </a:p>
        </p:txBody>
      </p:sp>
      <p:sp>
        <p:nvSpPr>
          <p:cNvPr id="6" name="Text 4"/>
          <p:cNvSpPr/>
          <p:nvPr/>
        </p:nvSpPr>
        <p:spPr>
          <a:xfrm>
            <a:off x="365760" y="1104042"/>
            <a:ext cx="1536192" cy="502920"/>
          </a:xfrm>
          <a:prstGeom prst="rect">
            <a:avLst/>
          </a:prstGeom>
          <a:noFill/>
          <a:ln/>
        </p:spPr>
        <p:txBody>
          <a:bodyPr wrap="square" lIns="0" tIns="0" rIns="0" bIns="0" rtlCol="0" anchor="ctr"/>
          <a:lstStyle/>
          <a:p>
            <a:pPr marL="0" indent="0" algn="ctr">
              <a:buNone/>
            </a:pPr>
            <a:r>
              <a:rPr lang="en-US" sz="2800" b="1" dirty="0">
                <a:solidFill>
                  <a:srgbClr val="C0392B"/>
                </a:solidFill>
                <a:latin typeface="Georgia" pitchFamily="34" charset="0"/>
                <a:ea typeface="Georgia" pitchFamily="34" charset="-122"/>
                <a:cs typeface="Georgia" pitchFamily="34" charset="-120"/>
              </a:rPr>
              <a:t>1</a:t>
            </a:r>
            <a:endParaRPr lang="en-US" sz="2800" dirty="0"/>
          </a:p>
        </p:txBody>
      </p:sp>
      <p:sp>
        <p:nvSpPr>
          <p:cNvPr id="7" name="Text 5"/>
          <p:cNvSpPr/>
          <p:nvPr/>
        </p:nvSpPr>
        <p:spPr>
          <a:xfrm>
            <a:off x="365760" y="1588674"/>
            <a:ext cx="1536192"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Georgia" pitchFamily="34" charset="0"/>
                <a:ea typeface="Georgia" pitchFamily="34" charset="-122"/>
                <a:cs typeface="Georgia" pitchFamily="34" charset="-120"/>
              </a:rPr>
              <a:t>Launch</a:t>
            </a:r>
            <a:endParaRPr lang="en-US" sz="1200" dirty="0"/>
          </a:p>
        </p:txBody>
      </p:sp>
      <p:sp>
        <p:nvSpPr>
          <p:cNvPr id="8" name="Text 6"/>
          <p:cNvSpPr/>
          <p:nvPr/>
        </p:nvSpPr>
        <p:spPr>
          <a:xfrm>
            <a:off x="365760" y="1927002"/>
            <a:ext cx="1536192" cy="685800"/>
          </a:xfrm>
          <a:prstGeom prst="rect">
            <a:avLst/>
          </a:prstGeom>
          <a:noFill/>
          <a:ln/>
        </p:spPr>
        <p:txBody>
          <a:bodyPr wrap="square" rtlCol="0" anchor="ctr"/>
          <a:lstStyle/>
          <a:p>
            <a:pPr marL="0" indent="0" algn="ctr">
              <a:buNone/>
            </a:pPr>
            <a:r>
              <a:rPr lang="en-US" sz="1000" dirty="0">
                <a:solidFill>
                  <a:srgbClr val="D6E4F7"/>
                </a:solidFill>
                <a:latin typeface="Calibri" pitchFamily="34" charset="0"/>
                <a:ea typeface="Calibri" pitchFamily="34" charset="-122"/>
                <a:cs typeface="Calibri" pitchFamily="34" charset="-120"/>
              </a:rPr>
              <a:t>GameMenu → Mode Select</a:t>
            </a:r>
            <a:endParaRPr lang="en-US" sz="1000" dirty="0"/>
          </a:p>
        </p:txBody>
      </p:sp>
      <p:sp>
        <p:nvSpPr>
          <p:cNvPr id="9" name="Shape 7"/>
          <p:cNvSpPr/>
          <p:nvPr/>
        </p:nvSpPr>
        <p:spPr>
          <a:xfrm>
            <a:off x="1901952" y="1771554"/>
            <a:ext cx="164592" cy="91440"/>
          </a:xfrm>
          <a:prstGeom prst="rect">
            <a:avLst/>
          </a:prstGeom>
          <a:solidFill>
            <a:srgbClr val="8C9CB0"/>
          </a:solidFill>
          <a:ln w="12700">
            <a:solidFill>
              <a:srgbClr val="8C9CB0"/>
            </a:solidFill>
            <a:prstDash val="solid"/>
          </a:ln>
        </p:spPr>
        <p:txBody>
          <a:bodyPr/>
          <a:lstStyle/>
          <a:p>
            <a:endParaRPr lang="en-GB"/>
          </a:p>
        </p:txBody>
      </p:sp>
      <p:sp>
        <p:nvSpPr>
          <p:cNvPr id="10" name="Shape 8"/>
          <p:cNvSpPr/>
          <p:nvPr/>
        </p:nvSpPr>
        <p:spPr>
          <a:xfrm>
            <a:off x="2066544" y="1058322"/>
            <a:ext cx="1536192" cy="1691640"/>
          </a:xfrm>
          <a:prstGeom prst="rect">
            <a:avLst/>
          </a:prstGeom>
          <a:solidFill>
            <a:srgbClr val="1B3A5C"/>
          </a:solidFill>
          <a:ln w="6350">
            <a:solidFill>
              <a:srgbClr val="D0D8E4"/>
            </a:solidFill>
            <a:prstDash val="solid"/>
          </a:ln>
          <a:effectLst>
            <a:outerShdw blurRad="50800" dist="12700" dir="8100000" algn="bl" rotWithShape="0">
              <a:srgbClr val="000000">
                <a:alpha val="8000"/>
              </a:srgbClr>
            </a:outerShdw>
          </a:effectLst>
        </p:spPr>
        <p:txBody>
          <a:bodyPr/>
          <a:lstStyle/>
          <a:p>
            <a:endParaRPr lang="en-GB"/>
          </a:p>
        </p:txBody>
      </p:sp>
      <p:sp>
        <p:nvSpPr>
          <p:cNvPr id="11" name="Text 9"/>
          <p:cNvSpPr/>
          <p:nvPr/>
        </p:nvSpPr>
        <p:spPr>
          <a:xfrm>
            <a:off x="2066544" y="1104042"/>
            <a:ext cx="1536192" cy="502920"/>
          </a:xfrm>
          <a:prstGeom prst="rect">
            <a:avLst/>
          </a:prstGeom>
          <a:noFill/>
          <a:ln/>
        </p:spPr>
        <p:txBody>
          <a:bodyPr wrap="square" lIns="0" tIns="0" rIns="0" bIns="0" rtlCol="0" anchor="ctr"/>
          <a:lstStyle/>
          <a:p>
            <a:pPr marL="0" indent="0" algn="ctr">
              <a:buNone/>
            </a:pPr>
            <a:r>
              <a:rPr lang="en-US" sz="2800" b="1" dirty="0">
                <a:solidFill>
                  <a:srgbClr val="C0392B"/>
                </a:solidFill>
                <a:latin typeface="Georgia" pitchFamily="34" charset="0"/>
                <a:ea typeface="Georgia" pitchFamily="34" charset="-122"/>
                <a:cs typeface="Georgia" pitchFamily="34" charset="-120"/>
              </a:rPr>
              <a:t>2</a:t>
            </a:r>
            <a:endParaRPr lang="en-US" sz="2800" dirty="0"/>
          </a:p>
        </p:txBody>
      </p:sp>
      <p:sp>
        <p:nvSpPr>
          <p:cNvPr id="12" name="Text 10"/>
          <p:cNvSpPr/>
          <p:nvPr/>
        </p:nvSpPr>
        <p:spPr>
          <a:xfrm>
            <a:off x="2066544" y="1588674"/>
            <a:ext cx="1536192"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Georgia" pitchFamily="34" charset="0"/>
                <a:ea typeface="Georgia" pitchFamily="34" charset="-122"/>
                <a:cs typeface="Georgia" pitchFamily="34" charset="-120"/>
              </a:rPr>
              <a:t>Map Gen</a:t>
            </a:r>
            <a:endParaRPr lang="en-US" sz="1200" dirty="0"/>
          </a:p>
        </p:txBody>
      </p:sp>
      <p:sp>
        <p:nvSpPr>
          <p:cNvPr id="13" name="Text 11"/>
          <p:cNvSpPr/>
          <p:nvPr/>
        </p:nvSpPr>
        <p:spPr>
          <a:xfrm>
            <a:off x="2066544" y="1927002"/>
            <a:ext cx="1536192" cy="685800"/>
          </a:xfrm>
          <a:prstGeom prst="rect">
            <a:avLst/>
          </a:prstGeom>
          <a:noFill/>
          <a:ln/>
        </p:spPr>
        <p:txBody>
          <a:bodyPr wrap="square" rtlCol="0" anchor="ctr"/>
          <a:lstStyle/>
          <a:p>
            <a:pPr marL="0" indent="0" algn="ctr">
              <a:buNone/>
            </a:pPr>
            <a:r>
              <a:rPr lang="en-US" sz="1000" dirty="0">
                <a:solidFill>
                  <a:srgbClr val="D6E4F7"/>
                </a:solidFill>
                <a:latin typeface="Calibri" pitchFamily="34" charset="0"/>
                <a:ea typeface="Calibri" pitchFamily="34" charset="-122"/>
                <a:cs typeface="Calibri" pitchFamily="34" charset="-120"/>
              </a:rPr>
              <a:t>Procedural tiles + path carve</a:t>
            </a:r>
            <a:endParaRPr lang="en-US" sz="1000" dirty="0"/>
          </a:p>
        </p:txBody>
      </p:sp>
      <p:sp>
        <p:nvSpPr>
          <p:cNvPr id="14" name="Shape 12"/>
          <p:cNvSpPr/>
          <p:nvPr/>
        </p:nvSpPr>
        <p:spPr>
          <a:xfrm>
            <a:off x="3602736" y="1771554"/>
            <a:ext cx="164592" cy="91440"/>
          </a:xfrm>
          <a:prstGeom prst="rect">
            <a:avLst/>
          </a:prstGeom>
          <a:solidFill>
            <a:srgbClr val="8C9CB0"/>
          </a:solidFill>
          <a:ln w="12700">
            <a:solidFill>
              <a:srgbClr val="8C9CB0"/>
            </a:solidFill>
            <a:prstDash val="solid"/>
          </a:ln>
        </p:spPr>
        <p:txBody>
          <a:bodyPr/>
          <a:lstStyle/>
          <a:p>
            <a:endParaRPr lang="en-GB"/>
          </a:p>
        </p:txBody>
      </p:sp>
      <p:sp>
        <p:nvSpPr>
          <p:cNvPr id="15" name="Shape 13"/>
          <p:cNvSpPr/>
          <p:nvPr/>
        </p:nvSpPr>
        <p:spPr>
          <a:xfrm>
            <a:off x="3767328" y="1058322"/>
            <a:ext cx="1536192" cy="1691640"/>
          </a:xfrm>
          <a:prstGeom prst="rect">
            <a:avLst/>
          </a:prstGeom>
          <a:solidFill>
            <a:srgbClr val="1B3A5C"/>
          </a:solidFill>
          <a:ln w="6350">
            <a:solidFill>
              <a:srgbClr val="D0D8E4"/>
            </a:solidFill>
            <a:prstDash val="solid"/>
          </a:ln>
          <a:effectLst>
            <a:outerShdw blurRad="50800" dist="12700" dir="8100000" algn="bl" rotWithShape="0">
              <a:srgbClr val="000000">
                <a:alpha val="8000"/>
              </a:srgbClr>
            </a:outerShdw>
          </a:effectLst>
        </p:spPr>
        <p:txBody>
          <a:bodyPr/>
          <a:lstStyle/>
          <a:p>
            <a:endParaRPr lang="en-GB"/>
          </a:p>
        </p:txBody>
      </p:sp>
      <p:sp>
        <p:nvSpPr>
          <p:cNvPr id="16" name="Text 14"/>
          <p:cNvSpPr/>
          <p:nvPr/>
        </p:nvSpPr>
        <p:spPr>
          <a:xfrm>
            <a:off x="3767328" y="1104042"/>
            <a:ext cx="1536192" cy="502920"/>
          </a:xfrm>
          <a:prstGeom prst="rect">
            <a:avLst/>
          </a:prstGeom>
          <a:noFill/>
          <a:ln/>
        </p:spPr>
        <p:txBody>
          <a:bodyPr wrap="square" lIns="0" tIns="0" rIns="0" bIns="0" rtlCol="0" anchor="ctr"/>
          <a:lstStyle/>
          <a:p>
            <a:pPr marL="0" indent="0" algn="ctr">
              <a:buNone/>
            </a:pPr>
            <a:r>
              <a:rPr lang="en-US" sz="2800" b="1" dirty="0">
                <a:solidFill>
                  <a:srgbClr val="C0392B"/>
                </a:solidFill>
                <a:latin typeface="Georgia" pitchFamily="34" charset="0"/>
                <a:ea typeface="Georgia" pitchFamily="34" charset="-122"/>
                <a:cs typeface="Georgia" pitchFamily="34" charset="-120"/>
              </a:rPr>
              <a:t>3</a:t>
            </a:r>
            <a:endParaRPr lang="en-US" sz="2800" dirty="0"/>
          </a:p>
        </p:txBody>
      </p:sp>
      <p:sp>
        <p:nvSpPr>
          <p:cNvPr id="17" name="Text 15"/>
          <p:cNvSpPr/>
          <p:nvPr/>
        </p:nvSpPr>
        <p:spPr>
          <a:xfrm>
            <a:off x="3767328" y="1588674"/>
            <a:ext cx="1536192"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Georgia" pitchFamily="34" charset="0"/>
                <a:ea typeface="Georgia" pitchFamily="34" charset="-122"/>
                <a:cs typeface="Georgia" pitchFamily="34" charset="-120"/>
              </a:rPr>
              <a:t>Explore</a:t>
            </a:r>
            <a:endParaRPr lang="en-US" sz="1200" dirty="0"/>
          </a:p>
        </p:txBody>
      </p:sp>
      <p:sp>
        <p:nvSpPr>
          <p:cNvPr id="18" name="Text 16"/>
          <p:cNvSpPr/>
          <p:nvPr/>
        </p:nvSpPr>
        <p:spPr>
          <a:xfrm>
            <a:off x="3767328" y="1927002"/>
            <a:ext cx="1536192" cy="685800"/>
          </a:xfrm>
          <a:prstGeom prst="rect">
            <a:avLst/>
          </a:prstGeom>
          <a:noFill/>
          <a:ln/>
        </p:spPr>
        <p:txBody>
          <a:bodyPr wrap="square" rtlCol="0" anchor="ctr"/>
          <a:lstStyle/>
          <a:p>
            <a:pPr marL="0" indent="0" algn="ctr">
              <a:buNone/>
            </a:pPr>
            <a:r>
              <a:rPr lang="en-US" sz="1000" dirty="0">
                <a:solidFill>
                  <a:srgbClr val="D6E4F7"/>
                </a:solidFill>
                <a:latin typeface="Calibri" pitchFamily="34" charset="0"/>
                <a:ea typeface="Calibri" pitchFamily="34" charset="-122"/>
                <a:cs typeface="Calibri" pitchFamily="34" charset="-120"/>
              </a:rPr>
              <a:t>Move, collect crystals</a:t>
            </a:r>
            <a:endParaRPr lang="en-US" sz="1000" dirty="0"/>
          </a:p>
        </p:txBody>
      </p:sp>
      <p:sp>
        <p:nvSpPr>
          <p:cNvPr id="19" name="Shape 17"/>
          <p:cNvSpPr/>
          <p:nvPr/>
        </p:nvSpPr>
        <p:spPr>
          <a:xfrm>
            <a:off x="5303520" y="1771554"/>
            <a:ext cx="164592" cy="91440"/>
          </a:xfrm>
          <a:prstGeom prst="rect">
            <a:avLst/>
          </a:prstGeom>
          <a:solidFill>
            <a:srgbClr val="8C9CB0"/>
          </a:solidFill>
          <a:ln w="12700">
            <a:solidFill>
              <a:srgbClr val="8C9CB0"/>
            </a:solidFill>
            <a:prstDash val="solid"/>
          </a:ln>
        </p:spPr>
        <p:txBody>
          <a:bodyPr/>
          <a:lstStyle/>
          <a:p>
            <a:endParaRPr lang="en-GB"/>
          </a:p>
        </p:txBody>
      </p:sp>
      <p:sp>
        <p:nvSpPr>
          <p:cNvPr id="20" name="Shape 18"/>
          <p:cNvSpPr/>
          <p:nvPr/>
        </p:nvSpPr>
        <p:spPr>
          <a:xfrm>
            <a:off x="5468112" y="1058322"/>
            <a:ext cx="1536192" cy="1691640"/>
          </a:xfrm>
          <a:prstGeom prst="rect">
            <a:avLst/>
          </a:prstGeom>
          <a:solidFill>
            <a:srgbClr val="1B3A5C"/>
          </a:solidFill>
          <a:ln w="6350">
            <a:solidFill>
              <a:srgbClr val="D0D8E4"/>
            </a:solidFill>
            <a:prstDash val="solid"/>
          </a:ln>
          <a:effectLst>
            <a:outerShdw blurRad="50800" dist="12700" dir="8100000" algn="bl" rotWithShape="0">
              <a:srgbClr val="000000">
                <a:alpha val="8000"/>
              </a:srgbClr>
            </a:outerShdw>
          </a:effectLst>
        </p:spPr>
        <p:txBody>
          <a:bodyPr/>
          <a:lstStyle/>
          <a:p>
            <a:endParaRPr lang="en-GB"/>
          </a:p>
        </p:txBody>
      </p:sp>
      <p:sp>
        <p:nvSpPr>
          <p:cNvPr id="21" name="Text 19"/>
          <p:cNvSpPr/>
          <p:nvPr/>
        </p:nvSpPr>
        <p:spPr>
          <a:xfrm>
            <a:off x="5468112" y="1104042"/>
            <a:ext cx="1536192" cy="502920"/>
          </a:xfrm>
          <a:prstGeom prst="rect">
            <a:avLst/>
          </a:prstGeom>
          <a:noFill/>
          <a:ln/>
        </p:spPr>
        <p:txBody>
          <a:bodyPr wrap="square" lIns="0" tIns="0" rIns="0" bIns="0" rtlCol="0" anchor="ctr"/>
          <a:lstStyle/>
          <a:p>
            <a:pPr marL="0" indent="0" algn="ctr">
              <a:buNone/>
            </a:pPr>
            <a:r>
              <a:rPr lang="en-US" sz="2800" b="1" dirty="0">
                <a:solidFill>
                  <a:srgbClr val="C0392B"/>
                </a:solidFill>
                <a:latin typeface="Georgia" pitchFamily="34" charset="0"/>
                <a:ea typeface="Georgia" pitchFamily="34" charset="-122"/>
                <a:cs typeface="Georgia" pitchFamily="34" charset="-120"/>
              </a:rPr>
              <a:t>4</a:t>
            </a:r>
            <a:endParaRPr lang="en-US" sz="2800" dirty="0"/>
          </a:p>
        </p:txBody>
      </p:sp>
      <p:sp>
        <p:nvSpPr>
          <p:cNvPr id="22" name="Text 20"/>
          <p:cNvSpPr/>
          <p:nvPr/>
        </p:nvSpPr>
        <p:spPr>
          <a:xfrm>
            <a:off x="5468112" y="1588674"/>
            <a:ext cx="1536192"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Georgia" pitchFamily="34" charset="0"/>
                <a:ea typeface="Georgia" pitchFamily="34" charset="-122"/>
                <a:cs typeface="Georgia" pitchFamily="34" charset="-120"/>
              </a:rPr>
              <a:t>Boss Arena</a:t>
            </a:r>
            <a:endParaRPr lang="en-US" sz="1200" dirty="0"/>
          </a:p>
        </p:txBody>
      </p:sp>
      <p:sp>
        <p:nvSpPr>
          <p:cNvPr id="23" name="Text 21"/>
          <p:cNvSpPr/>
          <p:nvPr/>
        </p:nvSpPr>
        <p:spPr>
          <a:xfrm>
            <a:off x="5468112" y="1927002"/>
            <a:ext cx="1536192" cy="685800"/>
          </a:xfrm>
          <a:prstGeom prst="rect">
            <a:avLst/>
          </a:prstGeom>
          <a:noFill/>
          <a:ln/>
        </p:spPr>
        <p:txBody>
          <a:bodyPr wrap="square" rtlCol="0" anchor="ctr"/>
          <a:lstStyle/>
          <a:p>
            <a:pPr marL="0" indent="0" algn="ctr">
              <a:buNone/>
            </a:pPr>
            <a:r>
              <a:rPr lang="en-US" sz="1000" dirty="0">
                <a:solidFill>
                  <a:srgbClr val="D6E4F7"/>
                </a:solidFill>
                <a:latin typeface="Calibri" pitchFamily="34" charset="0"/>
                <a:ea typeface="Calibri" pitchFamily="34" charset="-122"/>
                <a:cs typeface="Calibri" pitchFamily="34" charset="-120"/>
              </a:rPr>
              <a:t>ArcherBoss + Explosions</a:t>
            </a:r>
            <a:endParaRPr lang="en-US" sz="1000" dirty="0"/>
          </a:p>
        </p:txBody>
      </p:sp>
      <p:sp>
        <p:nvSpPr>
          <p:cNvPr id="24" name="Shape 22"/>
          <p:cNvSpPr/>
          <p:nvPr/>
        </p:nvSpPr>
        <p:spPr>
          <a:xfrm>
            <a:off x="7004304" y="1771554"/>
            <a:ext cx="164592" cy="91440"/>
          </a:xfrm>
          <a:prstGeom prst="rect">
            <a:avLst/>
          </a:prstGeom>
          <a:solidFill>
            <a:srgbClr val="8C9CB0"/>
          </a:solidFill>
          <a:ln w="12700">
            <a:solidFill>
              <a:srgbClr val="8C9CB0"/>
            </a:solidFill>
            <a:prstDash val="solid"/>
          </a:ln>
        </p:spPr>
        <p:txBody>
          <a:bodyPr/>
          <a:lstStyle/>
          <a:p>
            <a:endParaRPr lang="en-GB"/>
          </a:p>
        </p:txBody>
      </p:sp>
      <p:sp>
        <p:nvSpPr>
          <p:cNvPr id="25" name="Shape 23"/>
          <p:cNvSpPr/>
          <p:nvPr/>
        </p:nvSpPr>
        <p:spPr>
          <a:xfrm>
            <a:off x="7168896" y="1058322"/>
            <a:ext cx="1536192" cy="1691640"/>
          </a:xfrm>
          <a:prstGeom prst="rect">
            <a:avLst/>
          </a:prstGeom>
          <a:solidFill>
            <a:srgbClr val="1B3A5C"/>
          </a:solidFill>
          <a:ln w="6350">
            <a:solidFill>
              <a:srgbClr val="D0D8E4"/>
            </a:solidFill>
            <a:prstDash val="solid"/>
          </a:ln>
          <a:effectLst>
            <a:outerShdw blurRad="50800" dist="12700" dir="8100000" algn="bl" rotWithShape="0">
              <a:srgbClr val="000000">
                <a:alpha val="8000"/>
              </a:srgbClr>
            </a:outerShdw>
          </a:effectLst>
        </p:spPr>
        <p:txBody>
          <a:bodyPr/>
          <a:lstStyle/>
          <a:p>
            <a:endParaRPr lang="en-GB"/>
          </a:p>
        </p:txBody>
      </p:sp>
      <p:sp>
        <p:nvSpPr>
          <p:cNvPr id="26" name="Text 24"/>
          <p:cNvSpPr/>
          <p:nvPr/>
        </p:nvSpPr>
        <p:spPr>
          <a:xfrm>
            <a:off x="7168896" y="1104042"/>
            <a:ext cx="1536192" cy="502920"/>
          </a:xfrm>
          <a:prstGeom prst="rect">
            <a:avLst/>
          </a:prstGeom>
          <a:noFill/>
          <a:ln/>
        </p:spPr>
        <p:txBody>
          <a:bodyPr wrap="square" lIns="0" tIns="0" rIns="0" bIns="0" rtlCol="0" anchor="ctr"/>
          <a:lstStyle/>
          <a:p>
            <a:pPr marL="0" indent="0" algn="ctr">
              <a:buNone/>
            </a:pPr>
            <a:r>
              <a:rPr lang="en-US" sz="2800" b="1" dirty="0">
                <a:solidFill>
                  <a:srgbClr val="C0392B"/>
                </a:solidFill>
                <a:latin typeface="Georgia" pitchFamily="34" charset="0"/>
                <a:ea typeface="Georgia" pitchFamily="34" charset="-122"/>
                <a:cs typeface="Georgia" pitchFamily="34" charset="-120"/>
              </a:rPr>
              <a:t>5</a:t>
            </a:r>
            <a:endParaRPr lang="en-US" sz="2800" dirty="0"/>
          </a:p>
        </p:txBody>
      </p:sp>
      <p:sp>
        <p:nvSpPr>
          <p:cNvPr id="27" name="Text 25"/>
          <p:cNvSpPr/>
          <p:nvPr/>
        </p:nvSpPr>
        <p:spPr>
          <a:xfrm>
            <a:off x="7168896" y="1588674"/>
            <a:ext cx="1536192"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Georgia" pitchFamily="34" charset="0"/>
                <a:ea typeface="Georgia" pitchFamily="34" charset="-122"/>
                <a:cs typeface="Georgia" pitchFamily="34" charset="-120"/>
              </a:rPr>
              <a:t>Exit</a:t>
            </a:r>
            <a:endParaRPr lang="en-US" sz="1200" dirty="0"/>
          </a:p>
        </p:txBody>
      </p:sp>
      <p:sp>
        <p:nvSpPr>
          <p:cNvPr id="28" name="Text 26"/>
          <p:cNvSpPr/>
          <p:nvPr/>
        </p:nvSpPr>
        <p:spPr>
          <a:xfrm>
            <a:off x="7168896" y="1927002"/>
            <a:ext cx="1536192" cy="685800"/>
          </a:xfrm>
          <a:prstGeom prst="rect">
            <a:avLst/>
          </a:prstGeom>
          <a:noFill/>
          <a:ln/>
        </p:spPr>
        <p:txBody>
          <a:bodyPr wrap="square" rtlCol="0" anchor="ctr"/>
          <a:lstStyle/>
          <a:p>
            <a:pPr marL="0" indent="0" algn="ctr">
              <a:buNone/>
            </a:pPr>
            <a:r>
              <a:rPr lang="en-US" sz="1000" dirty="0">
                <a:solidFill>
                  <a:srgbClr val="D6E4F7"/>
                </a:solidFill>
                <a:latin typeface="Calibri" pitchFamily="34" charset="0"/>
                <a:ea typeface="Calibri" pitchFamily="34" charset="-122"/>
                <a:cs typeface="Calibri" pitchFamily="34" charset="-120"/>
              </a:rPr>
              <a:t>Score saved → Scoreboard</a:t>
            </a:r>
            <a:endParaRPr lang="en-US" sz="1000" dirty="0"/>
          </a:p>
        </p:txBody>
      </p:sp>
      <p:sp>
        <p:nvSpPr>
          <p:cNvPr id="29" name="Shape 27"/>
          <p:cNvSpPr/>
          <p:nvPr/>
        </p:nvSpPr>
        <p:spPr>
          <a:xfrm>
            <a:off x="365760" y="3044952"/>
            <a:ext cx="4114800" cy="1024128"/>
          </a:xfrm>
          <a:prstGeom prst="rect">
            <a:avLst/>
          </a:prstGeom>
          <a:solidFill>
            <a:srgbClr val="1A2E44"/>
          </a:solidFill>
          <a:ln w="12700">
            <a:solidFill>
              <a:srgbClr val="3A7BD5"/>
            </a:solidFill>
            <a:prstDash val="solid"/>
          </a:ln>
        </p:spPr>
        <p:txBody>
          <a:bodyPr/>
          <a:lstStyle/>
          <a:p>
            <a:endParaRPr lang="en-GB"/>
          </a:p>
        </p:txBody>
      </p:sp>
      <p:sp>
        <p:nvSpPr>
          <p:cNvPr id="30" name="Shape 28"/>
          <p:cNvSpPr/>
          <p:nvPr/>
        </p:nvSpPr>
        <p:spPr>
          <a:xfrm>
            <a:off x="2221992" y="3236976"/>
            <a:ext cx="402336" cy="402336"/>
          </a:xfrm>
          <a:prstGeom prst="line">
            <a:avLst/>
          </a:prstGeom>
          <a:solidFill>
            <a:srgbClr val="2A4A6B"/>
          </a:solidFill>
          <a:ln w="6350">
            <a:solidFill>
              <a:srgbClr val="3A7BD5"/>
            </a:solidFill>
            <a:prstDash val="solid"/>
          </a:ln>
        </p:spPr>
        <p:txBody>
          <a:bodyPr/>
          <a:lstStyle/>
          <a:p>
            <a:endParaRPr lang="en-GB"/>
          </a:p>
        </p:txBody>
      </p:sp>
      <p:sp>
        <p:nvSpPr>
          <p:cNvPr id="31" name="Text 29"/>
          <p:cNvSpPr/>
          <p:nvPr/>
        </p:nvSpPr>
        <p:spPr>
          <a:xfrm>
            <a:off x="2221992" y="3236976"/>
            <a:ext cx="402336" cy="402336"/>
          </a:xfrm>
          <a:prstGeom prst="rect">
            <a:avLst/>
          </a:prstGeom>
          <a:noFill/>
          <a:ln/>
        </p:spPr>
        <p:txBody>
          <a:bodyPr wrap="square" rtlCol="0" anchor="ctr"/>
          <a:lstStyle/>
          <a:p>
            <a:pPr marL="0" indent="0" algn="ctr">
              <a:buNone/>
            </a:pPr>
            <a:r>
              <a:rPr lang="en-US" sz="1600" dirty="0">
                <a:solidFill>
                  <a:srgbClr val="000000"/>
                </a:solidFill>
              </a:rPr>
              <a:t>📷</a:t>
            </a:r>
            <a:endParaRPr lang="en-US" sz="1600" dirty="0"/>
          </a:p>
        </p:txBody>
      </p:sp>
      <p:sp>
        <p:nvSpPr>
          <p:cNvPr id="32" name="Text 30"/>
          <p:cNvSpPr/>
          <p:nvPr/>
        </p:nvSpPr>
        <p:spPr>
          <a:xfrm>
            <a:off x="365760" y="3694176"/>
            <a:ext cx="4114800" cy="274320"/>
          </a:xfrm>
          <a:prstGeom prst="rect">
            <a:avLst/>
          </a:prstGeom>
          <a:noFill/>
          <a:ln/>
        </p:spPr>
        <p:txBody>
          <a:bodyPr wrap="square" rtlCol="0" anchor="ctr"/>
          <a:lstStyle/>
          <a:p>
            <a:pPr marL="0" indent="0" algn="ctr">
              <a:buNone/>
            </a:pPr>
            <a:r>
              <a:rPr lang="en-US" sz="1000" b="1" dirty="0">
                <a:solidFill>
                  <a:srgbClr val="D6E4F7"/>
                </a:solidFill>
                <a:latin typeface="Calibri" pitchFamily="34" charset="0"/>
                <a:ea typeface="Calibri" pitchFamily="34" charset="-122"/>
                <a:cs typeface="Calibri" pitchFamily="34" charset="-120"/>
              </a:rPr>
              <a:t>[ SCREENSHOT ]</a:t>
            </a:r>
            <a:endParaRPr lang="en-US" sz="1000" dirty="0"/>
          </a:p>
        </p:txBody>
      </p:sp>
      <p:sp>
        <p:nvSpPr>
          <p:cNvPr id="33" name="Text 31"/>
          <p:cNvSpPr/>
          <p:nvPr/>
        </p:nvSpPr>
        <p:spPr>
          <a:xfrm>
            <a:off x="365760" y="3813048"/>
            <a:ext cx="4114800" cy="228600"/>
          </a:xfrm>
          <a:prstGeom prst="rect">
            <a:avLst/>
          </a:prstGeom>
          <a:noFill/>
          <a:ln/>
        </p:spPr>
        <p:txBody>
          <a:bodyPr wrap="square" rtlCol="0" anchor="ctr"/>
          <a:lstStyle/>
          <a:p>
            <a:pPr marL="0" indent="0" algn="ctr">
              <a:buNone/>
            </a:pPr>
            <a:r>
              <a:rPr lang="en-US" sz="850" dirty="0">
                <a:solidFill>
                  <a:srgbClr val="8C9CB0"/>
                </a:solidFill>
                <a:latin typeface="Calibri" pitchFamily="34" charset="0"/>
                <a:ea typeface="Calibri" pitchFamily="34" charset="-122"/>
                <a:cs typeface="Calibri" pitchFamily="34" charset="-120"/>
              </a:rPr>
              <a:t>GameMenu title screen — workflow starts here (replace with actual screenshot)</a:t>
            </a:r>
            <a:endParaRPr lang="en-US" sz="850" dirty="0"/>
          </a:p>
        </p:txBody>
      </p:sp>
      <p:sp>
        <p:nvSpPr>
          <p:cNvPr id="34" name="Shape 32"/>
          <p:cNvSpPr/>
          <p:nvPr/>
        </p:nvSpPr>
        <p:spPr>
          <a:xfrm>
            <a:off x="4663440" y="3044952"/>
            <a:ext cx="4114800" cy="384048"/>
          </a:xfrm>
          <a:prstGeom prst="rect">
            <a:avLst/>
          </a:prstGeom>
          <a:solidFill>
            <a:srgbClr val="0D1B2A"/>
          </a:solidFill>
          <a:ln w="6350">
            <a:solidFill>
              <a:srgbClr val="D0D8E4"/>
            </a:solidFill>
            <a:prstDash val="solid"/>
          </a:ln>
          <a:effectLst>
            <a:outerShdw blurRad="50800" dist="12700" dir="8100000" algn="bl" rotWithShape="0">
              <a:srgbClr val="000000">
                <a:alpha val="8000"/>
              </a:srgbClr>
            </a:outerShdw>
          </a:effectLst>
        </p:spPr>
        <p:txBody>
          <a:bodyPr/>
          <a:lstStyle/>
          <a:p>
            <a:endParaRPr lang="en-GB"/>
          </a:p>
        </p:txBody>
      </p:sp>
      <p:sp>
        <p:nvSpPr>
          <p:cNvPr id="35" name="Text 33"/>
          <p:cNvSpPr/>
          <p:nvPr/>
        </p:nvSpPr>
        <p:spPr>
          <a:xfrm>
            <a:off x="4800600" y="3072384"/>
            <a:ext cx="3840480" cy="320040"/>
          </a:xfrm>
          <a:prstGeom prst="rect">
            <a:avLst/>
          </a:prstGeom>
          <a:noFill/>
          <a:ln/>
        </p:spPr>
        <p:txBody>
          <a:bodyPr wrap="square" lIns="0" tIns="0" rIns="0" bIns="0" rtlCol="0" anchor="ctr"/>
          <a:lstStyle/>
          <a:p>
            <a:pPr marL="0" indent="0">
              <a:buNone/>
            </a:pPr>
            <a:r>
              <a:rPr lang="en-US" sz="1300" b="1" dirty="0">
                <a:solidFill>
                  <a:srgbClr val="FFFFFF"/>
                </a:solidFill>
                <a:latin typeface="Georgia" pitchFamily="34" charset="0"/>
                <a:ea typeface="Georgia" pitchFamily="34" charset="-122"/>
                <a:cs typeface="Georgia" pitchFamily="34" charset="-120"/>
              </a:rPr>
              <a:t>Debug Key-Binds (Testing Mode)</a:t>
            </a:r>
            <a:endParaRPr lang="en-US" sz="1300" dirty="0"/>
          </a:p>
        </p:txBody>
      </p:sp>
      <p:sp>
        <p:nvSpPr>
          <p:cNvPr id="36" name="Shape 34"/>
          <p:cNvSpPr/>
          <p:nvPr/>
        </p:nvSpPr>
        <p:spPr>
          <a:xfrm>
            <a:off x="4663440" y="3502152"/>
            <a:ext cx="960120" cy="1081568"/>
          </a:xfrm>
          <a:prstGeom prst="rect">
            <a:avLst/>
          </a:prstGeom>
          <a:solidFill>
            <a:srgbClr val="FFFFFF"/>
          </a:solidFill>
          <a:ln w="6350">
            <a:solidFill>
              <a:srgbClr val="D0D8E4"/>
            </a:solidFill>
            <a:prstDash val="solid"/>
          </a:ln>
          <a:effectLst>
            <a:outerShdw blurRad="50800" dist="12700" dir="8100000" algn="bl" rotWithShape="0">
              <a:srgbClr val="000000">
                <a:alpha val="8000"/>
              </a:srgbClr>
            </a:outerShdw>
          </a:effectLst>
        </p:spPr>
        <p:txBody>
          <a:bodyPr/>
          <a:lstStyle/>
          <a:p>
            <a:endParaRPr lang="en-GB"/>
          </a:p>
        </p:txBody>
      </p:sp>
      <p:sp>
        <p:nvSpPr>
          <p:cNvPr id="37" name="Shape 35"/>
          <p:cNvSpPr/>
          <p:nvPr/>
        </p:nvSpPr>
        <p:spPr>
          <a:xfrm>
            <a:off x="4663440" y="3502152"/>
            <a:ext cx="64008" cy="1081568"/>
          </a:xfrm>
          <a:prstGeom prst="rect">
            <a:avLst/>
          </a:prstGeom>
          <a:solidFill>
            <a:srgbClr val="2563A8"/>
          </a:solidFill>
          <a:ln w="12700">
            <a:solidFill>
              <a:srgbClr val="2563A8"/>
            </a:solidFill>
            <a:prstDash val="solid"/>
          </a:ln>
        </p:spPr>
        <p:txBody>
          <a:bodyPr/>
          <a:lstStyle/>
          <a:p>
            <a:endParaRPr lang="en-GB"/>
          </a:p>
        </p:txBody>
      </p:sp>
      <p:sp>
        <p:nvSpPr>
          <p:cNvPr id="38" name="Shape 36"/>
          <p:cNvSpPr/>
          <p:nvPr/>
        </p:nvSpPr>
        <p:spPr>
          <a:xfrm>
            <a:off x="4956048" y="3593592"/>
            <a:ext cx="438912" cy="438912"/>
          </a:xfrm>
          <a:prstGeom prst="rect">
            <a:avLst/>
          </a:prstGeom>
          <a:solidFill>
            <a:srgbClr val="1B3A5C"/>
          </a:solidFill>
          <a:ln w="12700">
            <a:solidFill>
              <a:srgbClr val="1B3A5C"/>
            </a:solidFill>
            <a:prstDash val="solid"/>
          </a:ln>
        </p:spPr>
        <p:txBody>
          <a:bodyPr/>
          <a:lstStyle/>
          <a:p>
            <a:endParaRPr lang="en-GB"/>
          </a:p>
        </p:txBody>
      </p:sp>
      <p:sp>
        <p:nvSpPr>
          <p:cNvPr id="39" name="Text 37"/>
          <p:cNvSpPr/>
          <p:nvPr/>
        </p:nvSpPr>
        <p:spPr>
          <a:xfrm>
            <a:off x="4956048" y="3593592"/>
            <a:ext cx="438912" cy="438912"/>
          </a:xfrm>
          <a:prstGeom prst="rect">
            <a:avLst/>
          </a:prstGeom>
          <a:noFill/>
          <a:ln/>
        </p:spPr>
        <p:txBody>
          <a:bodyPr wrap="square" lIns="0" tIns="0" rIns="0" bIns="0" rtlCol="0" anchor="ctr"/>
          <a:lstStyle/>
          <a:p>
            <a:pPr marL="0" indent="0" algn="ctr">
              <a:buNone/>
            </a:pPr>
            <a:r>
              <a:rPr lang="en-US" sz="1800" b="1" dirty="0">
                <a:solidFill>
                  <a:srgbClr val="FFFFFF"/>
                </a:solidFill>
                <a:latin typeface="Arial Black" pitchFamily="34" charset="0"/>
                <a:ea typeface="Arial Black" pitchFamily="34" charset="-122"/>
                <a:cs typeface="Arial Black" pitchFamily="34" charset="-120"/>
              </a:rPr>
              <a:t>P</a:t>
            </a:r>
            <a:endParaRPr lang="en-US" sz="1800" dirty="0"/>
          </a:p>
        </p:txBody>
      </p:sp>
      <p:sp>
        <p:nvSpPr>
          <p:cNvPr id="40" name="Text 38"/>
          <p:cNvSpPr/>
          <p:nvPr/>
        </p:nvSpPr>
        <p:spPr>
          <a:xfrm>
            <a:off x="4727448" y="4092133"/>
            <a:ext cx="896112" cy="438912"/>
          </a:xfrm>
          <a:prstGeom prst="rect">
            <a:avLst/>
          </a:prstGeom>
          <a:noFill/>
          <a:ln/>
        </p:spPr>
        <p:txBody>
          <a:bodyPr wrap="square" rtlCol="0" anchor="t"/>
          <a:lstStyle/>
          <a:p>
            <a:pPr marL="0" indent="0" algn="ctr">
              <a:buNone/>
            </a:pPr>
            <a:r>
              <a:rPr lang="en-US" sz="950" dirty="0">
                <a:solidFill>
                  <a:srgbClr val="1B3A5C"/>
                </a:solidFill>
                <a:latin typeface="Calibri" pitchFamily="34" charset="0"/>
                <a:ea typeface="Calibri" pitchFamily="34" charset="-122"/>
                <a:cs typeface="Calibri" pitchFamily="34" charset="-120"/>
              </a:rPr>
              <a:t>Skip to Level 9</a:t>
            </a:r>
            <a:endParaRPr lang="en-US" sz="950" dirty="0"/>
          </a:p>
        </p:txBody>
      </p:sp>
      <p:sp>
        <p:nvSpPr>
          <p:cNvPr id="41" name="Shape 39"/>
          <p:cNvSpPr/>
          <p:nvPr/>
        </p:nvSpPr>
        <p:spPr>
          <a:xfrm>
            <a:off x="5715000" y="3502152"/>
            <a:ext cx="960120" cy="1081568"/>
          </a:xfrm>
          <a:prstGeom prst="rect">
            <a:avLst/>
          </a:prstGeom>
          <a:solidFill>
            <a:srgbClr val="FFFFFF"/>
          </a:solidFill>
          <a:ln w="6350">
            <a:solidFill>
              <a:srgbClr val="D0D8E4"/>
            </a:solidFill>
            <a:prstDash val="solid"/>
          </a:ln>
          <a:effectLst>
            <a:outerShdw blurRad="50800" dist="12700" dir="8100000" algn="bl" rotWithShape="0">
              <a:srgbClr val="000000">
                <a:alpha val="8000"/>
              </a:srgbClr>
            </a:outerShdw>
          </a:effectLst>
        </p:spPr>
        <p:txBody>
          <a:bodyPr/>
          <a:lstStyle/>
          <a:p>
            <a:endParaRPr lang="en-GB"/>
          </a:p>
        </p:txBody>
      </p:sp>
      <p:sp>
        <p:nvSpPr>
          <p:cNvPr id="42" name="Shape 40"/>
          <p:cNvSpPr/>
          <p:nvPr/>
        </p:nvSpPr>
        <p:spPr>
          <a:xfrm>
            <a:off x="5715000" y="3502152"/>
            <a:ext cx="64008" cy="1081568"/>
          </a:xfrm>
          <a:prstGeom prst="rect">
            <a:avLst/>
          </a:prstGeom>
          <a:solidFill>
            <a:srgbClr val="2563A8"/>
          </a:solidFill>
          <a:ln w="12700">
            <a:solidFill>
              <a:srgbClr val="2563A8"/>
            </a:solidFill>
            <a:prstDash val="solid"/>
          </a:ln>
        </p:spPr>
        <p:txBody>
          <a:bodyPr/>
          <a:lstStyle/>
          <a:p>
            <a:endParaRPr lang="en-GB"/>
          </a:p>
        </p:txBody>
      </p:sp>
      <p:sp>
        <p:nvSpPr>
          <p:cNvPr id="43" name="Shape 41"/>
          <p:cNvSpPr/>
          <p:nvPr/>
        </p:nvSpPr>
        <p:spPr>
          <a:xfrm>
            <a:off x="6007608" y="3599259"/>
            <a:ext cx="438912" cy="438912"/>
          </a:xfrm>
          <a:prstGeom prst="rect">
            <a:avLst/>
          </a:prstGeom>
          <a:solidFill>
            <a:srgbClr val="1B3A5C"/>
          </a:solidFill>
          <a:ln w="12700">
            <a:solidFill>
              <a:srgbClr val="1B3A5C"/>
            </a:solidFill>
            <a:prstDash val="solid"/>
          </a:ln>
        </p:spPr>
        <p:txBody>
          <a:bodyPr/>
          <a:lstStyle/>
          <a:p>
            <a:endParaRPr lang="en-GB"/>
          </a:p>
        </p:txBody>
      </p:sp>
      <p:sp>
        <p:nvSpPr>
          <p:cNvPr id="44" name="Text 42"/>
          <p:cNvSpPr/>
          <p:nvPr/>
        </p:nvSpPr>
        <p:spPr>
          <a:xfrm>
            <a:off x="6007608" y="3599259"/>
            <a:ext cx="438912" cy="438912"/>
          </a:xfrm>
          <a:prstGeom prst="rect">
            <a:avLst/>
          </a:prstGeom>
          <a:noFill/>
          <a:ln/>
        </p:spPr>
        <p:txBody>
          <a:bodyPr wrap="square" lIns="0" tIns="0" rIns="0" bIns="0" rtlCol="0" anchor="ctr"/>
          <a:lstStyle/>
          <a:p>
            <a:pPr marL="0" indent="0" algn="ctr">
              <a:buNone/>
            </a:pPr>
            <a:r>
              <a:rPr lang="en-US" sz="1800" b="1" dirty="0">
                <a:solidFill>
                  <a:srgbClr val="FFFFFF"/>
                </a:solidFill>
                <a:latin typeface="Arial Black" pitchFamily="34" charset="0"/>
                <a:ea typeface="Arial Black" pitchFamily="34" charset="-122"/>
                <a:cs typeface="Arial Black" pitchFamily="34" charset="-120"/>
              </a:rPr>
              <a:t>G</a:t>
            </a:r>
            <a:endParaRPr lang="en-US" sz="1800" dirty="0"/>
          </a:p>
        </p:txBody>
      </p:sp>
      <p:sp>
        <p:nvSpPr>
          <p:cNvPr id="45" name="Text 43"/>
          <p:cNvSpPr/>
          <p:nvPr/>
        </p:nvSpPr>
        <p:spPr>
          <a:xfrm>
            <a:off x="5797296" y="4073974"/>
            <a:ext cx="868680" cy="438912"/>
          </a:xfrm>
          <a:prstGeom prst="rect">
            <a:avLst/>
          </a:prstGeom>
          <a:noFill/>
          <a:ln/>
        </p:spPr>
        <p:txBody>
          <a:bodyPr wrap="square" rtlCol="0" anchor="t"/>
          <a:lstStyle/>
          <a:p>
            <a:pPr marL="0" indent="0" algn="ctr">
              <a:buNone/>
            </a:pPr>
            <a:r>
              <a:rPr lang="en-US" sz="950" dirty="0">
                <a:solidFill>
                  <a:srgbClr val="1B3A5C"/>
                </a:solidFill>
                <a:latin typeface="Calibri" pitchFamily="34" charset="0"/>
                <a:ea typeface="Calibri" pitchFamily="34" charset="-122"/>
                <a:cs typeface="Calibri" pitchFamily="34" charset="-120"/>
              </a:rPr>
              <a:t>God Mode</a:t>
            </a:r>
            <a:endParaRPr lang="en-US" sz="950" dirty="0"/>
          </a:p>
        </p:txBody>
      </p:sp>
      <p:sp>
        <p:nvSpPr>
          <p:cNvPr id="46" name="Shape 44"/>
          <p:cNvSpPr/>
          <p:nvPr/>
        </p:nvSpPr>
        <p:spPr>
          <a:xfrm>
            <a:off x="6766560" y="3502152"/>
            <a:ext cx="960120" cy="1081568"/>
          </a:xfrm>
          <a:prstGeom prst="rect">
            <a:avLst/>
          </a:prstGeom>
          <a:solidFill>
            <a:srgbClr val="FFFFFF"/>
          </a:solidFill>
          <a:ln w="6350">
            <a:solidFill>
              <a:srgbClr val="D0D8E4"/>
            </a:solidFill>
            <a:prstDash val="solid"/>
          </a:ln>
          <a:effectLst>
            <a:outerShdw blurRad="50800" dist="12700" dir="8100000" algn="bl" rotWithShape="0">
              <a:srgbClr val="000000">
                <a:alpha val="8000"/>
              </a:srgbClr>
            </a:outerShdw>
          </a:effectLst>
        </p:spPr>
        <p:txBody>
          <a:bodyPr/>
          <a:lstStyle/>
          <a:p>
            <a:endParaRPr lang="en-GB"/>
          </a:p>
        </p:txBody>
      </p:sp>
      <p:sp>
        <p:nvSpPr>
          <p:cNvPr id="47" name="Shape 45"/>
          <p:cNvSpPr/>
          <p:nvPr/>
        </p:nvSpPr>
        <p:spPr>
          <a:xfrm>
            <a:off x="6766560" y="3502152"/>
            <a:ext cx="64008" cy="1081568"/>
          </a:xfrm>
          <a:prstGeom prst="rect">
            <a:avLst/>
          </a:prstGeom>
          <a:solidFill>
            <a:srgbClr val="2563A8"/>
          </a:solidFill>
          <a:ln w="12700">
            <a:solidFill>
              <a:srgbClr val="2563A8"/>
            </a:solidFill>
            <a:prstDash val="solid"/>
          </a:ln>
        </p:spPr>
        <p:txBody>
          <a:bodyPr/>
          <a:lstStyle/>
          <a:p>
            <a:endParaRPr lang="en-GB"/>
          </a:p>
        </p:txBody>
      </p:sp>
      <p:sp>
        <p:nvSpPr>
          <p:cNvPr id="48" name="Shape 46"/>
          <p:cNvSpPr/>
          <p:nvPr/>
        </p:nvSpPr>
        <p:spPr>
          <a:xfrm>
            <a:off x="7059168" y="3602736"/>
            <a:ext cx="438912" cy="438912"/>
          </a:xfrm>
          <a:prstGeom prst="rect">
            <a:avLst/>
          </a:prstGeom>
          <a:solidFill>
            <a:srgbClr val="1B3A5C"/>
          </a:solidFill>
          <a:ln w="12700">
            <a:solidFill>
              <a:srgbClr val="1B3A5C"/>
            </a:solidFill>
            <a:prstDash val="solid"/>
          </a:ln>
        </p:spPr>
        <p:txBody>
          <a:bodyPr/>
          <a:lstStyle/>
          <a:p>
            <a:endParaRPr lang="en-GB"/>
          </a:p>
        </p:txBody>
      </p:sp>
      <p:sp>
        <p:nvSpPr>
          <p:cNvPr id="49" name="Text 47"/>
          <p:cNvSpPr/>
          <p:nvPr/>
        </p:nvSpPr>
        <p:spPr>
          <a:xfrm>
            <a:off x="7059168" y="3602736"/>
            <a:ext cx="438912" cy="438912"/>
          </a:xfrm>
          <a:prstGeom prst="rect">
            <a:avLst/>
          </a:prstGeom>
          <a:noFill/>
          <a:ln/>
        </p:spPr>
        <p:txBody>
          <a:bodyPr wrap="square" lIns="0" tIns="0" rIns="0" bIns="0" rtlCol="0" anchor="ctr"/>
          <a:lstStyle/>
          <a:p>
            <a:pPr marL="0" indent="0" algn="ctr">
              <a:buNone/>
            </a:pPr>
            <a:r>
              <a:rPr lang="en-US" sz="1800" b="1" dirty="0">
                <a:solidFill>
                  <a:srgbClr val="FFFFFF"/>
                </a:solidFill>
                <a:latin typeface="Arial Black" pitchFamily="34" charset="0"/>
                <a:ea typeface="Arial Black" pitchFamily="34" charset="-122"/>
                <a:cs typeface="Arial Black" pitchFamily="34" charset="-120"/>
              </a:rPr>
              <a:t>L</a:t>
            </a:r>
            <a:endParaRPr lang="en-US" sz="1800" dirty="0"/>
          </a:p>
        </p:txBody>
      </p:sp>
      <p:sp>
        <p:nvSpPr>
          <p:cNvPr id="50" name="Text 48"/>
          <p:cNvSpPr/>
          <p:nvPr/>
        </p:nvSpPr>
        <p:spPr>
          <a:xfrm>
            <a:off x="6830568" y="4087368"/>
            <a:ext cx="896112" cy="438912"/>
          </a:xfrm>
          <a:prstGeom prst="rect">
            <a:avLst/>
          </a:prstGeom>
          <a:noFill/>
          <a:ln/>
        </p:spPr>
        <p:txBody>
          <a:bodyPr wrap="square" rtlCol="0" anchor="t"/>
          <a:lstStyle/>
          <a:p>
            <a:pPr marL="0" indent="0" algn="ctr">
              <a:buNone/>
            </a:pPr>
            <a:r>
              <a:rPr lang="en-US" sz="950" dirty="0">
                <a:solidFill>
                  <a:srgbClr val="1B3A5C"/>
                </a:solidFill>
                <a:latin typeface="Calibri" pitchFamily="34" charset="0"/>
                <a:ea typeface="Calibri" pitchFamily="34" charset="-122"/>
                <a:cs typeface="Calibri" pitchFamily="34" charset="-120"/>
              </a:rPr>
              <a:t>Level 10 Chase</a:t>
            </a:r>
            <a:endParaRPr lang="en-US" sz="950" dirty="0"/>
          </a:p>
        </p:txBody>
      </p:sp>
      <p:sp>
        <p:nvSpPr>
          <p:cNvPr id="51" name="Shape 49"/>
          <p:cNvSpPr/>
          <p:nvPr/>
        </p:nvSpPr>
        <p:spPr>
          <a:xfrm>
            <a:off x="7818120" y="3502152"/>
            <a:ext cx="960120" cy="1081568"/>
          </a:xfrm>
          <a:prstGeom prst="rect">
            <a:avLst/>
          </a:prstGeom>
          <a:solidFill>
            <a:srgbClr val="FFFFFF"/>
          </a:solidFill>
          <a:ln w="6350">
            <a:solidFill>
              <a:srgbClr val="D0D8E4"/>
            </a:solidFill>
            <a:prstDash val="solid"/>
          </a:ln>
          <a:effectLst>
            <a:outerShdw blurRad="50800" dist="12700" dir="8100000" algn="bl" rotWithShape="0">
              <a:srgbClr val="000000">
                <a:alpha val="8000"/>
              </a:srgbClr>
            </a:outerShdw>
          </a:effectLst>
        </p:spPr>
        <p:txBody>
          <a:bodyPr/>
          <a:lstStyle/>
          <a:p>
            <a:endParaRPr lang="en-GB"/>
          </a:p>
        </p:txBody>
      </p:sp>
      <p:sp>
        <p:nvSpPr>
          <p:cNvPr id="52" name="Shape 50"/>
          <p:cNvSpPr/>
          <p:nvPr/>
        </p:nvSpPr>
        <p:spPr>
          <a:xfrm>
            <a:off x="7818120" y="3502152"/>
            <a:ext cx="64008" cy="1081568"/>
          </a:xfrm>
          <a:prstGeom prst="rect">
            <a:avLst/>
          </a:prstGeom>
          <a:solidFill>
            <a:srgbClr val="2563A8"/>
          </a:solidFill>
          <a:ln w="12700">
            <a:solidFill>
              <a:srgbClr val="2563A8"/>
            </a:solidFill>
            <a:prstDash val="solid"/>
          </a:ln>
        </p:spPr>
        <p:txBody>
          <a:bodyPr/>
          <a:lstStyle/>
          <a:p>
            <a:endParaRPr lang="en-GB"/>
          </a:p>
        </p:txBody>
      </p:sp>
      <p:sp>
        <p:nvSpPr>
          <p:cNvPr id="53" name="Shape 51"/>
          <p:cNvSpPr/>
          <p:nvPr/>
        </p:nvSpPr>
        <p:spPr>
          <a:xfrm>
            <a:off x="8110728" y="3605441"/>
            <a:ext cx="438912" cy="438912"/>
          </a:xfrm>
          <a:prstGeom prst="rect">
            <a:avLst/>
          </a:prstGeom>
          <a:solidFill>
            <a:srgbClr val="1B3A5C"/>
          </a:solidFill>
          <a:ln w="12700">
            <a:solidFill>
              <a:srgbClr val="1B3A5C"/>
            </a:solidFill>
            <a:prstDash val="solid"/>
          </a:ln>
        </p:spPr>
        <p:txBody>
          <a:bodyPr/>
          <a:lstStyle/>
          <a:p>
            <a:endParaRPr lang="en-GB"/>
          </a:p>
        </p:txBody>
      </p:sp>
      <p:sp>
        <p:nvSpPr>
          <p:cNvPr id="54" name="Text 52"/>
          <p:cNvSpPr/>
          <p:nvPr/>
        </p:nvSpPr>
        <p:spPr>
          <a:xfrm>
            <a:off x="8110728" y="3605441"/>
            <a:ext cx="438912" cy="438912"/>
          </a:xfrm>
          <a:prstGeom prst="rect">
            <a:avLst/>
          </a:prstGeom>
          <a:noFill/>
          <a:ln/>
        </p:spPr>
        <p:txBody>
          <a:bodyPr wrap="square" lIns="0" tIns="0" rIns="0" bIns="0" rtlCol="0" anchor="ctr"/>
          <a:lstStyle/>
          <a:p>
            <a:pPr marL="0" indent="0" algn="ctr">
              <a:buNone/>
            </a:pPr>
            <a:r>
              <a:rPr lang="en-US" sz="1800" b="1" dirty="0">
                <a:solidFill>
                  <a:srgbClr val="FFFFFF"/>
                </a:solidFill>
                <a:latin typeface="Arial Black" pitchFamily="34" charset="0"/>
                <a:ea typeface="Arial Black" pitchFamily="34" charset="-122"/>
                <a:cs typeface="Arial Black" pitchFamily="34" charset="-120"/>
              </a:rPr>
              <a:t>O</a:t>
            </a:r>
            <a:endParaRPr lang="en-US" sz="1800" dirty="0"/>
          </a:p>
        </p:txBody>
      </p:sp>
      <p:sp>
        <p:nvSpPr>
          <p:cNvPr id="55" name="Text 53"/>
          <p:cNvSpPr/>
          <p:nvPr/>
        </p:nvSpPr>
        <p:spPr>
          <a:xfrm>
            <a:off x="7882128" y="4087368"/>
            <a:ext cx="906029" cy="438912"/>
          </a:xfrm>
          <a:prstGeom prst="rect">
            <a:avLst/>
          </a:prstGeom>
          <a:noFill/>
          <a:ln/>
        </p:spPr>
        <p:txBody>
          <a:bodyPr wrap="square" rtlCol="0" anchor="t"/>
          <a:lstStyle/>
          <a:p>
            <a:pPr marL="0" indent="0" algn="ctr">
              <a:buNone/>
            </a:pPr>
            <a:r>
              <a:rPr lang="en-US" sz="950" dirty="0">
                <a:solidFill>
                  <a:srgbClr val="1B3A5C"/>
                </a:solidFill>
                <a:latin typeface="Calibri" pitchFamily="34" charset="0"/>
                <a:ea typeface="Calibri" pitchFamily="34" charset="-122"/>
                <a:cs typeface="Calibri" pitchFamily="34" charset="-120"/>
              </a:rPr>
              <a:t>Skip to Level 5</a:t>
            </a:r>
            <a:endParaRPr lang="en-US" sz="9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1">
    <p:bg>
      <p:bgPr>
        <a:solidFill>
          <a:srgbClr val="E8EDF2"/>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1B3A5C"/>
          </a:solidFill>
          <a:ln w="12700">
            <a:solidFill>
              <a:srgbClr val="1B3A5C"/>
            </a:solidFill>
            <a:prstDash val="solid"/>
          </a:ln>
        </p:spPr>
        <p:txBody>
          <a:bodyPr/>
          <a:lstStyle/>
          <a:p>
            <a:endParaRPr lang="en-GB"/>
          </a:p>
        </p:txBody>
      </p:sp>
      <p:sp>
        <p:nvSpPr>
          <p:cNvPr id="3" name="Text 1"/>
          <p:cNvSpPr/>
          <p:nvPr/>
        </p:nvSpPr>
        <p:spPr>
          <a:xfrm>
            <a:off x="365760" y="182880"/>
            <a:ext cx="8503920" cy="594360"/>
          </a:xfrm>
          <a:prstGeom prst="rect">
            <a:avLst/>
          </a:prstGeom>
          <a:noFill/>
          <a:ln/>
        </p:spPr>
        <p:txBody>
          <a:bodyPr wrap="square" lIns="0" tIns="0" rIns="0" bIns="0" rtlCol="0" anchor="ctr"/>
          <a:lstStyle/>
          <a:p>
            <a:pPr marL="0" indent="0" algn="l">
              <a:buNone/>
            </a:pPr>
            <a:r>
              <a:rPr lang="en-US" sz="2400" b="1" dirty="0">
                <a:solidFill>
                  <a:srgbClr val="1B3A5C"/>
                </a:solidFill>
                <a:latin typeface="Georgia" pitchFamily="34" charset="0"/>
                <a:ea typeface="Georgia" pitchFamily="34" charset="-122"/>
                <a:cs typeface="Georgia" pitchFamily="34" charset="-120"/>
              </a:rPr>
              <a:t>Strengths  &amp;  Possible Improvements</a:t>
            </a:r>
            <a:endParaRPr lang="en-US" sz="2400" dirty="0"/>
          </a:p>
        </p:txBody>
      </p:sp>
      <p:sp>
        <p:nvSpPr>
          <p:cNvPr id="4" name="Shape 2"/>
          <p:cNvSpPr/>
          <p:nvPr/>
        </p:nvSpPr>
        <p:spPr>
          <a:xfrm>
            <a:off x="365760" y="804672"/>
            <a:ext cx="8412480" cy="36576"/>
          </a:xfrm>
          <a:prstGeom prst="rect">
            <a:avLst/>
          </a:prstGeom>
          <a:solidFill>
            <a:srgbClr val="C0392B"/>
          </a:solidFill>
          <a:ln w="12700">
            <a:solidFill>
              <a:srgbClr val="C0392B"/>
            </a:solidFill>
            <a:prstDash val="solid"/>
          </a:ln>
        </p:spPr>
        <p:txBody>
          <a:bodyPr/>
          <a:lstStyle/>
          <a:p>
            <a:endParaRPr lang="en-GB"/>
          </a:p>
        </p:txBody>
      </p:sp>
      <p:sp>
        <p:nvSpPr>
          <p:cNvPr id="5" name="Shape 3"/>
          <p:cNvSpPr/>
          <p:nvPr/>
        </p:nvSpPr>
        <p:spPr>
          <a:xfrm>
            <a:off x="365760" y="960120"/>
            <a:ext cx="4160520" cy="3886200"/>
          </a:xfrm>
          <a:prstGeom prst="rect">
            <a:avLst/>
          </a:prstGeom>
          <a:solidFill>
            <a:srgbClr val="FFFFFF"/>
          </a:solidFill>
          <a:ln w="6350">
            <a:solidFill>
              <a:srgbClr val="D0D8E4"/>
            </a:solidFill>
            <a:prstDash val="solid"/>
          </a:ln>
          <a:effectLst>
            <a:outerShdw blurRad="50800" dist="12700" dir="8100000" algn="bl" rotWithShape="0">
              <a:srgbClr val="000000">
                <a:alpha val="8000"/>
              </a:srgbClr>
            </a:outerShdw>
          </a:effectLst>
        </p:spPr>
        <p:txBody>
          <a:bodyPr/>
          <a:lstStyle/>
          <a:p>
            <a:endParaRPr lang="en-GB"/>
          </a:p>
        </p:txBody>
      </p:sp>
      <p:sp>
        <p:nvSpPr>
          <p:cNvPr id="6" name="Shape 4"/>
          <p:cNvSpPr/>
          <p:nvPr/>
        </p:nvSpPr>
        <p:spPr>
          <a:xfrm>
            <a:off x="365760" y="960120"/>
            <a:ext cx="64008" cy="3886200"/>
          </a:xfrm>
          <a:prstGeom prst="rect">
            <a:avLst/>
          </a:prstGeom>
          <a:solidFill>
            <a:srgbClr val="1B3A5C"/>
          </a:solidFill>
          <a:ln w="12700">
            <a:solidFill>
              <a:srgbClr val="1B3A5C"/>
            </a:solidFill>
            <a:prstDash val="solid"/>
          </a:ln>
        </p:spPr>
        <p:txBody>
          <a:bodyPr/>
          <a:lstStyle/>
          <a:p>
            <a:endParaRPr lang="en-GB"/>
          </a:p>
        </p:txBody>
      </p:sp>
      <p:sp>
        <p:nvSpPr>
          <p:cNvPr id="7" name="Text 5"/>
          <p:cNvSpPr/>
          <p:nvPr/>
        </p:nvSpPr>
        <p:spPr>
          <a:xfrm>
            <a:off x="594360" y="1005840"/>
            <a:ext cx="3749040" cy="347472"/>
          </a:xfrm>
          <a:prstGeom prst="rect">
            <a:avLst/>
          </a:prstGeom>
          <a:noFill/>
          <a:ln/>
        </p:spPr>
        <p:txBody>
          <a:bodyPr wrap="square" lIns="0" tIns="0" rIns="0" bIns="0" rtlCol="0" anchor="ctr"/>
          <a:lstStyle/>
          <a:p>
            <a:pPr marL="0" indent="0">
              <a:buNone/>
            </a:pPr>
            <a:r>
              <a:rPr lang="en-US" sz="1600" b="1" dirty="0">
                <a:solidFill>
                  <a:srgbClr val="1B3A5C"/>
                </a:solidFill>
                <a:latin typeface="Georgia" pitchFamily="34" charset="0"/>
                <a:ea typeface="Georgia" pitchFamily="34" charset="-122"/>
                <a:cs typeface="Georgia" pitchFamily="34" charset="-120"/>
              </a:rPr>
              <a:t>Strengths</a:t>
            </a:r>
            <a:endParaRPr lang="en-US" sz="1600" dirty="0"/>
          </a:p>
        </p:txBody>
      </p:sp>
      <p:sp>
        <p:nvSpPr>
          <p:cNvPr id="8" name="Text 6"/>
          <p:cNvSpPr/>
          <p:nvPr/>
        </p:nvSpPr>
        <p:spPr>
          <a:xfrm>
            <a:off x="594360" y="1417320"/>
            <a:ext cx="3749040" cy="3291840"/>
          </a:xfrm>
          <a:prstGeom prst="rect">
            <a:avLst/>
          </a:prstGeom>
          <a:noFill/>
          <a:ln/>
        </p:spPr>
        <p:txBody>
          <a:bodyPr wrap="square" rtlCol="0" anchor="t"/>
          <a:lstStyle/>
          <a:p>
            <a:pPr marL="342900" indent="-342900">
              <a:spcAft>
                <a:spcPts val="500"/>
              </a:spcAft>
              <a:buSzPct val="100000"/>
              <a:buChar char="•"/>
            </a:pPr>
            <a:r>
              <a:rPr lang="en-US" sz="1250" b="1" dirty="0">
                <a:solidFill>
                  <a:srgbClr val="1B3A5C"/>
                </a:solidFill>
                <a:latin typeface="Calibri" pitchFamily="34" charset="0"/>
                <a:ea typeface="Calibri" pitchFamily="34" charset="-122"/>
                <a:cs typeface="Calibri" pitchFamily="34" charset="-120"/>
              </a:rPr>
              <a:t>Modular SRP architecture</a:t>
            </a:r>
            <a:endParaRPr lang="en-US" sz="1250" dirty="0"/>
          </a:p>
          <a:p>
            <a:pPr marL="342900" indent="-342900">
              <a:spcAft>
                <a:spcPts val="500"/>
              </a:spcAft>
              <a:buSzPct val="100000"/>
              <a:buChar char="•"/>
            </a:pPr>
            <a:r>
              <a:rPr lang="en-US" sz="1250" b="1" dirty="0">
                <a:solidFill>
                  <a:srgbClr val="1B3A5C"/>
                </a:solidFill>
                <a:latin typeface="Calibri" pitchFamily="34" charset="0"/>
                <a:ea typeface="Calibri" pitchFamily="34" charset="-122"/>
                <a:cs typeface="Calibri" pitchFamily="34" charset="-120"/>
              </a:rPr>
              <a:t>Hand-implemented A* (Enemy &amp; ArcherBoss)</a:t>
            </a:r>
            <a:endParaRPr lang="en-US" sz="1250" dirty="0"/>
          </a:p>
          <a:p>
            <a:pPr marL="342900" indent="-342900">
              <a:spcAft>
                <a:spcPts val="500"/>
              </a:spcAft>
              <a:buSzPct val="100000"/>
              <a:buChar char="•"/>
            </a:pPr>
            <a:r>
              <a:rPr lang="en-US" sz="1250" b="1" dirty="0">
                <a:solidFill>
                  <a:srgbClr val="1B3A5C"/>
                </a:solidFill>
                <a:latin typeface="Calibri" pitchFamily="34" charset="0"/>
                <a:ea typeface="Calibri" pitchFamily="34" charset="-122"/>
                <a:cs typeface="Calibri" pitchFamily="34" charset="-120"/>
              </a:rPr>
              <a:t>Dual-framework UI (Swing + JavaFX)</a:t>
            </a:r>
            <a:endParaRPr lang="en-US" sz="1250" dirty="0"/>
          </a:p>
          <a:p>
            <a:pPr marL="342900" indent="-342900">
              <a:spcAft>
                <a:spcPts val="500"/>
              </a:spcAft>
              <a:buSzPct val="100000"/>
              <a:buChar char="•"/>
            </a:pPr>
            <a:r>
              <a:rPr lang="en-US" sz="1250" b="1" dirty="0">
                <a:solidFill>
                  <a:srgbClr val="1B3A5C"/>
                </a:solidFill>
                <a:latin typeface="Calibri" pitchFamily="34" charset="0"/>
                <a:ea typeface="Calibri" pitchFamily="34" charset="-122"/>
                <a:cs typeface="Calibri" pitchFamily="34" charset="-120"/>
              </a:rPr>
              <a:t>3 distinct attack phases on ArcherBoss</a:t>
            </a:r>
            <a:endParaRPr lang="en-US" sz="1250" dirty="0"/>
          </a:p>
          <a:p>
            <a:pPr marL="342900" indent="-342900">
              <a:spcAft>
                <a:spcPts val="500"/>
              </a:spcAft>
              <a:buSzPct val="100000"/>
              <a:buChar char="•"/>
            </a:pPr>
            <a:r>
              <a:rPr lang="en-US" sz="1250" b="1" dirty="0">
                <a:solidFill>
                  <a:srgbClr val="1B3A5C"/>
                </a:solidFill>
                <a:latin typeface="Calibri" pitchFamily="34" charset="0"/>
                <a:ea typeface="Calibri" pitchFamily="34" charset="-122"/>
                <a:cs typeface="Calibri" pitchFamily="34" charset="-120"/>
              </a:rPr>
              <a:t>Graceful asset failure tolerance</a:t>
            </a:r>
            <a:endParaRPr lang="en-US" sz="1250" dirty="0"/>
          </a:p>
          <a:p>
            <a:pPr marL="342900" indent="-342900">
              <a:spcAft>
                <a:spcPts val="500"/>
              </a:spcAft>
              <a:buSzPct val="100000"/>
              <a:buChar char="•"/>
            </a:pPr>
            <a:r>
              <a:rPr lang="en-US" sz="1250" b="1" dirty="0">
                <a:solidFill>
                  <a:srgbClr val="1B3A5C"/>
                </a:solidFill>
                <a:latin typeface="Calibri" pitchFamily="34" charset="0"/>
                <a:ea typeface="Calibri" pitchFamily="34" charset="-122"/>
                <a:cs typeface="Calibri" pitchFamily="34" charset="-120"/>
              </a:rPr>
              <a:t>Backward-compatible CSV parsing</a:t>
            </a:r>
            <a:endParaRPr lang="en-US" sz="1250" dirty="0"/>
          </a:p>
          <a:p>
            <a:pPr marL="342900" indent="-342900">
              <a:spcAft>
                <a:spcPts val="500"/>
              </a:spcAft>
              <a:buSzPct val="100000"/>
              <a:buChar char="•"/>
            </a:pPr>
            <a:r>
              <a:rPr lang="en-US" sz="1250" b="1" dirty="0">
                <a:solidFill>
                  <a:srgbClr val="1B3A5C"/>
                </a:solidFill>
                <a:latin typeface="Calibri" pitchFamily="34" charset="0"/>
                <a:ea typeface="Calibri" pitchFamily="34" charset="-122"/>
                <a:cs typeface="Calibri" pitchFamily="34" charset="-120"/>
              </a:rPr>
              <a:t>Procedural level variety (3 map types)</a:t>
            </a:r>
            <a:endParaRPr lang="en-US" sz="1250" dirty="0"/>
          </a:p>
        </p:txBody>
      </p:sp>
      <p:sp>
        <p:nvSpPr>
          <p:cNvPr id="9" name="Shape 7"/>
          <p:cNvSpPr/>
          <p:nvPr/>
        </p:nvSpPr>
        <p:spPr>
          <a:xfrm>
            <a:off x="4754880" y="960120"/>
            <a:ext cx="4160520" cy="3886200"/>
          </a:xfrm>
          <a:prstGeom prst="rect">
            <a:avLst/>
          </a:prstGeom>
          <a:solidFill>
            <a:srgbClr val="FFFFFF"/>
          </a:solidFill>
          <a:ln w="6350">
            <a:solidFill>
              <a:srgbClr val="D0D8E4"/>
            </a:solidFill>
            <a:prstDash val="solid"/>
          </a:ln>
          <a:effectLst>
            <a:outerShdw blurRad="50800" dist="12700" dir="8100000" algn="bl" rotWithShape="0">
              <a:srgbClr val="000000">
                <a:alpha val="8000"/>
              </a:srgbClr>
            </a:outerShdw>
          </a:effectLst>
        </p:spPr>
        <p:txBody>
          <a:bodyPr/>
          <a:lstStyle/>
          <a:p>
            <a:endParaRPr lang="en-GB"/>
          </a:p>
        </p:txBody>
      </p:sp>
      <p:sp>
        <p:nvSpPr>
          <p:cNvPr id="10" name="Shape 8"/>
          <p:cNvSpPr/>
          <p:nvPr/>
        </p:nvSpPr>
        <p:spPr>
          <a:xfrm>
            <a:off x="4754880" y="960120"/>
            <a:ext cx="64008" cy="3886200"/>
          </a:xfrm>
          <a:prstGeom prst="rect">
            <a:avLst/>
          </a:prstGeom>
          <a:solidFill>
            <a:srgbClr val="C0392B"/>
          </a:solidFill>
          <a:ln w="12700">
            <a:solidFill>
              <a:srgbClr val="C0392B"/>
            </a:solidFill>
            <a:prstDash val="solid"/>
          </a:ln>
        </p:spPr>
        <p:txBody>
          <a:bodyPr/>
          <a:lstStyle/>
          <a:p>
            <a:endParaRPr lang="en-GB"/>
          </a:p>
        </p:txBody>
      </p:sp>
      <p:sp>
        <p:nvSpPr>
          <p:cNvPr id="11" name="Text 9"/>
          <p:cNvSpPr/>
          <p:nvPr/>
        </p:nvSpPr>
        <p:spPr>
          <a:xfrm>
            <a:off x="4983480" y="1005840"/>
            <a:ext cx="3749040" cy="347472"/>
          </a:xfrm>
          <a:prstGeom prst="rect">
            <a:avLst/>
          </a:prstGeom>
          <a:noFill/>
          <a:ln/>
        </p:spPr>
        <p:txBody>
          <a:bodyPr wrap="square" lIns="0" tIns="0" rIns="0" bIns="0" rtlCol="0" anchor="ctr"/>
          <a:lstStyle/>
          <a:p>
            <a:pPr marL="0" indent="0">
              <a:buNone/>
            </a:pPr>
            <a:r>
              <a:rPr lang="en-US" sz="1600" b="1" dirty="0">
                <a:solidFill>
                  <a:srgbClr val="1B3A5C"/>
                </a:solidFill>
                <a:latin typeface="Georgia" pitchFamily="34" charset="0"/>
                <a:ea typeface="Georgia" pitchFamily="34" charset="-122"/>
                <a:cs typeface="Georgia" pitchFamily="34" charset="-120"/>
              </a:rPr>
              <a:t>Possible Improvements</a:t>
            </a:r>
            <a:endParaRPr lang="en-US" sz="1600" dirty="0"/>
          </a:p>
        </p:txBody>
      </p:sp>
      <p:sp>
        <p:nvSpPr>
          <p:cNvPr id="12" name="Text 10"/>
          <p:cNvSpPr/>
          <p:nvPr/>
        </p:nvSpPr>
        <p:spPr>
          <a:xfrm>
            <a:off x="4983480" y="1417320"/>
            <a:ext cx="3749040" cy="3291840"/>
          </a:xfrm>
          <a:prstGeom prst="rect">
            <a:avLst/>
          </a:prstGeom>
          <a:noFill/>
          <a:ln/>
        </p:spPr>
        <p:txBody>
          <a:bodyPr wrap="square" rtlCol="0" anchor="t"/>
          <a:lstStyle/>
          <a:p>
            <a:pPr marL="342900" indent="-342900">
              <a:spcAft>
                <a:spcPts val="500"/>
              </a:spcAft>
              <a:buSzPct val="100000"/>
              <a:buChar char="•"/>
            </a:pPr>
            <a:r>
              <a:rPr lang="en-US" sz="1250" b="1" dirty="0">
                <a:solidFill>
                  <a:srgbClr val="C0392B"/>
                </a:solidFill>
                <a:latin typeface="Calibri" pitchFamily="34" charset="0"/>
                <a:ea typeface="Calibri" pitchFamily="34" charset="-122"/>
                <a:cs typeface="Calibri" pitchFamily="34" charset="-120"/>
              </a:rPr>
              <a:t>Database Integration (SQLite/H2)</a:t>
            </a:r>
            <a:endParaRPr lang="en-US" sz="1250" dirty="0"/>
          </a:p>
          <a:p>
            <a:pPr marL="342900" indent="-342900">
              <a:spcAft>
                <a:spcPts val="500"/>
              </a:spcAft>
              <a:buSzPct val="100000"/>
              <a:buChar char="•"/>
            </a:pPr>
            <a:r>
              <a:rPr lang="en-US" sz="1250" b="1" dirty="0">
                <a:solidFill>
                  <a:srgbClr val="C0392B"/>
                </a:solidFill>
                <a:latin typeface="Calibri" pitchFamily="34" charset="0"/>
                <a:ea typeface="Calibri" pitchFamily="34" charset="-122"/>
                <a:cs typeface="Calibri" pitchFamily="34" charset="-120"/>
              </a:rPr>
              <a:t>Encrypted Credentials (bcrypt)</a:t>
            </a:r>
            <a:endParaRPr lang="en-US" sz="1250" dirty="0"/>
          </a:p>
          <a:p>
            <a:pPr marL="342900" indent="-342900">
              <a:spcAft>
                <a:spcPts val="500"/>
              </a:spcAft>
              <a:buSzPct val="100000"/>
              <a:buChar char="•"/>
            </a:pPr>
            <a:r>
              <a:rPr lang="en-US" sz="1250" b="1" dirty="0">
                <a:solidFill>
                  <a:srgbClr val="C0392B"/>
                </a:solidFill>
                <a:latin typeface="Calibri" pitchFamily="34" charset="0"/>
                <a:ea typeface="Calibri" pitchFamily="34" charset="-122"/>
                <a:cs typeface="Calibri" pitchFamily="34" charset="-120"/>
              </a:rPr>
              <a:t>Central AssetManager class</a:t>
            </a:r>
            <a:endParaRPr lang="en-US" sz="1250" dirty="0"/>
          </a:p>
          <a:p>
            <a:pPr marL="342900" indent="-342900">
              <a:spcAft>
                <a:spcPts val="500"/>
              </a:spcAft>
              <a:buSzPct val="100000"/>
              <a:buChar char="•"/>
            </a:pPr>
            <a:r>
              <a:rPr lang="en-US" sz="1250" b="1" dirty="0">
                <a:solidFill>
                  <a:srgbClr val="C0392B"/>
                </a:solidFill>
                <a:latin typeface="Calibri" pitchFamily="34" charset="0"/>
                <a:ea typeface="Calibri" pitchFamily="34" charset="-122"/>
                <a:cs typeface="Calibri" pitchFamily="34" charset="-120"/>
              </a:rPr>
              <a:t>Configurable Key Bindings file</a:t>
            </a:r>
            <a:endParaRPr lang="en-US" sz="1250" dirty="0"/>
          </a:p>
          <a:p>
            <a:pPr marL="342900" indent="-342900">
              <a:spcAft>
                <a:spcPts val="500"/>
              </a:spcAft>
              <a:buSzPct val="100000"/>
              <a:buChar char="•"/>
            </a:pPr>
            <a:r>
              <a:rPr lang="en-US" sz="1250" b="1" dirty="0">
                <a:solidFill>
                  <a:srgbClr val="C0392B"/>
                </a:solidFill>
                <a:latin typeface="Calibri" pitchFamily="34" charset="0"/>
                <a:ea typeface="Calibri" pitchFamily="34" charset="-122"/>
                <a:cs typeface="Calibri" pitchFamily="34" charset="-120"/>
              </a:rPr>
              <a:t>Networked REST leaderboard</a:t>
            </a:r>
            <a:endParaRPr lang="en-US" sz="1250" dirty="0"/>
          </a:p>
          <a:p>
            <a:pPr marL="342900" indent="-342900">
              <a:spcAft>
                <a:spcPts val="500"/>
              </a:spcAft>
              <a:buSzPct val="100000"/>
              <a:buChar char="•"/>
            </a:pPr>
            <a:r>
              <a:rPr lang="en-US" sz="1250" b="1" dirty="0">
                <a:solidFill>
                  <a:srgbClr val="C0392B"/>
                </a:solidFill>
                <a:latin typeface="Calibri" pitchFamily="34" charset="0"/>
                <a:ea typeface="Calibri" pitchFamily="34" charset="-122"/>
                <a:cs typeface="Calibri" pitchFamily="34" charset="-120"/>
              </a:rPr>
              <a:t>JUnit test suite for core logic</a:t>
            </a:r>
            <a:endParaRPr lang="en-US" sz="1250" dirty="0"/>
          </a:p>
          <a:p>
            <a:pPr marL="342900" indent="-342900">
              <a:spcAft>
                <a:spcPts val="500"/>
              </a:spcAft>
              <a:buSzPct val="100000"/>
              <a:buChar char="•"/>
            </a:pPr>
            <a:r>
              <a:rPr lang="en-US" sz="1250" b="1" dirty="0">
                <a:solidFill>
                  <a:srgbClr val="C0392B"/>
                </a:solidFill>
                <a:latin typeface="Calibri" pitchFamily="34" charset="0"/>
                <a:ea typeface="Calibri" pitchFamily="34" charset="-122"/>
                <a:cs typeface="Calibri" pitchFamily="34" charset="-120"/>
              </a:rPr>
              <a:t>Soundtracks &amp; SFX per enemy/boss</a:t>
            </a:r>
            <a:endParaRPr lang="en-US" sz="12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2">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502920" cy="5143500"/>
          </a:xfrm>
          <a:prstGeom prst="rect">
            <a:avLst/>
          </a:prstGeom>
          <a:solidFill>
            <a:srgbClr val="C0392B"/>
          </a:solidFill>
          <a:ln w="12700">
            <a:solidFill>
              <a:srgbClr val="C0392B"/>
            </a:solidFill>
            <a:prstDash val="solid"/>
          </a:ln>
        </p:spPr>
        <p:txBody>
          <a:bodyPr/>
          <a:lstStyle/>
          <a:p>
            <a:endParaRPr lang="en-GB"/>
          </a:p>
        </p:txBody>
      </p:sp>
      <p:sp>
        <p:nvSpPr>
          <p:cNvPr id="3" name="Shape 1"/>
          <p:cNvSpPr/>
          <p:nvPr/>
        </p:nvSpPr>
        <p:spPr>
          <a:xfrm>
            <a:off x="502920" y="0"/>
            <a:ext cx="109728" cy="5143500"/>
          </a:xfrm>
          <a:prstGeom prst="rect">
            <a:avLst/>
          </a:prstGeom>
          <a:solidFill>
            <a:srgbClr val="2563A8"/>
          </a:solidFill>
          <a:ln w="12700">
            <a:solidFill>
              <a:srgbClr val="2563A8"/>
            </a:solidFill>
            <a:prstDash val="solid"/>
          </a:ln>
        </p:spPr>
        <p:txBody>
          <a:bodyPr/>
          <a:lstStyle/>
          <a:p>
            <a:endParaRPr lang="en-GB"/>
          </a:p>
        </p:txBody>
      </p:sp>
      <p:sp>
        <p:nvSpPr>
          <p:cNvPr id="4" name="Text 2"/>
          <p:cNvSpPr/>
          <p:nvPr/>
        </p:nvSpPr>
        <p:spPr>
          <a:xfrm>
            <a:off x="822960" y="365760"/>
            <a:ext cx="7955280" cy="640080"/>
          </a:xfrm>
          <a:prstGeom prst="rect">
            <a:avLst/>
          </a:prstGeom>
          <a:noFill/>
          <a:ln/>
        </p:spPr>
        <p:txBody>
          <a:bodyPr wrap="square" lIns="0" tIns="0" rIns="0" bIns="0" rtlCol="0" anchor="ctr"/>
          <a:lstStyle/>
          <a:p>
            <a:pPr marL="0" indent="0" algn="l">
              <a:buNone/>
            </a:pPr>
            <a:r>
              <a:rPr lang="en-US" sz="3800" b="1" dirty="0">
                <a:solidFill>
                  <a:srgbClr val="FFFFFF"/>
                </a:solidFill>
                <a:latin typeface="Georgia" pitchFamily="34" charset="0"/>
                <a:ea typeface="Georgia" pitchFamily="34" charset="-122"/>
                <a:cs typeface="Georgia" pitchFamily="34" charset="-120"/>
              </a:rPr>
              <a:t>Conclusion</a:t>
            </a:r>
            <a:endParaRPr lang="en-US" sz="3800" dirty="0"/>
          </a:p>
        </p:txBody>
      </p:sp>
      <p:sp>
        <p:nvSpPr>
          <p:cNvPr id="5" name="Shape 3"/>
          <p:cNvSpPr/>
          <p:nvPr/>
        </p:nvSpPr>
        <p:spPr>
          <a:xfrm>
            <a:off x="822960" y="1170432"/>
            <a:ext cx="7955280" cy="987552"/>
          </a:xfrm>
          <a:prstGeom prst="rect">
            <a:avLst/>
          </a:prstGeom>
          <a:solidFill>
            <a:srgbClr val="1B3A5C"/>
          </a:solidFill>
          <a:ln w="6350">
            <a:solidFill>
              <a:srgbClr val="D0D8E4"/>
            </a:solidFill>
            <a:prstDash val="solid"/>
          </a:ln>
          <a:effectLst>
            <a:outerShdw blurRad="50800" dist="12700" dir="8100000" algn="bl" rotWithShape="0">
              <a:srgbClr val="000000">
                <a:alpha val="8000"/>
              </a:srgbClr>
            </a:outerShdw>
          </a:effectLst>
        </p:spPr>
        <p:txBody>
          <a:bodyPr/>
          <a:lstStyle/>
          <a:p>
            <a:endParaRPr lang="en-GB"/>
          </a:p>
        </p:txBody>
      </p:sp>
      <p:sp>
        <p:nvSpPr>
          <p:cNvPr id="6" name="Shape 4"/>
          <p:cNvSpPr/>
          <p:nvPr/>
        </p:nvSpPr>
        <p:spPr>
          <a:xfrm>
            <a:off x="822960" y="1170432"/>
            <a:ext cx="64008" cy="987552"/>
          </a:xfrm>
          <a:prstGeom prst="rect">
            <a:avLst/>
          </a:prstGeom>
          <a:solidFill>
            <a:srgbClr val="C0392B"/>
          </a:solidFill>
          <a:ln w="12700">
            <a:solidFill>
              <a:srgbClr val="C0392B"/>
            </a:solidFill>
            <a:prstDash val="solid"/>
          </a:ln>
        </p:spPr>
        <p:txBody>
          <a:bodyPr/>
          <a:lstStyle/>
          <a:p>
            <a:endParaRPr lang="en-GB"/>
          </a:p>
        </p:txBody>
      </p:sp>
      <p:sp>
        <p:nvSpPr>
          <p:cNvPr id="7" name="Text 5"/>
          <p:cNvSpPr/>
          <p:nvPr/>
        </p:nvSpPr>
        <p:spPr>
          <a:xfrm>
            <a:off x="1005840" y="1207008"/>
            <a:ext cx="7589520" cy="877824"/>
          </a:xfrm>
          <a:prstGeom prst="rect">
            <a:avLst/>
          </a:prstGeom>
          <a:noFill/>
          <a:ln/>
        </p:spPr>
        <p:txBody>
          <a:bodyPr wrap="square" rtlCol="0" anchor="ctr"/>
          <a:lstStyle/>
          <a:p>
            <a:pPr marL="0" indent="0">
              <a:buNone/>
            </a:pPr>
            <a:r>
              <a:rPr lang="en-US" sz="1300" dirty="0">
                <a:solidFill>
                  <a:srgbClr val="FFFFFF"/>
                </a:solidFill>
                <a:latin typeface="Calibri" pitchFamily="34" charset="0"/>
                <a:ea typeface="Calibri" pitchFamily="34" charset="-122"/>
                <a:cs typeface="Calibri" pitchFamily="34" charset="-120"/>
              </a:rPr>
              <a:t>Dungeon Escape demonstrates that a feature-complete game can be built from first principles in Java — without a game engine — using clean OOP architecture, hand-rolled algorithms, and deliberate design patterns.</a:t>
            </a:r>
            <a:endParaRPr lang="en-US" sz="1300" dirty="0"/>
          </a:p>
        </p:txBody>
      </p:sp>
      <p:sp>
        <p:nvSpPr>
          <p:cNvPr id="8" name="Shape 6"/>
          <p:cNvSpPr/>
          <p:nvPr/>
        </p:nvSpPr>
        <p:spPr>
          <a:xfrm>
            <a:off x="822960" y="2313432"/>
            <a:ext cx="7955280" cy="987552"/>
          </a:xfrm>
          <a:prstGeom prst="rect">
            <a:avLst/>
          </a:prstGeom>
          <a:solidFill>
            <a:srgbClr val="1B3A5C"/>
          </a:solidFill>
          <a:ln w="6350">
            <a:solidFill>
              <a:srgbClr val="D0D8E4"/>
            </a:solidFill>
            <a:prstDash val="solid"/>
          </a:ln>
          <a:effectLst>
            <a:outerShdw blurRad="50800" dist="12700" dir="8100000" algn="bl" rotWithShape="0">
              <a:srgbClr val="000000">
                <a:alpha val="8000"/>
              </a:srgbClr>
            </a:outerShdw>
          </a:effectLst>
        </p:spPr>
        <p:txBody>
          <a:bodyPr/>
          <a:lstStyle/>
          <a:p>
            <a:endParaRPr lang="en-GB"/>
          </a:p>
        </p:txBody>
      </p:sp>
      <p:sp>
        <p:nvSpPr>
          <p:cNvPr id="9" name="Shape 7"/>
          <p:cNvSpPr/>
          <p:nvPr/>
        </p:nvSpPr>
        <p:spPr>
          <a:xfrm>
            <a:off x="822960" y="2313432"/>
            <a:ext cx="64008" cy="987552"/>
          </a:xfrm>
          <a:prstGeom prst="rect">
            <a:avLst/>
          </a:prstGeom>
          <a:solidFill>
            <a:srgbClr val="C0392B"/>
          </a:solidFill>
          <a:ln w="12700">
            <a:solidFill>
              <a:srgbClr val="C0392B"/>
            </a:solidFill>
            <a:prstDash val="solid"/>
          </a:ln>
        </p:spPr>
        <p:txBody>
          <a:bodyPr/>
          <a:lstStyle/>
          <a:p>
            <a:endParaRPr lang="en-GB"/>
          </a:p>
        </p:txBody>
      </p:sp>
      <p:sp>
        <p:nvSpPr>
          <p:cNvPr id="10" name="Text 8"/>
          <p:cNvSpPr/>
          <p:nvPr/>
        </p:nvSpPr>
        <p:spPr>
          <a:xfrm>
            <a:off x="1005840" y="2350008"/>
            <a:ext cx="7589520" cy="877824"/>
          </a:xfrm>
          <a:prstGeom prst="rect">
            <a:avLst/>
          </a:prstGeom>
          <a:noFill/>
          <a:ln/>
        </p:spPr>
        <p:txBody>
          <a:bodyPr wrap="square" rtlCol="0" anchor="ctr"/>
          <a:lstStyle/>
          <a:p>
            <a:pPr marL="0" indent="0">
              <a:buNone/>
            </a:pPr>
            <a:r>
              <a:rPr lang="en-US" sz="1300" dirty="0">
                <a:solidFill>
                  <a:srgbClr val="FFFFFF"/>
                </a:solidFill>
                <a:latin typeface="Calibri" pitchFamily="34" charset="0"/>
                <a:ea typeface="Calibri" pitchFamily="34" charset="-122"/>
                <a:cs typeface="Calibri" pitchFamily="34" charset="-120"/>
              </a:rPr>
              <a:t>The 16-class codebase covers A* pathfinding (Enemy &amp; ArcherBoss), procedural generation, vector mathematics, 3 distinct boss attack phases, cross-framework threading, file I/O, and four design patterns (Flyweight, Composite, Strategy, State Machine).</a:t>
            </a:r>
            <a:endParaRPr lang="en-US" sz="1300" dirty="0"/>
          </a:p>
        </p:txBody>
      </p:sp>
      <p:sp>
        <p:nvSpPr>
          <p:cNvPr id="11" name="Shape 9"/>
          <p:cNvSpPr/>
          <p:nvPr/>
        </p:nvSpPr>
        <p:spPr>
          <a:xfrm>
            <a:off x="822960" y="3456432"/>
            <a:ext cx="7955280" cy="987552"/>
          </a:xfrm>
          <a:prstGeom prst="rect">
            <a:avLst/>
          </a:prstGeom>
          <a:solidFill>
            <a:srgbClr val="1B3A5C"/>
          </a:solidFill>
          <a:ln w="6350">
            <a:solidFill>
              <a:srgbClr val="D0D8E4"/>
            </a:solidFill>
            <a:prstDash val="solid"/>
          </a:ln>
          <a:effectLst>
            <a:outerShdw blurRad="50800" dist="12700" dir="8100000" algn="bl" rotWithShape="0">
              <a:srgbClr val="000000">
                <a:alpha val="8000"/>
              </a:srgbClr>
            </a:outerShdw>
          </a:effectLst>
        </p:spPr>
        <p:txBody>
          <a:bodyPr/>
          <a:lstStyle/>
          <a:p>
            <a:endParaRPr lang="en-GB"/>
          </a:p>
        </p:txBody>
      </p:sp>
      <p:sp>
        <p:nvSpPr>
          <p:cNvPr id="12" name="Shape 10"/>
          <p:cNvSpPr/>
          <p:nvPr/>
        </p:nvSpPr>
        <p:spPr>
          <a:xfrm>
            <a:off x="822960" y="3456432"/>
            <a:ext cx="64008" cy="987552"/>
          </a:xfrm>
          <a:prstGeom prst="rect">
            <a:avLst/>
          </a:prstGeom>
          <a:solidFill>
            <a:srgbClr val="C0392B"/>
          </a:solidFill>
          <a:ln w="12700">
            <a:solidFill>
              <a:srgbClr val="C0392B"/>
            </a:solidFill>
            <a:prstDash val="solid"/>
          </a:ln>
        </p:spPr>
        <p:txBody>
          <a:bodyPr/>
          <a:lstStyle/>
          <a:p>
            <a:endParaRPr lang="en-GB"/>
          </a:p>
        </p:txBody>
      </p:sp>
      <p:sp>
        <p:nvSpPr>
          <p:cNvPr id="13" name="Text 11"/>
          <p:cNvSpPr/>
          <p:nvPr/>
        </p:nvSpPr>
        <p:spPr>
          <a:xfrm>
            <a:off x="1005840" y="3493008"/>
            <a:ext cx="7589520" cy="877824"/>
          </a:xfrm>
          <a:prstGeom prst="rect">
            <a:avLst/>
          </a:prstGeom>
          <a:noFill/>
          <a:ln/>
        </p:spPr>
        <p:txBody>
          <a:bodyPr wrap="square" rtlCol="0" anchor="ctr"/>
          <a:lstStyle/>
          <a:p>
            <a:pPr marL="0" indent="0">
              <a:buNone/>
            </a:pPr>
            <a:r>
              <a:rPr lang="en-US" sz="1300" dirty="0">
                <a:solidFill>
                  <a:srgbClr val="FFFFFF"/>
                </a:solidFill>
                <a:latin typeface="Calibri" pitchFamily="34" charset="0"/>
                <a:ea typeface="Calibri" pitchFamily="34" charset="-122"/>
                <a:cs typeface="Calibri" pitchFamily="34" charset="-120"/>
              </a:rPr>
              <a:t>Identified improvements — database integration, networked leaderboards, JUnit testing, and a central AssetManager — represent clear next steps toward a commercial-grade release.</a:t>
            </a:r>
            <a:endParaRPr lang="en-US" sz="1300" dirty="0"/>
          </a:p>
        </p:txBody>
      </p:sp>
      <p:sp>
        <p:nvSpPr>
          <p:cNvPr id="14" name="Text 12"/>
          <p:cNvSpPr/>
          <p:nvPr/>
        </p:nvSpPr>
        <p:spPr>
          <a:xfrm>
            <a:off x="822960" y="4663440"/>
            <a:ext cx="7955280" cy="320040"/>
          </a:xfrm>
          <a:prstGeom prst="rect">
            <a:avLst/>
          </a:prstGeom>
          <a:noFill/>
          <a:ln/>
        </p:spPr>
        <p:txBody>
          <a:bodyPr wrap="square" lIns="0" tIns="0" rIns="0" bIns="0" rtlCol="0" anchor="ctr"/>
          <a:lstStyle/>
          <a:p>
            <a:pPr marL="0" indent="0" algn="l">
              <a:buNone/>
            </a:pPr>
            <a:r>
              <a:rPr lang="en-US" sz="1100" dirty="0">
                <a:solidFill>
                  <a:srgbClr val="8C9CB0"/>
                </a:solidFill>
                <a:latin typeface="Calibri" pitchFamily="34" charset="0"/>
                <a:ea typeface="Calibri" pitchFamily="34" charset="-122"/>
                <a:cs typeface="Calibri" pitchFamily="34" charset="-120"/>
              </a:rPr>
              <a:t>Andile Nhlanhla Makuyana  ·  Reg. 25016  ·  ICT 2132 – Programming in Java</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27</TotalTime>
  <Words>2391</Words>
  <Application>Microsoft Office PowerPoint</Application>
  <PresentationFormat>On-screen Show (16:9)</PresentationFormat>
  <Paragraphs>305</Paragraphs>
  <Slides>24</Slides>
  <Notes>22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24</vt:i4>
      </vt:variant>
    </vt:vector>
  </HeadingPairs>
  <TitlesOfParts>
    <vt:vector size="30" baseType="lpstr">
      <vt:lpstr>Arial</vt:lpstr>
      <vt:lpstr>Arial Black</vt:lpstr>
      <vt:lpstr>Calibri</vt:lpstr>
      <vt:lpstr>Consolas</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Dungeon Escape – Java Game Technical Presentation</dc:title>
  <dc:subject>PptxGenJS Presentation</dc:subject>
  <dc:creator>PptxGenJS</dc:creator>
  <cp:lastModifiedBy>New_ Generation</cp:lastModifiedBy>
  <cp:revision>6</cp:revision>
  <dcterms:created xsi:type="dcterms:W3CDTF">2026-05-05T20:53:57Z</dcterms:created>
  <dcterms:modified xsi:type="dcterms:W3CDTF">2026-05-06T07:33:59Z</dcterms:modified>
</cp:coreProperties>
</file>